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9"/>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Arial Bold" charset="1" panose="020B0704020202020204"/>
      <p:regular r:id="rId22"/>
    </p:embeddedFont>
    <p:embeddedFont>
      <p:font typeface="Arial" charset="1" panose="020B0604020202020204"/>
      <p:regular r:id="rId23"/>
    </p:embeddedFont>
    <p:embeddedFont>
      <p:font typeface="Courier New" charset="1" panose="02070309020205020404"/>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notesMasters/notesMaster1.xml" Type="http://schemas.openxmlformats.org/officeDocument/2006/relationships/notesMaster"/><Relationship Id="rId2" Target="presProps.xml" Type="http://schemas.openxmlformats.org/officeDocument/2006/relationships/presProps"/><Relationship Id="rId20" Target="theme/theme2.xml" Type="http://schemas.openxmlformats.org/officeDocument/2006/relationships/theme"/><Relationship Id="rId21" Target="notesSlides/notesSlide1.xml" Type="http://schemas.openxmlformats.org/officeDocument/2006/relationships/notesSlide"/><Relationship Id="rId22" Target="fonts/font22.fntdata" Type="http://schemas.openxmlformats.org/officeDocument/2006/relationships/font"/><Relationship Id="rId23" Target="fonts/font23.fntdata" Type="http://schemas.openxmlformats.org/officeDocument/2006/relationships/font"/><Relationship Id="rId24" Target="notesSlides/notesSlide2.xml" Type="http://schemas.openxmlformats.org/officeDocument/2006/relationships/notesSlide"/><Relationship Id="rId25" Target="notesSlides/notesSlide3.xml" Type="http://schemas.openxmlformats.org/officeDocument/2006/relationships/notesSlide"/><Relationship Id="rId26" Target="fonts/font26.fntdata" Type="http://schemas.openxmlformats.org/officeDocument/2006/relationships/font"/><Relationship Id="rId27" Target="notesSlides/notesSlide4.xml" Type="http://schemas.openxmlformats.org/officeDocument/2006/relationships/notesSlide"/><Relationship Id="rId28" Target="notesSlides/notesSlide5.xml" Type="http://schemas.openxmlformats.org/officeDocument/2006/relationships/notesSlide"/><Relationship Id="rId29" Target="notesSlides/notesSlide6.xml" Type="http://schemas.openxmlformats.org/officeDocument/2006/relationships/notesSlide"/><Relationship Id="rId3" Target="viewProps.xml" Type="http://schemas.openxmlformats.org/officeDocument/2006/relationships/viewProps"/><Relationship Id="rId30" Target="notesSlides/notesSlide7.xml" Type="http://schemas.openxmlformats.org/officeDocument/2006/relationships/notesSlide"/><Relationship Id="rId31" Target="notesSlides/notesSlide8.xml" Type="http://schemas.openxmlformats.org/officeDocument/2006/relationships/notesSlide"/><Relationship Id="rId32" Target="notesSlides/notesSlide9.xml" Type="http://schemas.openxmlformats.org/officeDocument/2006/relationships/notesSlide"/><Relationship Id="rId33" Target="notesSlides/notesSlide10.xml" Type="http://schemas.openxmlformats.org/officeDocument/2006/relationships/notesSlide"/><Relationship Id="rId34" Target="notesSlides/notesSlide11.xml" Type="http://schemas.openxmlformats.org/officeDocument/2006/relationships/notesSlide"/><Relationship Id="rId35" Target="notesSlides/notesSlide12.xml" Type="http://schemas.openxmlformats.org/officeDocument/2006/relationships/notesSlide"/><Relationship Id="rId36" Target="notesSlides/notesSlide13.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Người nói: Huy. Chào thầy cô và các bạn. Nhóm em trình bày Firebase Authentication và cách dùng danh tính người dùng để phân quyền trong web app. Bài gồm phần xác thực, hai demo ngắn và phần kiểm soát quyền ở Firestore.</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Người nói: Huy. Nhóm đi qua lý do cần bảo vệ API, sau đó demo đăng nhập bằng Email/Password và Google. Cuối cùng, nhóm dùng ID Token và Firestore Security Rules để minh họa quyền sinh viên đọc/ghi và giảng viên chỉ đọc.</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Người nói: Huy. API là nơi ứng dụng trao đổi dữ liệu với server. Dữ liệu công khai có thể mở cho mọi người; dữ liệu riêng tư cần xác thực và kiểm tra quyền. 401 thường là chưa xác thực; 403 là đã xác thực nhưng thiếu quyền.</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Người nói: Huy. Firebase Authentication hỗ trợ quản lý tài khoản, xác minh email, đặt lại mật khẩu, Google Sign-In và cấp ID Token. Nhờ vậy nhóm không phải tự xây cơ chế đăng nhập từ đầu; phần ứng dụng tập trung vào luồng và quyền truy cập.</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Người nói: Huy. Demo 1: đăng ký email sinh viên, xác minh email rồi kiểm tra vai trò; đăng xuất và thử Google Sign-In để xem profile; cuối cùng gửi token hợp lệ và token đã bị sửa để thấy token sai bị từ chối.</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Người nói: Huy. Có hai cách đăng nhập nhóm tập trung: Email/Password và Google Sign-In. Sau khi đăng nhập, Firebase cấp ID Token dạng JWT. JWT không phải phương thức đăng nhập; đó là token để backend xác minh danh tính.</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Người nói: Huy. ID Token có ba phần: header, payload và chữ ký số. Payload chứa các claim như email, uid, email_verified và thời điểm hết hạn. Payload có thể đọc được; backend cần xác minh chữ ký và thời hạn thay vì tin dữ liệu client tự gửi.</a:t>
            </a:r>
          </a:p>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Người nói: Huy. Luồng là đăng nhập qua Firebase, nhận ID Token, gửi token khi gọi API và để backend xác minh. Backend riêng có thể dùng Firebase Admin SDK verifyIdToken(). Trong demo, Firestore SDK tự gửi thông tin xác thực và Security Rules kiểm soát thao tác đọc/ghi.</a:t>
            </a:r>
          </a:p>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Người nói: Thành viên 2. Mail trường được nhận diện theo domain: sinh viên có quyền đọc/ghi, giảng viên chỉ đọc. Gmail đã khai báo trong demo được dùng làm giảng viên mô phỏng. Gmail khác có chế độ chọn vai trò để cả lớp thử; đây chỉ là tiện ích demo, không phải cách cấp quyền cho hệ thống thật.</a:t>
            </a:r>
          </a:p>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Người nói: Thành viên 2. Demo 2: tài khoản sinh viên tạo hoặc xoá ghi chú của mình; Gmail giảng viên mô phỏng xem được nhưng không ghi được; bấm thử ghi để thấy server trả permission-denied. Nếu còn thời gian, đăng nhập Gmail khác để thử chế độ chọn vai trò.</a:t>
            </a:r>
          </a:p>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Người nói: Thành viên 2. Authentication trả lời “bạn là ai”; Authorization trả lời “bạn được làm gì”. Firebase Auth xác thực người dùng, còn Firestore Rules thực thi quyền. Chế độ tự chọn vai trò trong demo chỉ để cả lớp thử; hệ thống thật cần nguồn cấp vai trò đáng tin cậy.</a:t>
            </a:r>
          </a:p>
          <a:p>
            <a:r>
              <a:rPr lang="en-US"/>
              <a:t>13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Người nói: Thành viên 2. Rules chạy ở phía server. Ví dụ, sinh viên và giảng viên được đọc, nhưng chỉ sinh viên được tạo ghi chú; sửa hoặc xoá chỉ áp dụng cho ghi chú của chính sinh viên. Nếu không có quy tắc cho phép khớp, Firestore từ chối.</a:t>
            </a:r>
          </a:p>
          <a:p>
            <a:r>
              <a:rPr lang="en-US"/>
              <a:t>14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Người nói: Huy. Cảm ơn thầy cô và các bạn. Nhóm em xin nhận câu hỏi.</a:t>
            </a:r>
          </a:p>
          <a:p>
            <a:r>
              <a:rPr lang="en-US"/>
              <a:t>17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2" Target="../notesSlides/notesSlide4.xml" Type="http://schemas.openxmlformats.org/officeDocument/2006/relationships/notesSlide"/><Relationship Id="rId3" Target="../media/image8.png" Type="http://schemas.openxmlformats.org/officeDocument/2006/relationships/image"/><Relationship Id="rId4" Target="../media/image9.png" Type="http://schemas.openxmlformats.org/officeDocument/2006/relationships/image"/><Relationship Id="rId5" Target="../media/image10.png" Type="http://schemas.openxmlformats.org/officeDocument/2006/relationships/image"/><Relationship Id="rId6" Target="../media/image11.png" Type="http://schemas.openxmlformats.org/officeDocument/2006/relationships/image"/><Relationship Id="rId7" Target="../media/image12.png" Type="http://schemas.openxmlformats.org/officeDocument/2006/relationships/image"/><Relationship Id="rId8" Target="../media/image13.png" Type="http://schemas.openxmlformats.org/officeDocument/2006/relationships/image"/><Relationship Id="rId9" Target="../media/image1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7.png" Type="http://schemas.openxmlformats.org/officeDocument/2006/relationships/image"/><Relationship Id="rId4" Target="../media/image18.png" Type="http://schemas.openxmlformats.org/officeDocument/2006/relationships/image"/><Relationship Id="rId5" Target="../media/image1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20.png" Type="http://schemas.openxmlformats.org/officeDocument/2006/relationships/image"/><Relationship Id="rId4" Target="../media/image2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2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15171E"/>
        </a:solidFill>
      </p:bgPr>
    </p:bg>
    <p:spTree>
      <p:nvGrpSpPr>
        <p:cNvPr id="1" name=""/>
        <p:cNvGrpSpPr/>
        <p:nvPr/>
      </p:nvGrpSpPr>
      <p:grpSpPr>
        <a:xfrm>
          <a:off x="0" y="0"/>
          <a:ext cx="0" cy="0"/>
          <a:chOff x="0" y="0"/>
          <a:chExt cx="0" cy="0"/>
        </a:xfrm>
      </p:grpSpPr>
      <p:grpSp>
        <p:nvGrpSpPr>
          <p:cNvPr name="Group 2" id="2"/>
          <p:cNvGrpSpPr/>
          <p:nvPr/>
        </p:nvGrpSpPr>
        <p:grpSpPr>
          <a:xfrm rot="0">
            <a:off x="0" y="0"/>
            <a:ext cx="228600" cy="10287000"/>
            <a:chOff x="0" y="0"/>
            <a:chExt cx="304800" cy="13716000"/>
          </a:xfrm>
        </p:grpSpPr>
        <p:sp>
          <p:nvSpPr>
            <p:cNvPr name="Freeform 3" id="3"/>
            <p:cNvSpPr/>
            <p:nvPr/>
          </p:nvSpPr>
          <p:spPr>
            <a:xfrm flipH="false" flipV="false" rot="0">
              <a:off x="0" y="0"/>
              <a:ext cx="304800" cy="13716000"/>
            </a:xfrm>
            <a:custGeom>
              <a:avLst/>
              <a:gdLst/>
              <a:ahLst/>
              <a:cxnLst/>
              <a:rect r="r" b="b" t="t" l="l"/>
              <a:pathLst>
                <a:path h="13716000" w="304800">
                  <a:moveTo>
                    <a:pt x="0" y="0"/>
                  </a:moveTo>
                  <a:lnTo>
                    <a:pt x="304800" y="0"/>
                  </a:lnTo>
                  <a:lnTo>
                    <a:pt x="304800" y="13716000"/>
                  </a:lnTo>
                  <a:lnTo>
                    <a:pt x="0" y="13716000"/>
                  </a:lnTo>
                  <a:close/>
                </a:path>
              </a:pathLst>
            </a:custGeom>
            <a:solidFill>
              <a:srgbClr val="F2A72B"/>
            </a:solidFill>
          </p:spPr>
        </p:sp>
      </p:grpSp>
      <p:grpSp>
        <p:nvGrpSpPr>
          <p:cNvPr name="Group 4" id="4"/>
          <p:cNvGrpSpPr/>
          <p:nvPr/>
        </p:nvGrpSpPr>
        <p:grpSpPr>
          <a:xfrm rot="0">
            <a:off x="14973300" y="1219200"/>
            <a:ext cx="2095500" cy="2095500"/>
            <a:chOff x="0" y="0"/>
            <a:chExt cx="2794000" cy="2794000"/>
          </a:xfrm>
        </p:grpSpPr>
        <p:sp>
          <p:nvSpPr>
            <p:cNvPr name="Freeform 5" id="5" descr="Key"/>
            <p:cNvSpPr/>
            <p:nvPr/>
          </p:nvSpPr>
          <p:spPr>
            <a:xfrm flipH="false" flipV="false" rot="0">
              <a:off x="0" y="0"/>
              <a:ext cx="2794000" cy="2794000"/>
            </a:xfrm>
            <a:custGeom>
              <a:avLst/>
              <a:gdLst/>
              <a:ahLst/>
              <a:cxnLst/>
              <a:rect r="r" b="b" t="t" l="l"/>
              <a:pathLst>
                <a:path h="2794000" w="2794000">
                  <a:moveTo>
                    <a:pt x="0" y="0"/>
                  </a:moveTo>
                  <a:lnTo>
                    <a:pt x="2794000" y="0"/>
                  </a:lnTo>
                  <a:lnTo>
                    <a:pt x="2794000" y="2794000"/>
                  </a:lnTo>
                  <a:lnTo>
                    <a:pt x="0" y="2794000"/>
                  </a:lnTo>
                  <a:lnTo>
                    <a:pt x="0" y="0"/>
                  </a:lnTo>
                  <a:close/>
                </a:path>
              </a:pathLst>
            </a:custGeom>
            <a:blipFill>
              <a:blip r:embed="rId3"/>
              <a:stretch>
                <a:fillRect l="0" t="0" r="0" b="0"/>
              </a:stretch>
            </a:blipFill>
          </p:spPr>
        </p:sp>
      </p:grpSp>
      <p:sp>
        <p:nvSpPr>
          <p:cNvPr name="TextBox 6" id="6"/>
          <p:cNvSpPr txBox="true"/>
          <p:nvPr/>
        </p:nvSpPr>
        <p:spPr>
          <a:xfrm rot="0">
            <a:off x="1219200" y="1162050"/>
            <a:ext cx="16325088" cy="325755"/>
          </a:xfrm>
          <a:prstGeom prst="rect">
            <a:avLst/>
          </a:prstGeom>
        </p:spPr>
        <p:txBody>
          <a:bodyPr anchor="t" rtlCol="false" tIns="0" lIns="0" bIns="0" rIns="0">
            <a:spAutoFit/>
          </a:bodyPr>
          <a:lstStyle/>
          <a:p>
            <a:pPr algn="l">
              <a:lnSpc>
                <a:spcPts val="2520"/>
              </a:lnSpc>
            </a:pPr>
            <a:r>
              <a:rPr lang="en-US" b="true" sz="1800" spc="225">
                <a:solidFill>
                  <a:srgbClr val="F2A72B"/>
                </a:solidFill>
                <a:latin typeface="Arial Bold"/>
                <a:ea typeface="Arial Bold"/>
                <a:cs typeface="Arial Bold"/>
                <a:sym typeface="Arial Bold"/>
              </a:rPr>
              <a:t>SEMINAR · TOPIC 10-2</a:t>
            </a:r>
          </a:p>
        </p:txBody>
      </p:sp>
      <p:sp>
        <p:nvSpPr>
          <p:cNvPr name="TextBox 7" id="7"/>
          <p:cNvSpPr txBox="true"/>
          <p:nvPr/>
        </p:nvSpPr>
        <p:spPr>
          <a:xfrm rot="0">
            <a:off x="1219200" y="3347085"/>
            <a:ext cx="16325088" cy="2343150"/>
          </a:xfrm>
          <a:prstGeom prst="rect">
            <a:avLst/>
          </a:prstGeom>
        </p:spPr>
        <p:txBody>
          <a:bodyPr anchor="t" rtlCol="false" tIns="0" lIns="0" bIns="0" rIns="0">
            <a:spAutoFit/>
          </a:bodyPr>
          <a:lstStyle/>
          <a:p>
            <a:pPr algn="l">
              <a:lnSpc>
                <a:spcPts val="9450"/>
              </a:lnSpc>
            </a:pPr>
            <a:r>
              <a:rPr lang="en-US" sz="9000" b="true">
                <a:solidFill>
                  <a:srgbClr val="F2F0EA"/>
                </a:solidFill>
                <a:latin typeface="Arial Bold"/>
                <a:ea typeface="Arial Bold"/>
                <a:cs typeface="Arial Bold"/>
                <a:sym typeface="Arial Bold"/>
              </a:rPr>
              <a:t>Firebase</a:t>
            </a:r>
          </a:p>
          <a:p>
            <a:pPr algn="l">
              <a:lnSpc>
                <a:spcPts val="9450"/>
              </a:lnSpc>
            </a:pPr>
            <a:r>
              <a:rPr lang="en-US" sz="9000" b="true">
                <a:solidFill>
                  <a:srgbClr val="F2F0EA"/>
                </a:solidFill>
                <a:latin typeface="Arial Bold"/>
                <a:ea typeface="Arial Bold"/>
                <a:cs typeface="Arial Bold"/>
                <a:sym typeface="Arial Bold"/>
              </a:rPr>
              <a:t>Authentication</a:t>
            </a:r>
          </a:p>
        </p:txBody>
      </p:sp>
      <p:sp>
        <p:nvSpPr>
          <p:cNvPr name="TextBox 8" id="8"/>
          <p:cNvSpPr txBox="true"/>
          <p:nvPr/>
        </p:nvSpPr>
        <p:spPr>
          <a:xfrm rot="0">
            <a:off x="1219200" y="5899785"/>
            <a:ext cx="16325088" cy="640080"/>
          </a:xfrm>
          <a:prstGeom prst="rect">
            <a:avLst/>
          </a:prstGeom>
        </p:spPr>
        <p:txBody>
          <a:bodyPr anchor="t" rtlCol="false" tIns="0" lIns="0" bIns="0" rIns="0">
            <a:spAutoFit/>
          </a:bodyPr>
          <a:lstStyle/>
          <a:p>
            <a:pPr algn="l">
              <a:lnSpc>
                <a:spcPts val="4290"/>
              </a:lnSpc>
            </a:pPr>
            <a:r>
              <a:rPr lang="en-US" sz="3300">
                <a:solidFill>
                  <a:srgbClr val="B4B8C3"/>
                </a:solidFill>
                <a:latin typeface="Arial"/>
                <a:ea typeface="Arial"/>
                <a:cs typeface="Arial"/>
                <a:sym typeface="Arial"/>
              </a:rPr>
              <a:t>Đăng nhập &amp; phân quyền cho web app</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7F6F2"/>
        </a:solidFill>
      </p:bgPr>
    </p:bg>
    <p:spTree>
      <p:nvGrpSpPr>
        <p:cNvPr id="1" name=""/>
        <p:cNvGrpSpPr/>
        <p:nvPr/>
      </p:nvGrpSpPr>
      <p:grpSpPr>
        <a:xfrm>
          <a:off x="0" y="0"/>
          <a:ext cx="0" cy="0"/>
          <a:chOff x="0" y="0"/>
          <a:chExt cx="0" cy="0"/>
        </a:xfrm>
      </p:grpSpPr>
      <p:sp>
        <p:nvSpPr>
          <p:cNvPr name="TextBox 2" id="2"/>
          <p:cNvSpPr txBox="true"/>
          <p:nvPr/>
        </p:nvSpPr>
        <p:spPr>
          <a:xfrm rot="0">
            <a:off x="1219200" y="1162050"/>
            <a:ext cx="16325088" cy="415290"/>
          </a:xfrm>
          <a:prstGeom prst="rect">
            <a:avLst/>
          </a:prstGeom>
        </p:spPr>
        <p:txBody>
          <a:bodyPr anchor="t" rtlCol="false" tIns="0" lIns="0" bIns="0" rIns="0">
            <a:spAutoFit/>
          </a:bodyPr>
          <a:lstStyle/>
          <a:p>
            <a:pPr algn="l">
              <a:lnSpc>
                <a:spcPts val="2520"/>
              </a:lnSpc>
            </a:pPr>
            <a:r>
              <a:rPr lang="en-US" b="true" sz="1800" spc="225">
                <a:solidFill>
                  <a:srgbClr val="8F5300"/>
                </a:solidFill>
                <a:latin typeface="Arial Bold"/>
                <a:ea typeface="Arial Bold"/>
                <a:cs typeface="Arial Bold"/>
                <a:sym typeface="Arial Bold"/>
              </a:rPr>
              <a:t>LỘ TRÌNH</a:t>
            </a:r>
          </a:p>
        </p:txBody>
      </p:sp>
      <p:sp>
        <p:nvSpPr>
          <p:cNvPr name="TextBox 3" id="3"/>
          <p:cNvSpPr txBox="true"/>
          <p:nvPr/>
        </p:nvSpPr>
        <p:spPr>
          <a:xfrm rot="0">
            <a:off x="1219200" y="1710690"/>
            <a:ext cx="16325088" cy="1527810"/>
          </a:xfrm>
          <a:prstGeom prst="rect">
            <a:avLst/>
          </a:prstGeom>
        </p:spPr>
        <p:txBody>
          <a:bodyPr anchor="t" rtlCol="false" tIns="0" lIns="0" bIns="0" rIns="0">
            <a:spAutoFit/>
          </a:bodyPr>
          <a:lstStyle/>
          <a:p>
            <a:pPr algn="l">
              <a:lnSpc>
                <a:spcPts val="5940"/>
              </a:lnSpc>
            </a:pPr>
            <a:r>
              <a:rPr lang="en-US" sz="5400" b="true">
                <a:solidFill>
                  <a:srgbClr val="1B1D24"/>
                </a:solidFill>
                <a:latin typeface="Arial Bold"/>
                <a:ea typeface="Arial Bold"/>
                <a:cs typeface="Arial Bold"/>
                <a:sym typeface="Arial Bold"/>
              </a:rPr>
              <a:t>Hai pha: Xác thực → Phân quyền</a:t>
            </a:r>
          </a:p>
        </p:txBody>
      </p:sp>
      <p:grpSp>
        <p:nvGrpSpPr>
          <p:cNvPr name="Group 4" id="4"/>
          <p:cNvGrpSpPr/>
          <p:nvPr/>
        </p:nvGrpSpPr>
        <p:grpSpPr>
          <a:xfrm rot="0">
            <a:off x="1219200" y="3581400"/>
            <a:ext cx="5135880" cy="5181600"/>
            <a:chOff x="0" y="0"/>
            <a:chExt cx="6847840" cy="6908800"/>
          </a:xfrm>
        </p:grpSpPr>
        <p:sp>
          <p:nvSpPr>
            <p:cNvPr name="Freeform 5" id="5"/>
            <p:cNvSpPr/>
            <p:nvPr/>
          </p:nvSpPr>
          <p:spPr>
            <a:xfrm flipH="false" flipV="false" rot="0">
              <a:off x="0" y="0"/>
              <a:ext cx="6847839" cy="6908800"/>
            </a:xfrm>
            <a:custGeom>
              <a:avLst/>
              <a:gdLst/>
              <a:ahLst/>
              <a:cxnLst/>
              <a:rect r="r" b="b" t="t" l="l"/>
              <a:pathLst>
                <a:path h="6908800" w="6847839">
                  <a:moveTo>
                    <a:pt x="0" y="298958"/>
                  </a:moveTo>
                  <a:cubicBezTo>
                    <a:pt x="0" y="133858"/>
                    <a:pt x="133858" y="0"/>
                    <a:pt x="298958" y="0"/>
                  </a:cubicBezTo>
                  <a:lnTo>
                    <a:pt x="6548882" y="0"/>
                  </a:lnTo>
                  <a:cubicBezTo>
                    <a:pt x="6713982" y="0"/>
                    <a:pt x="6847839" y="133858"/>
                    <a:pt x="6847839" y="298958"/>
                  </a:cubicBezTo>
                  <a:lnTo>
                    <a:pt x="6847839" y="6609842"/>
                  </a:lnTo>
                  <a:cubicBezTo>
                    <a:pt x="6847839" y="6774942"/>
                    <a:pt x="6713982" y="6908800"/>
                    <a:pt x="6548882" y="6908800"/>
                  </a:cubicBezTo>
                  <a:lnTo>
                    <a:pt x="298958" y="6908800"/>
                  </a:lnTo>
                  <a:cubicBezTo>
                    <a:pt x="133858" y="6908800"/>
                    <a:pt x="0" y="6774942"/>
                    <a:pt x="0" y="6609842"/>
                  </a:cubicBezTo>
                  <a:close/>
                </a:path>
              </a:pathLst>
            </a:custGeom>
            <a:solidFill>
              <a:srgbClr val="FFFEFB"/>
            </a:solidFill>
            <a:ln w="9525" cap="sq">
              <a:solidFill>
                <a:srgbClr val="E2DED3"/>
              </a:solidFill>
              <a:prstDash val="solid"/>
              <a:miter/>
            </a:ln>
          </p:spPr>
        </p:sp>
      </p:grpSp>
      <p:sp>
        <p:nvSpPr>
          <p:cNvPr name="TextBox 6" id="6"/>
          <p:cNvSpPr txBox="true"/>
          <p:nvPr/>
        </p:nvSpPr>
        <p:spPr>
          <a:xfrm rot="0">
            <a:off x="1607820" y="3912870"/>
            <a:ext cx="4489399" cy="325755"/>
          </a:xfrm>
          <a:prstGeom prst="rect">
            <a:avLst/>
          </a:prstGeom>
        </p:spPr>
        <p:txBody>
          <a:bodyPr anchor="t" rtlCol="false" tIns="0" lIns="0" bIns="0" rIns="0">
            <a:spAutoFit/>
          </a:bodyPr>
          <a:lstStyle/>
          <a:p>
            <a:pPr algn="l">
              <a:lnSpc>
                <a:spcPts val="2520"/>
              </a:lnSpc>
            </a:pPr>
            <a:r>
              <a:rPr lang="en-US" b="true" sz="1800" spc="225">
                <a:solidFill>
                  <a:srgbClr val="8F5300"/>
                </a:solidFill>
                <a:latin typeface="Arial Bold"/>
                <a:ea typeface="Arial Bold"/>
                <a:cs typeface="Arial Bold"/>
                <a:sym typeface="Arial Bold"/>
              </a:rPr>
              <a:t>NỀN TẢNG </a:t>
            </a:r>
          </a:p>
        </p:txBody>
      </p:sp>
      <p:sp>
        <p:nvSpPr>
          <p:cNvPr name="TextBox 7" id="7"/>
          <p:cNvSpPr txBox="true"/>
          <p:nvPr/>
        </p:nvSpPr>
        <p:spPr>
          <a:xfrm rot="0">
            <a:off x="1607820" y="4451985"/>
            <a:ext cx="4489399" cy="569595"/>
          </a:xfrm>
          <a:prstGeom prst="rect">
            <a:avLst/>
          </a:prstGeom>
        </p:spPr>
        <p:txBody>
          <a:bodyPr anchor="t" rtlCol="false" tIns="0" lIns="0" bIns="0" rIns="0">
            <a:spAutoFit/>
          </a:bodyPr>
          <a:lstStyle/>
          <a:p>
            <a:pPr algn="l">
              <a:lnSpc>
                <a:spcPts val="3960"/>
              </a:lnSpc>
            </a:pPr>
            <a:r>
              <a:rPr lang="en-US" sz="3300" b="true">
                <a:solidFill>
                  <a:srgbClr val="1B1D24"/>
                </a:solidFill>
                <a:latin typeface="Arial Bold"/>
                <a:ea typeface="Arial Bold"/>
                <a:cs typeface="Arial Bold"/>
                <a:sym typeface="Arial Bold"/>
              </a:rPr>
              <a:t>Vì sao cần xác thực?</a:t>
            </a:r>
          </a:p>
        </p:txBody>
      </p:sp>
      <p:sp>
        <p:nvSpPr>
          <p:cNvPr name="TextBox 8" id="8"/>
          <p:cNvSpPr txBox="true"/>
          <p:nvPr/>
        </p:nvSpPr>
        <p:spPr>
          <a:xfrm rot="0">
            <a:off x="1607820" y="5116830"/>
            <a:ext cx="4489399" cy="948690"/>
          </a:xfrm>
          <a:prstGeom prst="rect">
            <a:avLst/>
          </a:prstGeom>
        </p:spPr>
        <p:txBody>
          <a:bodyPr anchor="t" rtlCol="false" tIns="0" lIns="0" bIns="0" rIns="0">
            <a:spAutoFit/>
          </a:bodyPr>
          <a:lstStyle/>
          <a:p>
            <a:pPr algn="l">
              <a:lnSpc>
                <a:spcPts val="3359"/>
              </a:lnSpc>
            </a:pPr>
            <a:r>
              <a:rPr lang="en-US" sz="2400">
                <a:solidFill>
                  <a:srgbClr val="50566A"/>
                </a:solidFill>
                <a:latin typeface="Arial"/>
                <a:ea typeface="Arial"/>
                <a:cs typeface="Arial"/>
                <a:sym typeface="Arial"/>
              </a:rPr>
              <a:t>Bảo vệ dữ liệu riêng tư bằng token và quy tắc truy cập.</a:t>
            </a:r>
          </a:p>
        </p:txBody>
      </p:sp>
      <p:grpSp>
        <p:nvGrpSpPr>
          <p:cNvPr name="Group 9" id="9"/>
          <p:cNvGrpSpPr/>
          <p:nvPr/>
        </p:nvGrpSpPr>
        <p:grpSpPr>
          <a:xfrm rot="0">
            <a:off x="6583680" y="3581400"/>
            <a:ext cx="5135880" cy="5181600"/>
            <a:chOff x="0" y="0"/>
            <a:chExt cx="6847840" cy="6908800"/>
          </a:xfrm>
        </p:grpSpPr>
        <p:sp>
          <p:nvSpPr>
            <p:cNvPr name="Freeform 10" id="10"/>
            <p:cNvSpPr/>
            <p:nvPr/>
          </p:nvSpPr>
          <p:spPr>
            <a:xfrm flipH="false" flipV="false" rot="0">
              <a:off x="0" y="0"/>
              <a:ext cx="6847839" cy="6908800"/>
            </a:xfrm>
            <a:custGeom>
              <a:avLst/>
              <a:gdLst/>
              <a:ahLst/>
              <a:cxnLst/>
              <a:rect r="r" b="b" t="t" l="l"/>
              <a:pathLst>
                <a:path h="6908800" w="6847839">
                  <a:moveTo>
                    <a:pt x="0" y="298958"/>
                  </a:moveTo>
                  <a:cubicBezTo>
                    <a:pt x="0" y="133858"/>
                    <a:pt x="133858" y="0"/>
                    <a:pt x="298958" y="0"/>
                  </a:cubicBezTo>
                  <a:lnTo>
                    <a:pt x="6548882" y="0"/>
                  </a:lnTo>
                  <a:cubicBezTo>
                    <a:pt x="6713982" y="0"/>
                    <a:pt x="6847839" y="133858"/>
                    <a:pt x="6847839" y="298958"/>
                  </a:cubicBezTo>
                  <a:lnTo>
                    <a:pt x="6847839" y="6609842"/>
                  </a:lnTo>
                  <a:cubicBezTo>
                    <a:pt x="6847839" y="6774942"/>
                    <a:pt x="6713982" y="6908800"/>
                    <a:pt x="6548882" y="6908800"/>
                  </a:cubicBezTo>
                  <a:lnTo>
                    <a:pt x="298958" y="6908800"/>
                  </a:lnTo>
                  <a:cubicBezTo>
                    <a:pt x="133858" y="6908800"/>
                    <a:pt x="0" y="6774942"/>
                    <a:pt x="0" y="6609842"/>
                  </a:cubicBezTo>
                  <a:close/>
                </a:path>
              </a:pathLst>
            </a:custGeom>
            <a:solidFill>
              <a:srgbClr val="FFFEFB"/>
            </a:solidFill>
            <a:ln w="9525" cap="sq">
              <a:solidFill>
                <a:srgbClr val="E2DED3"/>
              </a:solidFill>
              <a:prstDash val="solid"/>
              <a:miter/>
            </a:ln>
          </p:spPr>
        </p:sp>
      </p:grpSp>
      <p:sp>
        <p:nvSpPr>
          <p:cNvPr name="TextBox 11" id="11"/>
          <p:cNvSpPr txBox="true"/>
          <p:nvPr/>
        </p:nvSpPr>
        <p:spPr>
          <a:xfrm rot="0">
            <a:off x="6972300" y="3912870"/>
            <a:ext cx="4489399" cy="325755"/>
          </a:xfrm>
          <a:prstGeom prst="rect">
            <a:avLst/>
          </a:prstGeom>
        </p:spPr>
        <p:txBody>
          <a:bodyPr anchor="t" rtlCol="false" tIns="0" lIns="0" bIns="0" rIns="0">
            <a:spAutoFit/>
          </a:bodyPr>
          <a:lstStyle/>
          <a:p>
            <a:pPr algn="l">
              <a:lnSpc>
                <a:spcPts val="2520"/>
              </a:lnSpc>
            </a:pPr>
            <a:r>
              <a:rPr lang="en-US" b="true" sz="1800" spc="225">
                <a:solidFill>
                  <a:srgbClr val="8F5300"/>
                </a:solidFill>
                <a:latin typeface="Arial Bold"/>
                <a:ea typeface="Arial Bold"/>
                <a:cs typeface="Arial Bold"/>
                <a:sym typeface="Arial Bold"/>
              </a:rPr>
              <a:t>PHA 1 </a:t>
            </a:r>
          </a:p>
        </p:txBody>
      </p:sp>
      <p:sp>
        <p:nvSpPr>
          <p:cNvPr name="TextBox 12" id="12"/>
          <p:cNvSpPr txBox="true"/>
          <p:nvPr/>
        </p:nvSpPr>
        <p:spPr>
          <a:xfrm rot="0">
            <a:off x="6972300" y="4451985"/>
            <a:ext cx="4489399" cy="1072515"/>
          </a:xfrm>
          <a:prstGeom prst="rect">
            <a:avLst/>
          </a:prstGeom>
        </p:spPr>
        <p:txBody>
          <a:bodyPr anchor="t" rtlCol="false" tIns="0" lIns="0" bIns="0" rIns="0">
            <a:spAutoFit/>
          </a:bodyPr>
          <a:lstStyle/>
          <a:p>
            <a:pPr algn="l">
              <a:lnSpc>
                <a:spcPts val="3960"/>
              </a:lnSpc>
            </a:pPr>
            <a:r>
              <a:rPr lang="en-US" sz="3300" b="true">
                <a:solidFill>
                  <a:srgbClr val="1B1D24"/>
                </a:solidFill>
                <a:latin typeface="Arial Bold"/>
                <a:ea typeface="Arial Bold"/>
                <a:cs typeface="Arial Bold"/>
                <a:sym typeface="Arial Bold"/>
              </a:rPr>
              <a:t>Xác thực người dùng</a:t>
            </a:r>
          </a:p>
        </p:txBody>
      </p:sp>
      <p:sp>
        <p:nvSpPr>
          <p:cNvPr name="TextBox 13" id="13"/>
          <p:cNvSpPr txBox="true"/>
          <p:nvPr/>
        </p:nvSpPr>
        <p:spPr>
          <a:xfrm rot="0">
            <a:off x="6972300" y="5619750"/>
            <a:ext cx="4489399" cy="948690"/>
          </a:xfrm>
          <a:prstGeom prst="rect">
            <a:avLst/>
          </a:prstGeom>
        </p:spPr>
        <p:txBody>
          <a:bodyPr anchor="t" rtlCol="false" tIns="0" lIns="0" bIns="0" rIns="0">
            <a:spAutoFit/>
          </a:bodyPr>
          <a:lstStyle/>
          <a:p>
            <a:pPr algn="l">
              <a:lnSpc>
                <a:spcPts val="3359"/>
              </a:lnSpc>
            </a:pPr>
            <a:r>
              <a:rPr lang="en-US" sz="2400">
                <a:solidFill>
                  <a:srgbClr val="50566A"/>
                </a:solidFill>
                <a:latin typeface="Arial"/>
                <a:ea typeface="Arial"/>
                <a:cs typeface="Arial"/>
                <a:sym typeface="Arial"/>
              </a:rPr>
              <a:t>Email/Password · Google · ID Token</a:t>
            </a:r>
          </a:p>
        </p:txBody>
      </p:sp>
      <p:grpSp>
        <p:nvGrpSpPr>
          <p:cNvPr name="Group 14" id="14"/>
          <p:cNvGrpSpPr/>
          <p:nvPr/>
        </p:nvGrpSpPr>
        <p:grpSpPr>
          <a:xfrm rot="0">
            <a:off x="6972300" y="6720840"/>
            <a:ext cx="1905000" cy="434340"/>
            <a:chOff x="0" y="0"/>
            <a:chExt cx="2540000" cy="579120"/>
          </a:xfrm>
        </p:grpSpPr>
        <p:sp>
          <p:nvSpPr>
            <p:cNvPr name="Freeform 15" id="15"/>
            <p:cNvSpPr/>
            <p:nvPr/>
          </p:nvSpPr>
          <p:spPr>
            <a:xfrm flipH="false" flipV="false" rot="0">
              <a:off x="0" y="0"/>
              <a:ext cx="2540000" cy="579120"/>
            </a:xfrm>
            <a:custGeom>
              <a:avLst/>
              <a:gdLst/>
              <a:ahLst/>
              <a:cxnLst/>
              <a:rect r="r" b="b" t="t" l="l"/>
              <a:pathLst>
                <a:path h="579120" w="2540000">
                  <a:moveTo>
                    <a:pt x="289560" y="0"/>
                  </a:moveTo>
                  <a:lnTo>
                    <a:pt x="2250440" y="0"/>
                  </a:lnTo>
                  <a:cubicBezTo>
                    <a:pt x="2410333" y="0"/>
                    <a:pt x="2540000" y="129667"/>
                    <a:pt x="2540000" y="289560"/>
                  </a:cubicBezTo>
                  <a:cubicBezTo>
                    <a:pt x="2540000" y="449453"/>
                    <a:pt x="2410333" y="579120"/>
                    <a:pt x="2250440" y="579120"/>
                  </a:cubicBezTo>
                  <a:lnTo>
                    <a:pt x="289560" y="579120"/>
                  </a:lnTo>
                  <a:cubicBezTo>
                    <a:pt x="129667" y="579120"/>
                    <a:pt x="0" y="449453"/>
                    <a:pt x="0" y="289560"/>
                  </a:cubicBezTo>
                  <a:cubicBezTo>
                    <a:pt x="0" y="129667"/>
                    <a:pt x="129667" y="0"/>
                    <a:pt x="289560" y="0"/>
                  </a:cubicBezTo>
                  <a:close/>
                </a:path>
              </a:pathLst>
            </a:custGeom>
            <a:solidFill>
              <a:srgbClr val="F2A72B"/>
            </a:solidFill>
          </p:spPr>
        </p:sp>
        <p:sp>
          <p:nvSpPr>
            <p:cNvPr name="TextBox 16" id="16"/>
            <p:cNvSpPr txBox="true"/>
            <p:nvPr/>
          </p:nvSpPr>
          <p:spPr>
            <a:xfrm>
              <a:off x="0" y="-57150"/>
              <a:ext cx="2540000" cy="636270"/>
            </a:xfrm>
            <a:prstGeom prst="rect">
              <a:avLst/>
            </a:prstGeom>
          </p:spPr>
          <p:txBody>
            <a:bodyPr anchor="t" rtlCol="false" tIns="50800" lIns="50800" bIns="50800" rIns="50800"/>
            <a:lstStyle/>
            <a:p>
              <a:pPr algn="ctr">
                <a:lnSpc>
                  <a:spcPts val="2520"/>
                </a:lnSpc>
              </a:pPr>
              <a:r>
                <a:rPr lang="en-US" sz="1800" b="true">
                  <a:solidFill>
                    <a:srgbClr val="15171E"/>
                  </a:solidFill>
                  <a:latin typeface="Arial Bold"/>
                  <a:ea typeface="Arial Bold"/>
                  <a:cs typeface="Arial Bold"/>
                  <a:sym typeface="Arial Bold"/>
                </a:rPr>
                <a:t>DEMO 1</a:t>
              </a:r>
            </a:p>
          </p:txBody>
        </p:sp>
      </p:grpSp>
      <p:grpSp>
        <p:nvGrpSpPr>
          <p:cNvPr name="Group 17" id="17"/>
          <p:cNvGrpSpPr/>
          <p:nvPr/>
        </p:nvGrpSpPr>
        <p:grpSpPr>
          <a:xfrm rot="0">
            <a:off x="11948160" y="3581400"/>
            <a:ext cx="5120640" cy="5181600"/>
            <a:chOff x="0" y="0"/>
            <a:chExt cx="6827520" cy="6908800"/>
          </a:xfrm>
        </p:grpSpPr>
        <p:sp>
          <p:nvSpPr>
            <p:cNvPr name="Freeform 18" id="18"/>
            <p:cNvSpPr/>
            <p:nvPr/>
          </p:nvSpPr>
          <p:spPr>
            <a:xfrm flipH="false" flipV="false" rot="0">
              <a:off x="0" y="0"/>
              <a:ext cx="6827520" cy="6908800"/>
            </a:xfrm>
            <a:custGeom>
              <a:avLst/>
              <a:gdLst/>
              <a:ahLst/>
              <a:cxnLst/>
              <a:rect r="r" b="b" t="t" l="l"/>
              <a:pathLst>
                <a:path h="6908800" w="6827520">
                  <a:moveTo>
                    <a:pt x="0" y="304800"/>
                  </a:moveTo>
                  <a:cubicBezTo>
                    <a:pt x="0" y="136398"/>
                    <a:pt x="136398" y="0"/>
                    <a:pt x="304800" y="0"/>
                  </a:cubicBezTo>
                  <a:lnTo>
                    <a:pt x="6522720" y="0"/>
                  </a:lnTo>
                  <a:cubicBezTo>
                    <a:pt x="6690995" y="0"/>
                    <a:pt x="6827520" y="136398"/>
                    <a:pt x="6827520" y="304800"/>
                  </a:cubicBezTo>
                  <a:lnTo>
                    <a:pt x="6827520" y="6604000"/>
                  </a:lnTo>
                  <a:cubicBezTo>
                    <a:pt x="6827520" y="6772275"/>
                    <a:pt x="6691122" y="6908800"/>
                    <a:pt x="6522720" y="6908800"/>
                  </a:cubicBezTo>
                  <a:lnTo>
                    <a:pt x="304800" y="6908800"/>
                  </a:lnTo>
                  <a:cubicBezTo>
                    <a:pt x="136525" y="6908800"/>
                    <a:pt x="0" y="6772402"/>
                    <a:pt x="0" y="6604000"/>
                  </a:cubicBezTo>
                  <a:close/>
                </a:path>
              </a:pathLst>
            </a:custGeom>
            <a:solidFill>
              <a:srgbClr val="15171E"/>
            </a:solidFill>
          </p:spPr>
        </p:sp>
      </p:grpSp>
      <p:sp>
        <p:nvSpPr>
          <p:cNvPr name="TextBox 19" id="19"/>
          <p:cNvSpPr txBox="true"/>
          <p:nvPr/>
        </p:nvSpPr>
        <p:spPr>
          <a:xfrm rot="0">
            <a:off x="12138660" y="3733800"/>
            <a:ext cx="4739640" cy="325755"/>
          </a:xfrm>
          <a:prstGeom prst="rect">
            <a:avLst/>
          </a:prstGeom>
        </p:spPr>
        <p:txBody>
          <a:bodyPr anchor="t" rtlCol="false" tIns="0" lIns="0" bIns="0" rIns="0">
            <a:spAutoFit/>
          </a:bodyPr>
          <a:lstStyle/>
          <a:p>
            <a:pPr algn="l">
              <a:lnSpc>
                <a:spcPts val="2520"/>
              </a:lnSpc>
            </a:pPr>
            <a:r>
              <a:rPr lang="en-US" b="true" sz="1800" spc="225">
                <a:solidFill>
                  <a:srgbClr val="F2A72B"/>
                </a:solidFill>
                <a:latin typeface="Arial Bold"/>
                <a:ea typeface="Arial Bold"/>
                <a:cs typeface="Arial Bold"/>
                <a:sym typeface="Arial Bold"/>
              </a:rPr>
              <a:t>PHA 2  </a:t>
            </a:r>
          </a:p>
        </p:txBody>
      </p:sp>
      <p:sp>
        <p:nvSpPr>
          <p:cNvPr name="TextBox 20" id="20"/>
          <p:cNvSpPr txBox="true"/>
          <p:nvPr/>
        </p:nvSpPr>
        <p:spPr>
          <a:xfrm rot="0">
            <a:off x="12329160" y="4444365"/>
            <a:ext cx="4489399" cy="1072515"/>
          </a:xfrm>
          <a:prstGeom prst="rect">
            <a:avLst/>
          </a:prstGeom>
        </p:spPr>
        <p:txBody>
          <a:bodyPr anchor="t" rtlCol="false" tIns="0" lIns="0" bIns="0" rIns="0">
            <a:spAutoFit/>
          </a:bodyPr>
          <a:lstStyle/>
          <a:p>
            <a:pPr algn="l">
              <a:lnSpc>
                <a:spcPts val="3960"/>
              </a:lnSpc>
            </a:pPr>
            <a:r>
              <a:rPr lang="en-US" sz="3300" b="true">
                <a:solidFill>
                  <a:srgbClr val="F2F0EA"/>
                </a:solidFill>
                <a:latin typeface="Arial Bold"/>
                <a:ea typeface="Arial Bold"/>
                <a:cs typeface="Arial Bold"/>
                <a:sym typeface="Arial Bold"/>
              </a:rPr>
              <a:t>Phân quyền truy cập</a:t>
            </a:r>
          </a:p>
        </p:txBody>
      </p:sp>
      <p:sp>
        <p:nvSpPr>
          <p:cNvPr name="TextBox 21" id="21"/>
          <p:cNvSpPr txBox="true"/>
          <p:nvPr/>
        </p:nvSpPr>
        <p:spPr>
          <a:xfrm rot="0">
            <a:off x="12329160" y="5612130"/>
            <a:ext cx="4489399" cy="948690"/>
          </a:xfrm>
          <a:prstGeom prst="rect">
            <a:avLst/>
          </a:prstGeom>
        </p:spPr>
        <p:txBody>
          <a:bodyPr anchor="t" rtlCol="false" tIns="0" lIns="0" bIns="0" rIns="0">
            <a:spAutoFit/>
          </a:bodyPr>
          <a:lstStyle/>
          <a:p>
            <a:pPr algn="l">
              <a:lnSpc>
                <a:spcPts val="3359"/>
              </a:lnSpc>
            </a:pPr>
            <a:r>
              <a:rPr lang="en-US" sz="2400">
                <a:solidFill>
                  <a:srgbClr val="C3C6CF"/>
                </a:solidFill>
                <a:latin typeface="Arial"/>
                <a:ea typeface="Arial"/>
                <a:cs typeface="Arial"/>
                <a:sym typeface="Arial"/>
              </a:rPr>
              <a:t>Sinh viên đọc/ghi · Giảng viên chỉ đọc</a:t>
            </a:r>
          </a:p>
        </p:txBody>
      </p:sp>
      <p:grpSp>
        <p:nvGrpSpPr>
          <p:cNvPr name="Group 22" id="22"/>
          <p:cNvGrpSpPr/>
          <p:nvPr/>
        </p:nvGrpSpPr>
        <p:grpSpPr>
          <a:xfrm rot="0">
            <a:off x="12329160" y="6713220"/>
            <a:ext cx="1905000" cy="434340"/>
            <a:chOff x="0" y="0"/>
            <a:chExt cx="2540000" cy="579120"/>
          </a:xfrm>
        </p:grpSpPr>
        <p:sp>
          <p:nvSpPr>
            <p:cNvPr name="Freeform 23" id="23"/>
            <p:cNvSpPr/>
            <p:nvPr/>
          </p:nvSpPr>
          <p:spPr>
            <a:xfrm flipH="false" flipV="false" rot="0">
              <a:off x="0" y="0"/>
              <a:ext cx="2540000" cy="579120"/>
            </a:xfrm>
            <a:custGeom>
              <a:avLst/>
              <a:gdLst/>
              <a:ahLst/>
              <a:cxnLst/>
              <a:rect r="r" b="b" t="t" l="l"/>
              <a:pathLst>
                <a:path h="579120" w="2540000">
                  <a:moveTo>
                    <a:pt x="289560" y="0"/>
                  </a:moveTo>
                  <a:lnTo>
                    <a:pt x="2250440" y="0"/>
                  </a:lnTo>
                  <a:cubicBezTo>
                    <a:pt x="2410333" y="0"/>
                    <a:pt x="2540000" y="129667"/>
                    <a:pt x="2540000" y="289560"/>
                  </a:cubicBezTo>
                  <a:cubicBezTo>
                    <a:pt x="2540000" y="449453"/>
                    <a:pt x="2410333" y="579120"/>
                    <a:pt x="2250440" y="579120"/>
                  </a:cubicBezTo>
                  <a:lnTo>
                    <a:pt x="289560" y="579120"/>
                  </a:lnTo>
                  <a:cubicBezTo>
                    <a:pt x="129667" y="579120"/>
                    <a:pt x="0" y="449453"/>
                    <a:pt x="0" y="289560"/>
                  </a:cubicBezTo>
                  <a:cubicBezTo>
                    <a:pt x="0" y="129667"/>
                    <a:pt x="129667" y="0"/>
                    <a:pt x="289560" y="0"/>
                  </a:cubicBezTo>
                  <a:close/>
                </a:path>
              </a:pathLst>
            </a:custGeom>
            <a:solidFill>
              <a:srgbClr val="F2A72B"/>
            </a:solidFill>
          </p:spPr>
        </p:sp>
        <p:sp>
          <p:nvSpPr>
            <p:cNvPr name="TextBox 24" id="24"/>
            <p:cNvSpPr txBox="true"/>
            <p:nvPr/>
          </p:nvSpPr>
          <p:spPr>
            <a:xfrm>
              <a:off x="0" y="-57150"/>
              <a:ext cx="2540000" cy="636270"/>
            </a:xfrm>
            <a:prstGeom prst="rect">
              <a:avLst/>
            </a:prstGeom>
          </p:spPr>
          <p:txBody>
            <a:bodyPr anchor="t" rtlCol="false" tIns="50800" lIns="50800" bIns="50800" rIns="50800"/>
            <a:lstStyle/>
            <a:p>
              <a:pPr algn="ctr">
                <a:lnSpc>
                  <a:spcPts val="2520"/>
                </a:lnSpc>
              </a:pPr>
              <a:r>
                <a:rPr lang="en-US" sz="1800" b="true">
                  <a:solidFill>
                    <a:srgbClr val="15171E"/>
                  </a:solidFill>
                  <a:latin typeface="Arial Bold"/>
                  <a:ea typeface="Arial Bold"/>
                  <a:cs typeface="Arial Bold"/>
                  <a:sym typeface="Arial Bold"/>
                </a:rPr>
                <a:t>DEMO 2</a:t>
              </a:r>
            </a:p>
          </p:txBody>
        </p:sp>
      </p:grpSp>
      <p:sp>
        <p:nvSpPr>
          <p:cNvPr name="TextBox 25" id="25"/>
          <p:cNvSpPr txBox="true"/>
          <p:nvPr/>
        </p:nvSpPr>
        <p:spPr>
          <a:xfrm rot="0">
            <a:off x="15849600" y="9300210"/>
            <a:ext cx="1219200" cy="415290"/>
          </a:xfrm>
          <a:prstGeom prst="rect">
            <a:avLst/>
          </a:prstGeom>
        </p:spPr>
        <p:txBody>
          <a:bodyPr anchor="t" rtlCol="false" tIns="0" lIns="0" bIns="0" rIns="0">
            <a:spAutoFit/>
          </a:bodyPr>
          <a:lstStyle/>
          <a:p>
            <a:pPr algn="r">
              <a:lnSpc>
                <a:spcPts val="2520"/>
              </a:lnSpc>
            </a:pPr>
            <a:r>
              <a:rPr lang="en-US" sz="1800">
                <a:solidFill>
                  <a:srgbClr val="6B7080"/>
                </a:solidFill>
                <a:latin typeface="Arial"/>
                <a:ea typeface="Arial"/>
                <a:cs typeface="Arial"/>
                <a:sym typeface="Arial"/>
              </a:rPr>
              <a:t>02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7F6F2"/>
        </a:solidFill>
      </p:bgPr>
    </p:bg>
    <p:spTree>
      <p:nvGrpSpPr>
        <p:cNvPr id="1" name=""/>
        <p:cNvGrpSpPr/>
        <p:nvPr/>
      </p:nvGrpSpPr>
      <p:grpSpPr>
        <a:xfrm>
          <a:off x="0" y="0"/>
          <a:ext cx="0" cy="0"/>
          <a:chOff x="0" y="0"/>
          <a:chExt cx="0" cy="0"/>
        </a:xfrm>
      </p:grpSpPr>
      <p:sp>
        <p:nvSpPr>
          <p:cNvPr name="TextBox 2" id="2"/>
          <p:cNvSpPr txBox="true"/>
          <p:nvPr/>
        </p:nvSpPr>
        <p:spPr>
          <a:xfrm rot="0">
            <a:off x="1219200" y="857250"/>
            <a:ext cx="16325088" cy="415290"/>
          </a:xfrm>
          <a:prstGeom prst="rect">
            <a:avLst/>
          </a:prstGeom>
        </p:spPr>
        <p:txBody>
          <a:bodyPr anchor="t" rtlCol="false" tIns="0" lIns="0" bIns="0" rIns="0">
            <a:spAutoFit/>
          </a:bodyPr>
          <a:lstStyle/>
          <a:p>
            <a:pPr algn="l">
              <a:lnSpc>
                <a:spcPts val="2520"/>
              </a:lnSpc>
            </a:pPr>
            <a:r>
              <a:rPr lang="en-US" b="true" sz="1800" spc="225">
                <a:solidFill>
                  <a:srgbClr val="8F5300"/>
                </a:solidFill>
                <a:latin typeface="Arial Bold"/>
                <a:ea typeface="Arial Bold"/>
                <a:cs typeface="Arial Bold"/>
                <a:sym typeface="Arial Bold"/>
              </a:rPr>
              <a:t>PHẦN 1 · TỔNG QUAN VỀ API</a:t>
            </a:r>
          </a:p>
        </p:txBody>
      </p:sp>
      <p:sp>
        <p:nvSpPr>
          <p:cNvPr name="TextBox 3" id="3"/>
          <p:cNvSpPr txBox="true"/>
          <p:nvPr/>
        </p:nvSpPr>
        <p:spPr>
          <a:xfrm rot="0">
            <a:off x="1219200" y="1367790"/>
            <a:ext cx="16325088" cy="647700"/>
          </a:xfrm>
          <a:prstGeom prst="rect">
            <a:avLst/>
          </a:prstGeom>
        </p:spPr>
        <p:txBody>
          <a:bodyPr anchor="t" rtlCol="false" tIns="0" lIns="0" bIns="0" rIns="0">
            <a:spAutoFit/>
          </a:bodyPr>
          <a:lstStyle/>
          <a:p>
            <a:pPr algn="l">
              <a:lnSpc>
                <a:spcPts val="4950"/>
              </a:lnSpc>
            </a:pPr>
            <a:r>
              <a:rPr lang="en-US" sz="4500" b="true">
                <a:solidFill>
                  <a:srgbClr val="1B1D24"/>
                </a:solidFill>
                <a:latin typeface="Arial Bold"/>
                <a:ea typeface="Arial Bold"/>
                <a:cs typeface="Arial Bold"/>
                <a:sym typeface="Arial Bold"/>
              </a:rPr>
              <a:t>Vì sao cần bảo vệ API?</a:t>
            </a:r>
          </a:p>
        </p:txBody>
      </p:sp>
      <p:sp>
        <p:nvSpPr>
          <p:cNvPr name="TextBox 4" id="4"/>
          <p:cNvSpPr txBox="true"/>
          <p:nvPr/>
        </p:nvSpPr>
        <p:spPr>
          <a:xfrm rot="0">
            <a:off x="1219200" y="2053590"/>
            <a:ext cx="16325088" cy="796290"/>
          </a:xfrm>
          <a:prstGeom prst="rect">
            <a:avLst/>
          </a:prstGeom>
        </p:spPr>
        <p:txBody>
          <a:bodyPr anchor="t" rtlCol="false" tIns="0" lIns="0" bIns="0" rIns="0">
            <a:spAutoFit/>
          </a:bodyPr>
          <a:lstStyle/>
          <a:p>
            <a:pPr algn="l">
              <a:lnSpc>
                <a:spcPts val="2835"/>
              </a:lnSpc>
            </a:pPr>
            <a:r>
              <a:rPr lang="en-US" sz="2100" b="true">
                <a:solidFill>
                  <a:srgbClr val="1B1D24"/>
                </a:solidFill>
                <a:latin typeface="Arial Bold"/>
                <a:ea typeface="Arial Bold"/>
                <a:cs typeface="Arial Bold"/>
                <a:sym typeface="Arial Bold"/>
              </a:rPr>
              <a:t>API là nơi ứng dụng gửi/nhận dữ liệu. Dữ liệu riêng tư cần xác thực và phân quyền.</a:t>
            </a:r>
          </a:p>
        </p:txBody>
      </p:sp>
      <p:grpSp>
        <p:nvGrpSpPr>
          <p:cNvPr name="Group 5" id="5"/>
          <p:cNvGrpSpPr/>
          <p:nvPr/>
        </p:nvGrpSpPr>
        <p:grpSpPr>
          <a:xfrm rot="0">
            <a:off x="1219200" y="3078480"/>
            <a:ext cx="2476500" cy="1116330"/>
            <a:chOff x="0" y="0"/>
            <a:chExt cx="3302000" cy="1488440"/>
          </a:xfrm>
        </p:grpSpPr>
        <p:sp>
          <p:nvSpPr>
            <p:cNvPr name="Freeform 6" id="6"/>
            <p:cNvSpPr/>
            <p:nvPr/>
          </p:nvSpPr>
          <p:spPr>
            <a:xfrm flipH="false" flipV="false" rot="0">
              <a:off x="0" y="0"/>
              <a:ext cx="3302000" cy="1488313"/>
            </a:xfrm>
            <a:custGeom>
              <a:avLst/>
              <a:gdLst/>
              <a:ahLst/>
              <a:cxnLst/>
              <a:rect r="r" b="b" t="t" l="l"/>
              <a:pathLst>
                <a:path h="1488313" w="3302000">
                  <a:moveTo>
                    <a:pt x="0" y="198501"/>
                  </a:moveTo>
                  <a:cubicBezTo>
                    <a:pt x="0" y="88900"/>
                    <a:pt x="88900" y="0"/>
                    <a:pt x="198501" y="0"/>
                  </a:cubicBezTo>
                  <a:lnTo>
                    <a:pt x="3103499" y="0"/>
                  </a:lnTo>
                  <a:cubicBezTo>
                    <a:pt x="3213100" y="0"/>
                    <a:pt x="3302000" y="88900"/>
                    <a:pt x="3302000" y="198501"/>
                  </a:cubicBezTo>
                  <a:lnTo>
                    <a:pt x="3302000" y="1289812"/>
                  </a:lnTo>
                  <a:cubicBezTo>
                    <a:pt x="3302000" y="1399413"/>
                    <a:pt x="3213100" y="1488313"/>
                    <a:pt x="3103499" y="1488313"/>
                  </a:cubicBezTo>
                  <a:lnTo>
                    <a:pt x="198501" y="1488313"/>
                  </a:lnTo>
                  <a:cubicBezTo>
                    <a:pt x="88900" y="1488440"/>
                    <a:pt x="0" y="1399540"/>
                    <a:pt x="0" y="1289939"/>
                  </a:cubicBezTo>
                  <a:close/>
                </a:path>
              </a:pathLst>
            </a:custGeom>
            <a:solidFill>
              <a:srgbClr val="FFFEFB"/>
            </a:solidFill>
            <a:ln w="9525" cap="sq">
              <a:solidFill>
                <a:srgbClr val="E2DED3"/>
              </a:solidFill>
              <a:prstDash val="solid"/>
              <a:miter/>
            </a:ln>
          </p:spPr>
        </p:sp>
      </p:grpSp>
      <p:grpSp>
        <p:nvGrpSpPr>
          <p:cNvPr name="Group 7" id="7"/>
          <p:cNvGrpSpPr/>
          <p:nvPr/>
        </p:nvGrpSpPr>
        <p:grpSpPr>
          <a:xfrm rot="0">
            <a:off x="2286000" y="3276600"/>
            <a:ext cx="342900" cy="342900"/>
            <a:chOff x="0" y="0"/>
            <a:chExt cx="457200" cy="457200"/>
          </a:xfrm>
        </p:grpSpPr>
        <p:sp>
          <p:nvSpPr>
            <p:cNvPr name="Freeform 8" id="8" descr="Globe"/>
            <p:cNvSpPr/>
            <p:nvPr/>
          </p:nvSpPr>
          <p:spPr>
            <a:xfrm flipH="false" flipV="false" rot="0">
              <a:off x="0" y="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3"/>
              <a:stretch>
                <a:fillRect l="0" t="0" r="0" b="0"/>
              </a:stretch>
            </a:blipFill>
          </p:spPr>
        </p:sp>
      </p:grpSp>
      <p:sp>
        <p:nvSpPr>
          <p:cNvPr name="TextBox 9" id="9"/>
          <p:cNvSpPr txBox="true"/>
          <p:nvPr/>
        </p:nvSpPr>
        <p:spPr>
          <a:xfrm rot="0">
            <a:off x="2076402" y="3619500"/>
            <a:ext cx="762095" cy="415290"/>
          </a:xfrm>
          <a:prstGeom prst="rect">
            <a:avLst/>
          </a:prstGeom>
        </p:spPr>
        <p:txBody>
          <a:bodyPr anchor="t" rtlCol="false" tIns="0" lIns="0" bIns="0" rIns="0">
            <a:spAutoFit/>
          </a:bodyPr>
          <a:lstStyle/>
          <a:p>
            <a:pPr algn="ctr">
              <a:lnSpc>
                <a:spcPts val="2520"/>
              </a:lnSpc>
            </a:pPr>
            <a:r>
              <a:rPr lang="en-US" sz="1800" b="true">
                <a:solidFill>
                  <a:srgbClr val="1B1D24"/>
                </a:solidFill>
                <a:latin typeface="Arial Bold"/>
                <a:ea typeface="Arial Bold"/>
                <a:cs typeface="Arial Bold"/>
                <a:sym typeface="Arial Bold"/>
              </a:rPr>
              <a:t>Client</a:t>
            </a:r>
          </a:p>
        </p:txBody>
      </p:sp>
      <p:sp>
        <p:nvSpPr>
          <p:cNvPr name="TextBox 10" id="10"/>
          <p:cNvSpPr txBox="true"/>
          <p:nvPr/>
        </p:nvSpPr>
        <p:spPr>
          <a:xfrm rot="0">
            <a:off x="3886200" y="3284220"/>
            <a:ext cx="1676752" cy="342900"/>
          </a:xfrm>
          <a:prstGeom prst="rect">
            <a:avLst/>
          </a:prstGeom>
        </p:spPr>
        <p:txBody>
          <a:bodyPr anchor="t" rtlCol="false" tIns="0" lIns="0" bIns="0" rIns="0">
            <a:spAutoFit/>
          </a:bodyPr>
          <a:lstStyle/>
          <a:p>
            <a:pPr algn="l">
              <a:lnSpc>
                <a:spcPts val="2100"/>
              </a:lnSpc>
            </a:pPr>
            <a:r>
              <a:rPr lang="en-US" sz="1500">
                <a:solidFill>
                  <a:srgbClr val="1B1D24"/>
                </a:solidFill>
                <a:latin typeface="Courier New"/>
                <a:ea typeface="Courier New"/>
                <a:cs typeface="Courier New"/>
                <a:sym typeface="Courier New"/>
              </a:rPr>
              <a:t>GET /api/notes</a:t>
            </a:r>
          </a:p>
        </p:txBody>
      </p:sp>
      <p:grpSp>
        <p:nvGrpSpPr>
          <p:cNvPr name="Group 11" id="11"/>
          <p:cNvGrpSpPr/>
          <p:nvPr/>
        </p:nvGrpSpPr>
        <p:grpSpPr>
          <a:xfrm rot="0">
            <a:off x="5562952" y="3441383"/>
            <a:ext cx="8457848" cy="28575"/>
            <a:chOff x="0" y="0"/>
            <a:chExt cx="11277130" cy="38100"/>
          </a:xfrm>
        </p:grpSpPr>
        <p:sp>
          <p:nvSpPr>
            <p:cNvPr name="Freeform 12" id="12"/>
            <p:cNvSpPr/>
            <p:nvPr/>
          </p:nvSpPr>
          <p:spPr>
            <a:xfrm flipH="false" flipV="false" rot="0">
              <a:off x="0" y="0"/>
              <a:ext cx="11277092" cy="38100"/>
            </a:xfrm>
            <a:custGeom>
              <a:avLst/>
              <a:gdLst/>
              <a:ahLst/>
              <a:cxnLst/>
              <a:rect r="r" b="b" t="t" l="l"/>
              <a:pathLst>
                <a:path h="38100" w="11277092">
                  <a:moveTo>
                    <a:pt x="0" y="0"/>
                  </a:moveTo>
                  <a:lnTo>
                    <a:pt x="11277092" y="0"/>
                  </a:lnTo>
                  <a:lnTo>
                    <a:pt x="11277092" y="38100"/>
                  </a:lnTo>
                  <a:lnTo>
                    <a:pt x="0" y="38100"/>
                  </a:lnTo>
                  <a:close/>
                </a:path>
              </a:pathLst>
            </a:custGeom>
            <a:solidFill>
              <a:srgbClr val="2F64D6"/>
            </a:solidFill>
          </p:spPr>
        </p:sp>
      </p:grpSp>
      <p:grpSp>
        <p:nvGrpSpPr>
          <p:cNvPr name="Group 13" id="13"/>
          <p:cNvGrpSpPr/>
          <p:nvPr/>
        </p:nvGrpSpPr>
        <p:grpSpPr>
          <a:xfrm rot="0">
            <a:off x="14097000" y="3379470"/>
            <a:ext cx="304800" cy="152400"/>
            <a:chOff x="0" y="0"/>
            <a:chExt cx="406400" cy="203200"/>
          </a:xfrm>
        </p:grpSpPr>
        <p:sp>
          <p:nvSpPr>
            <p:cNvPr name="Freeform 14" id="14" descr="arrow-right"/>
            <p:cNvSpPr/>
            <p:nvPr/>
          </p:nvSpPr>
          <p:spPr>
            <a:xfrm flipH="false" flipV="false" rot="0">
              <a:off x="0" y="0"/>
              <a:ext cx="406400" cy="203200"/>
            </a:xfrm>
            <a:custGeom>
              <a:avLst/>
              <a:gdLst/>
              <a:ahLst/>
              <a:cxnLst/>
              <a:rect r="r" b="b" t="t" l="l"/>
              <a:pathLst>
                <a:path h="203200" w="406400">
                  <a:moveTo>
                    <a:pt x="0" y="0"/>
                  </a:moveTo>
                  <a:lnTo>
                    <a:pt x="406400" y="0"/>
                  </a:lnTo>
                  <a:lnTo>
                    <a:pt x="406400" y="203200"/>
                  </a:lnTo>
                  <a:lnTo>
                    <a:pt x="0" y="203200"/>
                  </a:lnTo>
                  <a:lnTo>
                    <a:pt x="0" y="0"/>
                  </a:lnTo>
                  <a:close/>
                </a:path>
              </a:pathLst>
            </a:custGeom>
            <a:blipFill>
              <a:blip r:embed="rId4"/>
              <a:stretch>
                <a:fillRect l="0" t="0" r="0" b="0"/>
              </a:stretch>
            </a:blipFill>
          </p:spPr>
        </p:sp>
      </p:grpSp>
      <p:grpSp>
        <p:nvGrpSpPr>
          <p:cNvPr name="Group 15" id="15"/>
          <p:cNvGrpSpPr/>
          <p:nvPr/>
        </p:nvGrpSpPr>
        <p:grpSpPr>
          <a:xfrm rot="0">
            <a:off x="3886200" y="3741420"/>
            <a:ext cx="304800" cy="152400"/>
            <a:chOff x="0" y="0"/>
            <a:chExt cx="406400" cy="203200"/>
          </a:xfrm>
        </p:grpSpPr>
        <p:sp>
          <p:nvSpPr>
            <p:cNvPr name="Freeform 16" id="16" descr="arrow-left"/>
            <p:cNvSpPr/>
            <p:nvPr/>
          </p:nvSpPr>
          <p:spPr>
            <a:xfrm flipH="false" flipV="false" rot="0">
              <a:off x="0" y="0"/>
              <a:ext cx="406400" cy="203200"/>
            </a:xfrm>
            <a:custGeom>
              <a:avLst/>
              <a:gdLst/>
              <a:ahLst/>
              <a:cxnLst/>
              <a:rect r="r" b="b" t="t" l="l"/>
              <a:pathLst>
                <a:path h="203200" w="406400">
                  <a:moveTo>
                    <a:pt x="0" y="0"/>
                  </a:moveTo>
                  <a:lnTo>
                    <a:pt x="406400" y="0"/>
                  </a:lnTo>
                  <a:lnTo>
                    <a:pt x="406400" y="203200"/>
                  </a:lnTo>
                  <a:lnTo>
                    <a:pt x="0" y="203200"/>
                  </a:lnTo>
                  <a:lnTo>
                    <a:pt x="0" y="0"/>
                  </a:lnTo>
                  <a:close/>
                </a:path>
              </a:pathLst>
            </a:custGeom>
            <a:blipFill>
              <a:blip r:embed="rId5"/>
              <a:stretch>
                <a:fillRect l="0" t="0" r="0" b="0"/>
              </a:stretch>
            </a:blipFill>
          </p:spPr>
        </p:sp>
      </p:grpSp>
      <p:grpSp>
        <p:nvGrpSpPr>
          <p:cNvPr name="Group 17" id="17"/>
          <p:cNvGrpSpPr/>
          <p:nvPr/>
        </p:nvGrpSpPr>
        <p:grpSpPr>
          <a:xfrm rot="0">
            <a:off x="4267200" y="3803333"/>
            <a:ext cx="8915162" cy="28575"/>
            <a:chOff x="0" y="0"/>
            <a:chExt cx="11886882" cy="38100"/>
          </a:xfrm>
        </p:grpSpPr>
        <p:sp>
          <p:nvSpPr>
            <p:cNvPr name="Freeform 18" id="18"/>
            <p:cNvSpPr/>
            <p:nvPr/>
          </p:nvSpPr>
          <p:spPr>
            <a:xfrm flipH="false" flipV="false" rot="0">
              <a:off x="0" y="0"/>
              <a:ext cx="11886819" cy="38100"/>
            </a:xfrm>
            <a:custGeom>
              <a:avLst/>
              <a:gdLst/>
              <a:ahLst/>
              <a:cxnLst/>
              <a:rect r="r" b="b" t="t" l="l"/>
              <a:pathLst>
                <a:path h="38100" w="11886819">
                  <a:moveTo>
                    <a:pt x="0" y="0"/>
                  </a:moveTo>
                  <a:lnTo>
                    <a:pt x="11886819" y="0"/>
                  </a:lnTo>
                  <a:lnTo>
                    <a:pt x="11886819" y="38100"/>
                  </a:lnTo>
                  <a:lnTo>
                    <a:pt x="0" y="38100"/>
                  </a:lnTo>
                  <a:close/>
                </a:path>
              </a:pathLst>
            </a:custGeom>
            <a:solidFill>
              <a:srgbClr val="8F5300"/>
            </a:solidFill>
          </p:spPr>
        </p:sp>
      </p:grpSp>
      <p:sp>
        <p:nvSpPr>
          <p:cNvPr name="TextBox 19" id="19"/>
          <p:cNvSpPr txBox="true"/>
          <p:nvPr/>
        </p:nvSpPr>
        <p:spPr>
          <a:xfrm rot="0">
            <a:off x="13258562" y="3646170"/>
            <a:ext cx="1333738" cy="342900"/>
          </a:xfrm>
          <a:prstGeom prst="rect">
            <a:avLst/>
          </a:prstGeom>
        </p:spPr>
        <p:txBody>
          <a:bodyPr anchor="t" rtlCol="false" tIns="0" lIns="0" bIns="0" rIns="0">
            <a:spAutoFit/>
          </a:bodyPr>
          <a:lstStyle/>
          <a:p>
            <a:pPr algn="l">
              <a:lnSpc>
                <a:spcPts val="2100"/>
              </a:lnSpc>
            </a:pPr>
            <a:r>
              <a:rPr lang="en-US" sz="1500">
                <a:solidFill>
                  <a:srgbClr val="1B1D24"/>
                </a:solidFill>
                <a:latin typeface="Courier New"/>
                <a:ea typeface="Courier New"/>
                <a:cs typeface="Courier New"/>
                <a:sym typeface="Courier New"/>
              </a:rPr>
              <a:t>200 + JSON</a:t>
            </a:r>
          </a:p>
        </p:txBody>
      </p:sp>
      <p:grpSp>
        <p:nvGrpSpPr>
          <p:cNvPr name="Group 20" id="20"/>
          <p:cNvGrpSpPr/>
          <p:nvPr/>
        </p:nvGrpSpPr>
        <p:grpSpPr>
          <a:xfrm rot="0">
            <a:off x="14592300" y="3086100"/>
            <a:ext cx="2476500" cy="1101090"/>
            <a:chOff x="0" y="0"/>
            <a:chExt cx="3302000" cy="1468120"/>
          </a:xfrm>
        </p:grpSpPr>
        <p:sp>
          <p:nvSpPr>
            <p:cNvPr name="Freeform 21" id="21"/>
            <p:cNvSpPr/>
            <p:nvPr/>
          </p:nvSpPr>
          <p:spPr>
            <a:xfrm flipH="false" flipV="false" rot="0">
              <a:off x="0" y="0"/>
              <a:ext cx="3302000" cy="1468120"/>
            </a:xfrm>
            <a:custGeom>
              <a:avLst/>
              <a:gdLst/>
              <a:ahLst/>
              <a:cxnLst/>
              <a:rect r="r" b="b" t="t" l="l"/>
              <a:pathLst>
                <a:path h="1468120" w="3302000">
                  <a:moveTo>
                    <a:pt x="0" y="203200"/>
                  </a:moveTo>
                  <a:cubicBezTo>
                    <a:pt x="0" y="90932"/>
                    <a:pt x="90932" y="0"/>
                    <a:pt x="203200" y="0"/>
                  </a:cubicBezTo>
                  <a:lnTo>
                    <a:pt x="3098800" y="0"/>
                  </a:lnTo>
                  <a:cubicBezTo>
                    <a:pt x="3211068" y="0"/>
                    <a:pt x="3302000" y="90932"/>
                    <a:pt x="3302000" y="203200"/>
                  </a:cubicBezTo>
                  <a:lnTo>
                    <a:pt x="3302000" y="1264920"/>
                  </a:lnTo>
                  <a:cubicBezTo>
                    <a:pt x="3302000" y="1377188"/>
                    <a:pt x="3211068" y="1468120"/>
                    <a:pt x="3098800" y="1468120"/>
                  </a:cubicBezTo>
                  <a:lnTo>
                    <a:pt x="203200" y="1468120"/>
                  </a:lnTo>
                  <a:cubicBezTo>
                    <a:pt x="90932" y="1468120"/>
                    <a:pt x="0" y="1377188"/>
                    <a:pt x="0" y="1264920"/>
                  </a:cubicBezTo>
                  <a:close/>
                </a:path>
              </a:pathLst>
            </a:custGeom>
            <a:solidFill>
              <a:srgbClr val="15171E"/>
            </a:solidFill>
          </p:spPr>
        </p:sp>
      </p:grpSp>
      <p:grpSp>
        <p:nvGrpSpPr>
          <p:cNvPr name="Group 22" id="22"/>
          <p:cNvGrpSpPr/>
          <p:nvPr/>
        </p:nvGrpSpPr>
        <p:grpSpPr>
          <a:xfrm rot="0">
            <a:off x="15659100" y="3276600"/>
            <a:ext cx="342900" cy="342900"/>
            <a:chOff x="0" y="0"/>
            <a:chExt cx="457200" cy="457200"/>
          </a:xfrm>
        </p:grpSpPr>
        <p:sp>
          <p:nvSpPr>
            <p:cNvPr name="Freeform 23" id="23" descr="Database"/>
            <p:cNvSpPr/>
            <p:nvPr/>
          </p:nvSpPr>
          <p:spPr>
            <a:xfrm flipH="false" flipV="false" rot="0">
              <a:off x="0" y="0"/>
              <a:ext cx="457200" cy="457200"/>
            </a:xfrm>
            <a:custGeom>
              <a:avLst/>
              <a:gdLst/>
              <a:ahLst/>
              <a:cxnLst/>
              <a:rect r="r" b="b" t="t" l="l"/>
              <a:pathLst>
                <a:path h="457200" w="457200">
                  <a:moveTo>
                    <a:pt x="0" y="0"/>
                  </a:moveTo>
                  <a:lnTo>
                    <a:pt x="457200" y="0"/>
                  </a:lnTo>
                  <a:lnTo>
                    <a:pt x="457200" y="457200"/>
                  </a:lnTo>
                  <a:lnTo>
                    <a:pt x="0" y="457200"/>
                  </a:lnTo>
                  <a:lnTo>
                    <a:pt x="0" y="0"/>
                  </a:lnTo>
                  <a:close/>
                </a:path>
              </a:pathLst>
            </a:custGeom>
            <a:blipFill>
              <a:blip r:embed="rId6"/>
              <a:stretch>
                <a:fillRect l="0" t="0" r="0" b="0"/>
              </a:stretch>
            </a:blipFill>
          </p:spPr>
        </p:sp>
      </p:grpSp>
      <p:sp>
        <p:nvSpPr>
          <p:cNvPr name="TextBox 24" id="24"/>
          <p:cNvSpPr txBox="true"/>
          <p:nvPr/>
        </p:nvSpPr>
        <p:spPr>
          <a:xfrm rot="0">
            <a:off x="15403363" y="3619500"/>
            <a:ext cx="854250" cy="415290"/>
          </a:xfrm>
          <a:prstGeom prst="rect">
            <a:avLst/>
          </a:prstGeom>
        </p:spPr>
        <p:txBody>
          <a:bodyPr anchor="t" rtlCol="false" tIns="0" lIns="0" bIns="0" rIns="0">
            <a:spAutoFit/>
          </a:bodyPr>
          <a:lstStyle/>
          <a:p>
            <a:pPr algn="ctr">
              <a:lnSpc>
                <a:spcPts val="2520"/>
              </a:lnSpc>
            </a:pPr>
            <a:r>
              <a:rPr lang="en-US" sz="1800" b="true">
                <a:solidFill>
                  <a:srgbClr val="F2F0EA"/>
                </a:solidFill>
                <a:latin typeface="Arial Bold"/>
                <a:ea typeface="Arial Bold"/>
                <a:cs typeface="Arial Bold"/>
                <a:sym typeface="Arial Bold"/>
              </a:rPr>
              <a:t>Server</a:t>
            </a:r>
          </a:p>
        </p:txBody>
      </p:sp>
      <p:grpSp>
        <p:nvGrpSpPr>
          <p:cNvPr name="Group 25" id="25"/>
          <p:cNvGrpSpPr/>
          <p:nvPr/>
        </p:nvGrpSpPr>
        <p:grpSpPr>
          <a:xfrm rot="0">
            <a:off x="1219200" y="4461510"/>
            <a:ext cx="7818120" cy="2089785"/>
            <a:chOff x="0" y="0"/>
            <a:chExt cx="10424160" cy="2786380"/>
          </a:xfrm>
        </p:grpSpPr>
        <p:sp>
          <p:nvSpPr>
            <p:cNvPr name="Freeform 26" id="26"/>
            <p:cNvSpPr/>
            <p:nvPr/>
          </p:nvSpPr>
          <p:spPr>
            <a:xfrm flipH="false" flipV="false" rot="0">
              <a:off x="0" y="0"/>
              <a:ext cx="10424161" cy="2786380"/>
            </a:xfrm>
            <a:custGeom>
              <a:avLst/>
              <a:gdLst/>
              <a:ahLst/>
              <a:cxnLst/>
              <a:rect r="r" b="b" t="t" l="l"/>
              <a:pathLst>
                <a:path h="2786380" w="10424161">
                  <a:moveTo>
                    <a:pt x="0" y="248793"/>
                  </a:moveTo>
                  <a:cubicBezTo>
                    <a:pt x="0" y="111379"/>
                    <a:pt x="111379" y="0"/>
                    <a:pt x="248793" y="0"/>
                  </a:cubicBezTo>
                  <a:lnTo>
                    <a:pt x="10175367" y="0"/>
                  </a:lnTo>
                  <a:cubicBezTo>
                    <a:pt x="10312781" y="0"/>
                    <a:pt x="10424161" y="111379"/>
                    <a:pt x="10424161" y="248793"/>
                  </a:cubicBezTo>
                  <a:lnTo>
                    <a:pt x="10424161" y="2537587"/>
                  </a:lnTo>
                  <a:cubicBezTo>
                    <a:pt x="10424161" y="2675001"/>
                    <a:pt x="10312781" y="2786380"/>
                    <a:pt x="10175367" y="2786380"/>
                  </a:cubicBezTo>
                  <a:lnTo>
                    <a:pt x="248793" y="2786380"/>
                  </a:lnTo>
                  <a:cubicBezTo>
                    <a:pt x="111379" y="2786380"/>
                    <a:pt x="0" y="2675001"/>
                    <a:pt x="0" y="2537587"/>
                  </a:cubicBezTo>
                  <a:close/>
                </a:path>
              </a:pathLst>
            </a:custGeom>
            <a:solidFill>
              <a:srgbClr val="FFFEFB"/>
            </a:solidFill>
            <a:ln w="9525" cap="sq">
              <a:solidFill>
                <a:srgbClr val="E2DED3"/>
              </a:solidFill>
              <a:prstDash val="solid"/>
              <a:miter/>
            </a:ln>
          </p:spPr>
        </p:sp>
      </p:grpSp>
      <p:grpSp>
        <p:nvGrpSpPr>
          <p:cNvPr name="Group 27" id="27"/>
          <p:cNvGrpSpPr/>
          <p:nvPr/>
        </p:nvGrpSpPr>
        <p:grpSpPr>
          <a:xfrm rot="0">
            <a:off x="1531620" y="4739640"/>
            <a:ext cx="381000" cy="381000"/>
            <a:chOff x="0" y="0"/>
            <a:chExt cx="508000" cy="508000"/>
          </a:xfrm>
        </p:grpSpPr>
        <p:sp>
          <p:nvSpPr>
            <p:cNvPr name="Freeform 28" id="28" descr="Globe"/>
            <p:cNvSpPr/>
            <p:nvPr/>
          </p:nvSpPr>
          <p:spPr>
            <a:xfrm flipH="false" flipV="false" rot="0">
              <a:off x="0" y="0"/>
              <a:ext cx="508000" cy="508000"/>
            </a:xfrm>
            <a:custGeom>
              <a:avLst/>
              <a:gdLst/>
              <a:ahLst/>
              <a:cxnLst/>
              <a:rect r="r" b="b" t="t" l="l"/>
              <a:pathLst>
                <a:path h="508000" w="508000">
                  <a:moveTo>
                    <a:pt x="0" y="0"/>
                  </a:moveTo>
                  <a:lnTo>
                    <a:pt x="508000" y="0"/>
                  </a:lnTo>
                  <a:lnTo>
                    <a:pt x="508000" y="508000"/>
                  </a:lnTo>
                  <a:lnTo>
                    <a:pt x="0" y="508000"/>
                  </a:lnTo>
                  <a:lnTo>
                    <a:pt x="0" y="0"/>
                  </a:lnTo>
                  <a:close/>
                </a:path>
              </a:pathLst>
            </a:custGeom>
            <a:blipFill>
              <a:blip r:embed="rId7"/>
              <a:stretch>
                <a:fillRect l="0" t="0" r="0" b="0"/>
              </a:stretch>
            </a:blipFill>
          </p:spPr>
        </p:sp>
      </p:grpSp>
      <p:sp>
        <p:nvSpPr>
          <p:cNvPr name="TextBox 29" id="29"/>
          <p:cNvSpPr txBox="true"/>
          <p:nvPr/>
        </p:nvSpPr>
        <p:spPr>
          <a:xfrm rot="0">
            <a:off x="2045970" y="4726305"/>
            <a:ext cx="1907524" cy="436245"/>
          </a:xfrm>
          <a:prstGeom prst="rect">
            <a:avLst/>
          </a:prstGeom>
        </p:spPr>
        <p:txBody>
          <a:bodyPr anchor="t" rtlCol="false" tIns="0" lIns="0" bIns="0" rIns="0">
            <a:spAutoFit/>
          </a:bodyPr>
          <a:lstStyle/>
          <a:p>
            <a:pPr algn="l">
              <a:lnSpc>
                <a:spcPts val="3060"/>
              </a:lnSpc>
            </a:pPr>
            <a:r>
              <a:rPr lang="en-US" sz="2550" b="true">
                <a:solidFill>
                  <a:srgbClr val="1B1D24"/>
                </a:solidFill>
                <a:latin typeface="Arial Bold"/>
                <a:ea typeface="Arial Bold"/>
                <a:cs typeface="Arial Bold"/>
                <a:sym typeface="Arial Bold"/>
              </a:rPr>
              <a:t>Public API</a:t>
            </a:r>
          </a:p>
        </p:txBody>
      </p:sp>
      <p:sp>
        <p:nvSpPr>
          <p:cNvPr name="TextBox 30" id="30"/>
          <p:cNvSpPr txBox="true"/>
          <p:nvPr/>
        </p:nvSpPr>
        <p:spPr>
          <a:xfrm rot="0">
            <a:off x="1531620" y="5172075"/>
            <a:ext cx="7409078" cy="754380"/>
          </a:xfrm>
          <a:prstGeom prst="rect">
            <a:avLst/>
          </a:prstGeom>
        </p:spPr>
        <p:txBody>
          <a:bodyPr anchor="t" rtlCol="false" tIns="0" lIns="0" bIns="0" rIns="0">
            <a:spAutoFit/>
          </a:bodyPr>
          <a:lstStyle/>
          <a:p>
            <a:pPr algn="l">
              <a:lnSpc>
                <a:spcPts val="2632"/>
              </a:lnSpc>
            </a:pPr>
            <a:r>
              <a:rPr lang="en-US" sz="1950">
                <a:solidFill>
                  <a:srgbClr val="1B1D24"/>
                </a:solidFill>
                <a:latin typeface="Arial"/>
                <a:ea typeface="Arial"/>
                <a:cs typeface="Arial"/>
                <a:sym typeface="Arial"/>
              </a:rPr>
              <a:t>Không cần đăng nhập.</a:t>
            </a:r>
          </a:p>
        </p:txBody>
      </p:sp>
      <p:sp>
        <p:nvSpPr>
          <p:cNvPr name="TextBox 31" id="31"/>
          <p:cNvSpPr txBox="true"/>
          <p:nvPr/>
        </p:nvSpPr>
        <p:spPr>
          <a:xfrm rot="0">
            <a:off x="1531620" y="5926455"/>
            <a:ext cx="7409078" cy="388620"/>
          </a:xfrm>
          <a:prstGeom prst="rect">
            <a:avLst/>
          </a:prstGeom>
        </p:spPr>
        <p:txBody>
          <a:bodyPr anchor="t" rtlCol="false" tIns="0" lIns="0" bIns="0" rIns="0">
            <a:spAutoFit/>
          </a:bodyPr>
          <a:lstStyle/>
          <a:p>
            <a:pPr algn="l">
              <a:lnSpc>
                <a:spcPts val="2310"/>
              </a:lnSpc>
            </a:pPr>
            <a:r>
              <a:rPr lang="en-US" sz="1650" b="true">
                <a:solidFill>
                  <a:srgbClr val="50566A"/>
                </a:solidFill>
                <a:latin typeface="Arial Bold"/>
                <a:ea typeface="Arial Bold"/>
                <a:cs typeface="Arial Bold"/>
                <a:sym typeface="Arial Bold"/>
              </a:rPr>
              <a:t>Ví dụ: thời tiết, tỷ giá</a:t>
            </a:r>
          </a:p>
        </p:txBody>
      </p:sp>
      <p:grpSp>
        <p:nvGrpSpPr>
          <p:cNvPr name="Group 32" id="32"/>
          <p:cNvGrpSpPr/>
          <p:nvPr/>
        </p:nvGrpSpPr>
        <p:grpSpPr>
          <a:xfrm rot="0">
            <a:off x="9265920" y="4461510"/>
            <a:ext cx="7802880" cy="2089785"/>
            <a:chOff x="0" y="0"/>
            <a:chExt cx="10403840" cy="2786380"/>
          </a:xfrm>
        </p:grpSpPr>
        <p:sp>
          <p:nvSpPr>
            <p:cNvPr name="Freeform 33" id="33"/>
            <p:cNvSpPr/>
            <p:nvPr/>
          </p:nvSpPr>
          <p:spPr>
            <a:xfrm flipH="false" flipV="false" rot="0">
              <a:off x="0" y="0"/>
              <a:ext cx="10403840" cy="2786380"/>
            </a:xfrm>
            <a:custGeom>
              <a:avLst/>
              <a:gdLst/>
              <a:ahLst/>
              <a:cxnLst/>
              <a:rect r="r" b="b" t="t" l="l"/>
              <a:pathLst>
                <a:path h="2786380" w="10403840">
                  <a:moveTo>
                    <a:pt x="0" y="254000"/>
                  </a:moveTo>
                  <a:cubicBezTo>
                    <a:pt x="0" y="113665"/>
                    <a:pt x="113665" y="0"/>
                    <a:pt x="254000" y="0"/>
                  </a:cubicBezTo>
                  <a:lnTo>
                    <a:pt x="10149840" y="0"/>
                  </a:lnTo>
                  <a:cubicBezTo>
                    <a:pt x="10290175" y="0"/>
                    <a:pt x="10403840" y="113665"/>
                    <a:pt x="10403840" y="254000"/>
                  </a:cubicBezTo>
                  <a:lnTo>
                    <a:pt x="10403840" y="2532380"/>
                  </a:lnTo>
                  <a:cubicBezTo>
                    <a:pt x="10403840" y="2672715"/>
                    <a:pt x="10290175" y="2786380"/>
                    <a:pt x="10149840" y="2786380"/>
                  </a:cubicBezTo>
                  <a:lnTo>
                    <a:pt x="254000" y="2786380"/>
                  </a:lnTo>
                  <a:cubicBezTo>
                    <a:pt x="113665" y="2786380"/>
                    <a:pt x="0" y="2672715"/>
                    <a:pt x="0" y="2532380"/>
                  </a:cubicBezTo>
                  <a:close/>
                </a:path>
              </a:pathLst>
            </a:custGeom>
            <a:solidFill>
              <a:srgbClr val="15171E"/>
            </a:solidFill>
          </p:spPr>
        </p:sp>
      </p:grpSp>
      <p:grpSp>
        <p:nvGrpSpPr>
          <p:cNvPr name="Group 34" id="34"/>
          <p:cNvGrpSpPr/>
          <p:nvPr/>
        </p:nvGrpSpPr>
        <p:grpSpPr>
          <a:xfrm rot="0">
            <a:off x="9570720" y="4732020"/>
            <a:ext cx="381000" cy="381000"/>
            <a:chOff x="0" y="0"/>
            <a:chExt cx="508000" cy="508000"/>
          </a:xfrm>
        </p:grpSpPr>
        <p:sp>
          <p:nvSpPr>
            <p:cNvPr name="Freeform 35" id="35" descr="Lock"/>
            <p:cNvSpPr/>
            <p:nvPr/>
          </p:nvSpPr>
          <p:spPr>
            <a:xfrm flipH="false" flipV="false" rot="0">
              <a:off x="0" y="0"/>
              <a:ext cx="508000" cy="508000"/>
            </a:xfrm>
            <a:custGeom>
              <a:avLst/>
              <a:gdLst/>
              <a:ahLst/>
              <a:cxnLst/>
              <a:rect r="r" b="b" t="t" l="l"/>
              <a:pathLst>
                <a:path h="508000" w="508000">
                  <a:moveTo>
                    <a:pt x="0" y="0"/>
                  </a:moveTo>
                  <a:lnTo>
                    <a:pt x="508000" y="0"/>
                  </a:lnTo>
                  <a:lnTo>
                    <a:pt x="508000" y="508000"/>
                  </a:lnTo>
                  <a:lnTo>
                    <a:pt x="0" y="508000"/>
                  </a:lnTo>
                  <a:lnTo>
                    <a:pt x="0" y="0"/>
                  </a:lnTo>
                  <a:close/>
                </a:path>
              </a:pathLst>
            </a:custGeom>
            <a:blipFill>
              <a:blip r:embed="rId8"/>
              <a:stretch>
                <a:fillRect l="0" t="0" r="0" b="0"/>
              </a:stretch>
            </a:blipFill>
          </p:spPr>
        </p:sp>
      </p:grpSp>
      <p:sp>
        <p:nvSpPr>
          <p:cNvPr name="TextBox 36" id="36"/>
          <p:cNvSpPr txBox="true"/>
          <p:nvPr/>
        </p:nvSpPr>
        <p:spPr>
          <a:xfrm rot="0">
            <a:off x="10085070" y="4718685"/>
            <a:ext cx="2037683" cy="436245"/>
          </a:xfrm>
          <a:prstGeom prst="rect">
            <a:avLst/>
          </a:prstGeom>
        </p:spPr>
        <p:txBody>
          <a:bodyPr anchor="t" rtlCol="false" tIns="0" lIns="0" bIns="0" rIns="0">
            <a:spAutoFit/>
          </a:bodyPr>
          <a:lstStyle/>
          <a:p>
            <a:pPr algn="l">
              <a:lnSpc>
                <a:spcPts val="3060"/>
              </a:lnSpc>
            </a:pPr>
            <a:r>
              <a:rPr lang="en-US" sz="2550" b="true">
                <a:solidFill>
                  <a:srgbClr val="F2F0EA"/>
                </a:solidFill>
                <a:latin typeface="Arial Bold"/>
                <a:ea typeface="Arial Bold"/>
                <a:cs typeface="Arial Bold"/>
                <a:sym typeface="Arial Bold"/>
              </a:rPr>
              <a:t>Private API</a:t>
            </a:r>
          </a:p>
        </p:txBody>
      </p:sp>
      <p:sp>
        <p:nvSpPr>
          <p:cNvPr name="TextBox 37" id="37"/>
          <p:cNvSpPr txBox="true"/>
          <p:nvPr/>
        </p:nvSpPr>
        <p:spPr>
          <a:xfrm rot="0">
            <a:off x="9570720" y="5164455"/>
            <a:ext cx="7409078" cy="754380"/>
          </a:xfrm>
          <a:prstGeom prst="rect">
            <a:avLst/>
          </a:prstGeom>
        </p:spPr>
        <p:txBody>
          <a:bodyPr anchor="t" rtlCol="false" tIns="0" lIns="0" bIns="0" rIns="0">
            <a:spAutoFit/>
          </a:bodyPr>
          <a:lstStyle/>
          <a:p>
            <a:pPr algn="l">
              <a:lnSpc>
                <a:spcPts val="2632"/>
              </a:lnSpc>
            </a:pPr>
            <a:r>
              <a:rPr lang="en-US" sz="1950">
                <a:solidFill>
                  <a:srgbClr val="F2F0EA"/>
                </a:solidFill>
                <a:latin typeface="Arial"/>
                <a:ea typeface="Arial"/>
                <a:cs typeface="Arial"/>
                <a:sym typeface="Arial"/>
              </a:rPr>
              <a:t>Cần xác thực + kiểm tra quyền trước khi trả dữ liệu.</a:t>
            </a:r>
          </a:p>
        </p:txBody>
      </p:sp>
      <p:sp>
        <p:nvSpPr>
          <p:cNvPr name="TextBox 38" id="38"/>
          <p:cNvSpPr txBox="true"/>
          <p:nvPr/>
        </p:nvSpPr>
        <p:spPr>
          <a:xfrm rot="0">
            <a:off x="9570720" y="5918835"/>
            <a:ext cx="7409078" cy="388620"/>
          </a:xfrm>
          <a:prstGeom prst="rect">
            <a:avLst/>
          </a:prstGeom>
        </p:spPr>
        <p:txBody>
          <a:bodyPr anchor="t" rtlCol="false" tIns="0" lIns="0" bIns="0" rIns="0">
            <a:spAutoFit/>
          </a:bodyPr>
          <a:lstStyle/>
          <a:p>
            <a:pPr algn="l">
              <a:lnSpc>
                <a:spcPts val="2310"/>
              </a:lnSpc>
            </a:pPr>
            <a:r>
              <a:rPr lang="en-US" sz="1650" b="true">
                <a:solidFill>
                  <a:srgbClr val="F2F0EA"/>
                </a:solidFill>
                <a:latin typeface="Arial Bold"/>
                <a:ea typeface="Arial Bold"/>
                <a:cs typeface="Arial Bold"/>
                <a:sym typeface="Arial Bold"/>
              </a:rPr>
              <a:t>Ví dụ: điểm số, ghi chú riêng</a:t>
            </a:r>
          </a:p>
        </p:txBody>
      </p:sp>
      <p:grpSp>
        <p:nvGrpSpPr>
          <p:cNvPr name="Group 39" id="39"/>
          <p:cNvGrpSpPr/>
          <p:nvPr/>
        </p:nvGrpSpPr>
        <p:grpSpPr>
          <a:xfrm rot="0">
            <a:off x="1219200" y="6817995"/>
            <a:ext cx="7810500" cy="853440"/>
            <a:chOff x="0" y="0"/>
            <a:chExt cx="10414000" cy="1137920"/>
          </a:xfrm>
        </p:grpSpPr>
        <p:sp>
          <p:nvSpPr>
            <p:cNvPr name="Freeform 40" id="40"/>
            <p:cNvSpPr/>
            <p:nvPr/>
          </p:nvSpPr>
          <p:spPr>
            <a:xfrm flipH="false" flipV="false" rot="0">
              <a:off x="0" y="0"/>
              <a:ext cx="10414000" cy="1137920"/>
            </a:xfrm>
            <a:custGeom>
              <a:avLst/>
              <a:gdLst/>
              <a:ahLst/>
              <a:cxnLst/>
              <a:rect r="r" b="b" t="t" l="l"/>
              <a:pathLst>
                <a:path h="1137920" w="10414000">
                  <a:moveTo>
                    <a:pt x="0" y="194818"/>
                  </a:moveTo>
                  <a:cubicBezTo>
                    <a:pt x="0" y="87249"/>
                    <a:pt x="87249" y="0"/>
                    <a:pt x="194818" y="0"/>
                  </a:cubicBezTo>
                  <a:lnTo>
                    <a:pt x="10219182" y="0"/>
                  </a:lnTo>
                  <a:cubicBezTo>
                    <a:pt x="10326751" y="0"/>
                    <a:pt x="10414000" y="87249"/>
                    <a:pt x="10414000" y="194818"/>
                  </a:cubicBezTo>
                  <a:lnTo>
                    <a:pt x="10414000" y="943102"/>
                  </a:lnTo>
                  <a:cubicBezTo>
                    <a:pt x="10414000" y="1050671"/>
                    <a:pt x="10326751" y="1137920"/>
                    <a:pt x="10219182" y="1137920"/>
                  </a:cubicBezTo>
                  <a:lnTo>
                    <a:pt x="194818" y="1137920"/>
                  </a:lnTo>
                  <a:cubicBezTo>
                    <a:pt x="87249" y="1137920"/>
                    <a:pt x="0" y="1050671"/>
                    <a:pt x="0" y="943102"/>
                  </a:cubicBezTo>
                  <a:close/>
                </a:path>
              </a:pathLst>
            </a:custGeom>
            <a:solidFill>
              <a:srgbClr val="FBEAE7"/>
            </a:solidFill>
            <a:ln w="19050" cap="sq">
              <a:solidFill>
                <a:srgbClr val="B03A2E"/>
              </a:solidFill>
              <a:prstDash val="solid"/>
              <a:miter/>
            </a:ln>
          </p:spPr>
        </p:sp>
      </p:grpSp>
      <p:sp>
        <p:nvSpPr>
          <p:cNvPr name="TextBox 41" id="41"/>
          <p:cNvSpPr txBox="true"/>
          <p:nvPr/>
        </p:nvSpPr>
        <p:spPr>
          <a:xfrm rot="0">
            <a:off x="1501140" y="6938010"/>
            <a:ext cx="823389" cy="584835"/>
          </a:xfrm>
          <a:prstGeom prst="rect">
            <a:avLst/>
          </a:prstGeom>
        </p:spPr>
        <p:txBody>
          <a:bodyPr anchor="t" rtlCol="false" tIns="0" lIns="0" bIns="0" rIns="0">
            <a:spAutoFit/>
          </a:bodyPr>
          <a:lstStyle/>
          <a:p>
            <a:pPr algn="l">
              <a:lnSpc>
                <a:spcPts val="3779"/>
              </a:lnSpc>
            </a:pPr>
            <a:r>
              <a:rPr lang="en-US" sz="2700" b="true">
                <a:solidFill>
                  <a:srgbClr val="962F25"/>
                </a:solidFill>
                <a:latin typeface="Arial Bold"/>
                <a:ea typeface="Arial Bold"/>
                <a:cs typeface="Arial Bold"/>
                <a:sym typeface="Arial Bold"/>
              </a:rPr>
              <a:t>401</a:t>
            </a:r>
          </a:p>
        </p:txBody>
      </p:sp>
      <p:sp>
        <p:nvSpPr>
          <p:cNvPr name="TextBox 42" id="42"/>
          <p:cNvSpPr txBox="true"/>
          <p:nvPr/>
        </p:nvSpPr>
        <p:spPr>
          <a:xfrm rot="0">
            <a:off x="2339692" y="7070407"/>
            <a:ext cx="4725448" cy="348615"/>
          </a:xfrm>
          <a:prstGeom prst="rect">
            <a:avLst/>
          </a:prstGeom>
        </p:spPr>
        <p:txBody>
          <a:bodyPr anchor="t" rtlCol="false" tIns="0" lIns="0" bIns="0" rIns="0">
            <a:spAutoFit/>
          </a:bodyPr>
          <a:lstStyle/>
          <a:p>
            <a:pPr algn="l">
              <a:lnSpc>
                <a:spcPts val="2145"/>
              </a:lnSpc>
            </a:pPr>
            <a:r>
              <a:rPr lang="en-US" sz="1650">
                <a:solidFill>
                  <a:srgbClr val="1B1D24"/>
                </a:solidFill>
                <a:latin typeface="Arial"/>
                <a:ea typeface="Arial"/>
                <a:cs typeface="Arial"/>
                <a:sym typeface="Arial"/>
              </a:rPr>
              <a:t>Chưa xác thực</a:t>
            </a:r>
          </a:p>
        </p:txBody>
      </p:sp>
      <p:grpSp>
        <p:nvGrpSpPr>
          <p:cNvPr name="Group 43" id="43"/>
          <p:cNvGrpSpPr/>
          <p:nvPr/>
        </p:nvGrpSpPr>
        <p:grpSpPr>
          <a:xfrm rot="0">
            <a:off x="9258300" y="6817995"/>
            <a:ext cx="7810500" cy="853440"/>
            <a:chOff x="0" y="0"/>
            <a:chExt cx="10414000" cy="1137920"/>
          </a:xfrm>
        </p:grpSpPr>
        <p:sp>
          <p:nvSpPr>
            <p:cNvPr name="Freeform 44" id="44"/>
            <p:cNvSpPr/>
            <p:nvPr/>
          </p:nvSpPr>
          <p:spPr>
            <a:xfrm flipH="false" flipV="false" rot="0">
              <a:off x="0" y="0"/>
              <a:ext cx="10414000" cy="1137920"/>
            </a:xfrm>
            <a:custGeom>
              <a:avLst/>
              <a:gdLst/>
              <a:ahLst/>
              <a:cxnLst/>
              <a:rect r="r" b="b" t="t" l="l"/>
              <a:pathLst>
                <a:path h="1137920" w="10414000">
                  <a:moveTo>
                    <a:pt x="0" y="194818"/>
                  </a:moveTo>
                  <a:cubicBezTo>
                    <a:pt x="0" y="87249"/>
                    <a:pt x="87249" y="0"/>
                    <a:pt x="194818" y="0"/>
                  </a:cubicBezTo>
                  <a:lnTo>
                    <a:pt x="10219182" y="0"/>
                  </a:lnTo>
                  <a:cubicBezTo>
                    <a:pt x="10326751" y="0"/>
                    <a:pt x="10414000" y="87249"/>
                    <a:pt x="10414000" y="194818"/>
                  </a:cubicBezTo>
                  <a:lnTo>
                    <a:pt x="10414000" y="943102"/>
                  </a:lnTo>
                  <a:cubicBezTo>
                    <a:pt x="10414000" y="1050671"/>
                    <a:pt x="10326751" y="1137920"/>
                    <a:pt x="10219182" y="1137920"/>
                  </a:cubicBezTo>
                  <a:lnTo>
                    <a:pt x="194818" y="1137920"/>
                  </a:lnTo>
                  <a:cubicBezTo>
                    <a:pt x="87249" y="1137920"/>
                    <a:pt x="0" y="1050671"/>
                    <a:pt x="0" y="943102"/>
                  </a:cubicBezTo>
                  <a:close/>
                </a:path>
              </a:pathLst>
            </a:custGeom>
            <a:solidFill>
              <a:srgbClr val="FFF3DC"/>
            </a:solidFill>
            <a:ln w="19050" cap="sq">
              <a:solidFill>
                <a:srgbClr val="F2A72B"/>
              </a:solidFill>
              <a:prstDash val="solid"/>
              <a:miter/>
            </a:ln>
          </p:spPr>
        </p:sp>
      </p:grpSp>
      <p:sp>
        <p:nvSpPr>
          <p:cNvPr name="TextBox 45" id="45"/>
          <p:cNvSpPr txBox="true"/>
          <p:nvPr/>
        </p:nvSpPr>
        <p:spPr>
          <a:xfrm rot="0">
            <a:off x="9540240" y="6938010"/>
            <a:ext cx="823389" cy="584835"/>
          </a:xfrm>
          <a:prstGeom prst="rect">
            <a:avLst/>
          </a:prstGeom>
        </p:spPr>
        <p:txBody>
          <a:bodyPr anchor="t" rtlCol="false" tIns="0" lIns="0" bIns="0" rIns="0">
            <a:spAutoFit/>
          </a:bodyPr>
          <a:lstStyle/>
          <a:p>
            <a:pPr algn="l">
              <a:lnSpc>
                <a:spcPts val="3779"/>
              </a:lnSpc>
            </a:pPr>
            <a:r>
              <a:rPr lang="en-US" sz="2700" b="true">
                <a:solidFill>
                  <a:srgbClr val="8F5300"/>
                </a:solidFill>
                <a:latin typeface="Arial Bold"/>
                <a:ea typeface="Arial Bold"/>
                <a:cs typeface="Arial Bold"/>
                <a:sym typeface="Arial Bold"/>
              </a:rPr>
              <a:t>403</a:t>
            </a:r>
          </a:p>
        </p:txBody>
      </p:sp>
      <p:sp>
        <p:nvSpPr>
          <p:cNvPr name="TextBox 46" id="46"/>
          <p:cNvSpPr txBox="true"/>
          <p:nvPr/>
        </p:nvSpPr>
        <p:spPr>
          <a:xfrm rot="0">
            <a:off x="10378802" y="7070407"/>
            <a:ext cx="3663744" cy="348615"/>
          </a:xfrm>
          <a:prstGeom prst="rect">
            <a:avLst/>
          </a:prstGeom>
        </p:spPr>
        <p:txBody>
          <a:bodyPr anchor="t" rtlCol="false" tIns="0" lIns="0" bIns="0" rIns="0">
            <a:spAutoFit/>
          </a:bodyPr>
          <a:lstStyle/>
          <a:p>
            <a:pPr algn="l">
              <a:lnSpc>
                <a:spcPts val="2145"/>
              </a:lnSpc>
            </a:pPr>
            <a:r>
              <a:rPr lang="en-US" sz="1650">
                <a:solidFill>
                  <a:srgbClr val="1B1D24"/>
                </a:solidFill>
                <a:latin typeface="Arial"/>
                <a:ea typeface="Arial"/>
                <a:cs typeface="Arial"/>
                <a:sym typeface="Arial"/>
              </a:rPr>
              <a:t>Không đủ quyền</a:t>
            </a:r>
          </a:p>
        </p:txBody>
      </p:sp>
      <p:sp>
        <p:nvSpPr>
          <p:cNvPr name="TextBox 47" id="47"/>
          <p:cNvSpPr txBox="true"/>
          <p:nvPr/>
        </p:nvSpPr>
        <p:spPr>
          <a:xfrm rot="0">
            <a:off x="15849600" y="9300210"/>
            <a:ext cx="1219200" cy="415290"/>
          </a:xfrm>
          <a:prstGeom prst="rect">
            <a:avLst/>
          </a:prstGeom>
        </p:spPr>
        <p:txBody>
          <a:bodyPr anchor="t" rtlCol="false" tIns="0" lIns="0" bIns="0" rIns="0">
            <a:spAutoFit/>
          </a:bodyPr>
          <a:lstStyle/>
          <a:p>
            <a:pPr algn="r">
              <a:lnSpc>
                <a:spcPts val="2520"/>
              </a:lnSpc>
            </a:pPr>
            <a:r>
              <a:rPr lang="en-US" sz="1800">
                <a:solidFill>
                  <a:srgbClr val="6B7080"/>
                </a:solidFill>
                <a:latin typeface="Arial"/>
                <a:ea typeface="Arial"/>
                <a:cs typeface="Arial"/>
                <a:sym typeface="Arial"/>
              </a:rPr>
              <a:t>03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7F6F2"/>
        </a:solidFill>
      </p:bgPr>
    </p:bg>
    <p:spTree>
      <p:nvGrpSpPr>
        <p:cNvPr id="1" name=""/>
        <p:cNvGrpSpPr/>
        <p:nvPr/>
      </p:nvGrpSpPr>
      <p:grpSpPr>
        <a:xfrm>
          <a:off x="0" y="0"/>
          <a:ext cx="0" cy="0"/>
          <a:chOff x="0" y="0"/>
          <a:chExt cx="0" cy="0"/>
        </a:xfrm>
      </p:grpSpPr>
      <p:sp>
        <p:nvSpPr>
          <p:cNvPr name="TextBox 2" id="2"/>
          <p:cNvSpPr txBox="true"/>
          <p:nvPr/>
        </p:nvSpPr>
        <p:spPr>
          <a:xfrm rot="0">
            <a:off x="1219200" y="857250"/>
            <a:ext cx="16325088" cy="415290"/>
          </a:xfrm>
          <a:prstGeom prst="rect">
            <a:avLst/>
          </a:prstGeom>
        </p:spPr>
        <p:txBody>
          <a:bodyPr anchor="t" rtlCol="false" tIns="0" lIns="0" bIns="0" rIns="0">
            <a:spAutoFit/>
          </a:bodyPr>
          <a:lstStyle/>
          <a:p>
            <a:pPr algn="l">
              <a:lnSpc>
                <a:spcPts val="2520"/>
              </a:lnSpc>
            </a:pPr>
            <a:r>
              <a:rPr lang="en-US" b="true" sz="1800" spc="225">
                <a:solidFill>
                  <a:srgbClr val="8F5300"/>
                </a:solidFill>
                <a:latin typeface="Arial Bold"/>
                <a:ea typeface="Arial Bold"/>
                <a:cs typeface="Arial Bold"/>
                <a:sym typeface="Arial Bold"/>
              </a:rPr>
              <a:t>PHẦN 2 · FIREBASE AUTHENTICATION</a:t>
            </a:r>
          </a:p>
        </p:txBody>
      </p:sp>
      <p:sp>
        <p:nvSpPr>
          <p:cNvPr name="TextBox 3" id="3"/>
          <p:cNvSpPr txBox="true"/>
          <p:nvPr/>
        </p:nvSpPr>
        <p:spPr>
          <a:xfrm rot="0">
            <a:off x="1219200" y="1367790"/>
            <a:ext cx="16325088" cy="1192530"/>
          </a:xfrm>
          <a:prstGeom prst="rect">
            <a:avLst/>
          </a:prstGeom>
        </p:spPr>
        <p:txBody>
          <a:bodyPr anchor="t" rtlCol="false" tIns="0" lIns="0" bIns="0" rIns="0">
            <a:spAutoFit/>
          </a:bodyPr>
          <a:lstStyle/>
          <a:p>
            <a:pPr algn="l">
              <a:lnSpc>
                <a:spcPts val="4620"/>
              </a:lnSpc>
            </a:pPr>
            <a:r>
              <a:rPr lang="en-US" sz="4200" b="true">
                <a:solidFill>
                  <a:srgbClr val="1B1D24"/>
                </a:solidFill>
                <a:latin typeface="Arial Bold"/>
                <a:ea typeface="Arial Bold"/>
                <a:cs typeface="Arial Bold"/>
                <a:sym typeface="Arial Bold"/>
              </a:rPr>
              <a:t>Firebase Authentication làm gì?</a:t>
            </a:r>
          </a:p>
        </p:txBody>
      </p:sp>
      <p:grpSp>
        <p:nvGrpSpPr>
          <p:cNvPr name="Group 4" id="4"/>
          <p:cNvGrpSpPr/>
          <p:nvPr/>
        </p:nvGrpSpPr>
        <p:grpSpPr>
          <a:xfrm rot="0">
            <a:off x="1219200" y="2788920"/>
            <a:ext cx="5181600" cy="662940"/>
            <a:chOff x="0" y="0"/>
            <a:chExt cx="6908800" cy="883920"/>
          </a:xfrm>
        </p:grpSpPr>
        <p:sp>
          <p:nvSpPr>
            <p:cNvPr name="Freeform 5" id="5"/>
            <p:cNvSpPr/>
            <p:nvPr/>
          </p:nvSpPr>
          <p:spPr>
            <a:xfrm flipH="false" flipV="false" rot="0">
              <a:off x="0" y="0"/>
              <a:ext cx="6908800" cy="883920"/>
            </a:xfrm>
            <a:custGeom>
              <a:avLst/>
              <a:gdLst/>
              <a:ahLst/>
              <a:cxnLst/>
              <a:rect r="r" b="b" t="t" l="l"/>
              <a:pathLst>
                <a:path h="883920" w="6908800">
                  <a:moveTo>
                    <a:pt x="0" y="199771"/>
                  </a:moveTo>
                  <a:cubicBezTo>
                    <a:pt x="0" y="89408"/>
                    <a:pt x="89408" y="0"/>
                    <a:pt x="199771" y="0"/>
                  </a:cubicBezTo>
                  <a:lnTo>
                    <a:pt x="6709029" y="0"/>
                  </a:lnTo>
                  <a:cubicBezTo>
                    <a:pt x="6819392" y="0"/>
                    <a:pt x="6908800" y="89408"/>
                    <a:pt x="6908800" y="199771"/>
                  </a:cubicBezTo>
                  <a:lnTo>
                    <a:pt x="6908800" y="684149"/>
                  </a:lnTo>
                  <a:cubicBezTo>
                    <a:pt x="6908800" y="794512"/>
                    <a:pt x="6819392" y="883920"/>
                    <a:pt x="6709029" y="883920"/>
                  </a:cubicBezTo>
                  <a:lnTo>
                    <a:pt x="199771" y="883920"/>
                  </a:lnTo>
                  <a:cubicBezTo>
                    <a:pt x="89408" y="883920"/>
                    <a:pt x="0" y="794512"/>
                    <a:pt x="0" y="684149"/>
                  </a:cubicBezTo>
                  <a:close/>
                </a:path>
              </a:pathLst>
            </a:custGeom>
            <a:solidFill>
              <a:srgbClr val="FFFEFB"/>
            </a:solidFill>
            <a:ln w="9525" cap="sq">
              <a:solidFill>
                <a:srgbClr val="E2DED3"/>
              </a:solidFill>
              <a:prstDash val="solid"/>
              <a:miter/>
            </a:ln>
          </p:spPr>
        </p:sp>
      </p:grpSp>
      <p:grpSp>
        <p:nvGrpSpPr>
          <p:cNvPr name="Group 6" id="6"/>
          <p:cNvGrpSpPr/>
          <p:nvPr/>
        </p:nvGrpSpPr>
        <p:grpSpPr>
          <a:xfrm rot="0">
            <a:off x="1436370" y="2967990"/>
            <a:ext cx="304800" cy="304800"/>
            <a:chOff x="0" y="0"/>
            <a:chExt cx="406400" cy="406400"/>
          </a:xfrm>
        </p:grpSpPr>
        <p:sp>
          <p:nvSpPr>
            <p:cNvPr name="Freeform 7" id="7" descr="Lock"/>
            <p:cNvSpPr/>
            <p:nvPr/>
          </p:nvSpPr>
          <p:spPr>
            <a:xfrm flipH="false" flipV="false" rot="0">
              <a:off x="0" y="0"/>
              <a:ext cx="406400" cy="406400"/>
            </a:xfrm>
            <a:custGeom>
              <a:avLst/>
              <a:gdLst/>
              <a:ahLst/>
              <a:cxnLst/>
              <a:rect r="r" b="b" t="t" l="l"/>
              <a:pathLst>
                <a:path h="406400" w="406400">
                  <a:moveTo>
                    <a:pt x="0" y="0"/>
                  </a:moveTo>
                  <a:lnTo>
                    <a:pt x="406400" y="0"/>
                  </a:lnTo>
                  <a:lnTo>
                    <a:pt x="406400" y="406400"/>
                  </a:lnTo>
                  <a:lnTo>
                    <a:pt x="0" y="406400"/>
                  </a:lnTo>
                  <a:lnTo>
                    <a:pt x="0" y="0"/>
                  </a:lnTo>
                  <a:close/>
                </a:path>
              </a:pathLst>
            </a:custGeom>
            <a:blipFill>
              <a:blip r:embed="rId3"/>
              <a:stretch>
                <a:fillRect l="0" t="0" r="0" b="0"/>
              </a:stretch>
            </a:blipFill>
          </p:spPr>
        </p:sp>
      </p:grpSp>
      <p:sp>
        <p:nvSpPr>
          <p:cNvPr name="TextBox 8" id="8"/>
          <p:cNvSpPr txBox="true"/>
          <p:nvPr/>
        </p:nvSpPr>
        <p:spPr>
          <a:xfrm rot="0">
            <a:off x="1874520" y="2946083"/>
            <a:ext cx="3299555" cy="348615"/>
          </a:xfrm>
          <a:prstGeom prst="rect">
            <a:avLst/>
          </a:prstGeom>
        </p:spPr>
        <p:txBody>
          <a:bodyPr anchor="t" rtlCol="false" tIns="0" lIns="0" bIns="0" rIns="0">
            <a:spAutoFit/>
          </a:bodyPr>
          <a:lstStyle/>
          <a:p>
            <a:pPr algn="l">
              <a:lnSpc>
                <a:spcPts val="2145"/>
              </a:lnSpc>
            </a:pPr>
            <a:r>
              <a:rPr lang="en-US" sz="1650">
                <a:solidFill>
                  <a:srgbClr val="1B1D24"/>
                </a:solidFill>
                <a:latin typeface="Arial"/>
                <a:ea typeface="Arial"/>
                <a:cs typeface="Arial"/>
                <a:sym typeface="Arial"/>
              </a:rPr>
              <a:t>Quản lý mật khẩu</a:t>
            </a:r>
          </a:p>
        </p:txBody>
      </p:sp>
      <p:grpSp>
        <p:nvGrpSpPr>
          <p:cNvPr name="Group 9" id="9"/>
          <p:cNvGrpSpPr/>
          <p:nvPr/>
        </p:nvGrpSpPr>
        <p:grpSpPr>
          <a:xfrm rot="0">
            <a:off x="6553200" y="2788920"/>
            <a:ext cx="5181600" cy="662940"/>
            <a:chOff x="0" y="0"/>
            <a:chExt cx="6908800" cy="883920"/>
          </a:xfrm>
        </p:grpSpPr>
        <p:sp>
          <p:nvSpPr>
            <p:cNvPr name="Freeform 10" id="10"/>
            <p:cNvSpPr/>
            <p:nvPr/>
          </p:nvSpPr>
          <p:spPr>
            <a:xfrm flipH="false" flipV="false" rot="0">
              <a:off x="0" y="0"/>
              <a:ext cx="6908800" cy="883920"/>
            </a:xfrm>
            <a:custGeom>
              <a:avLst/>
              <a:gdLst/>
              <a:ahLst/>
              <a:cxnLst/>
              <a:rect r="r" b="b" t="t" l="l"/>
              <a:pathLst>
                <a:path h="883920" w="6908800">
                  <a:moveTo>
                    <a:pt x="0" y="199771"/>
                  </a:moveTo>
                  <a:cubicBezTo>
                    <a:pt x="0" y="89408"/>
                    <a:pt x="89408" y="0"/>
                    <a:pt x="199771" y="0"/>
                  </a:cubicBezTo>
                  <a:lnTo>
                    <a:pt x="6709029" y="0"/>
                  </a:lnTo>
                  <a:cubicBezTo>
                    <a:pt x="6819392" y="0"/>
                    <a:pt x="6908800" y="89408"/>
                    <a:pt x="6908800" y="199771"/>
                  </a:cubicBezTo>
                  <a:lnTo>
                    <a:pt x="6908800" y="684149"/>
                  </a:lnTo>
                  <a:cubicBezTo>
                    <a:pt x="6908800" y="794512"/>
                    <a:pt x="6819392" y="883920"/>
                    <a:pt x="6709029" y="883920"/>
                  </a:cubicBezTo>
                  <a:lnTo>
                    <a:pt x="199771" y="883920"/>
                  </a:lnTo>
                  <a:cubicBezTo>
                    <a:pt x="89408" y="883920"/>
                    <a:pt x="0" y="794512"/>
                    <a:pt x="0" y="684149"/>
                  </a:cubicBezTo>
                  <a:close/>
                </a:path>
              </a:pathLst>
            </a:custGeom>
            <a:solidFill>
              <a:srgbClr val="FFFEFB"/>
            </a:solidFill>
            <a:ln w="9525" cap="sq">
              <a:solidFill>
                <a:srgbClr val="E2DED3"/>
              </a:solidFill>
              <a:prstDash val="solid"/>
              <a:miter/>
            </a:ln>
          </p:spPr>
        </p:sp>
      </p:grpSp>
      <p:grpSp>
        <p:nvGrpSpPr>
          <p:cNvPr name="Group 11" id="11"/>
          <p:cNvGrpSpPr/>
          <p:nvPr/>
        </p:nvGrpSpPr>
        <p:grpSpPr>
          <a:xfrm rot="0">
            <a:off x="6770370" y="2967990"/>
            <a:ext cx="304800" cy="304800"/>
            <a:chOff x="0" y="0"/>
            <a:chExt cx="406400" cy="406400"/>
          </a:xfrm>
        </p:grpSpPr>
        <p:sp>
          <p:nvSpPr>
            <p:cNvPr name="Freeform 12" id="12" descr="PaperPlane"/>
            <p:cNvSpPr/>
            <p:nvPr/>
          </p:nvSpPr>
          <p:spPr>
            <a:xfrm flipH="false" flipV="false" rot="0">
              <a:off x="0" y="0"/>
              <a:ext cx="406400" cy="406400"/>
            </a:xfrm>
            <a:custGeom>
              <a:avLst/>
              <a:gdLst/>
              <a:ahLst/>
              <a:cxnLst/>
              <a:rect r="r" b="b" t="t" l="l"/>
              <a:pathLst>
                <a:path h="406400" w="406400">
                  <a:moveTo>
                    <a:pt x="0" y="0"/>
                  </a:moveTo>
                  <a:lnTo>
                    <a:pt x="406400" y="0"/>
                  </a:lnTo>
                  <a:lnTo>
                    <a:pt x="406400" y="406400"/>
                  </a:lnTo>
                  <a:lnTo>
                    <a:pt x="0" y="406400"/>
                  </a:lnTo>
                  <a:lnTo>
                    <a:pt x="0" y="0"/>
                  </a:lnTo>
                  <a:close/>
                </a:path>
              </a:pathLst>
            </a:custGeom>
            <a:blipFill>
              <a:blip r:embed="rId4"/>
              <a:stretch>
                <a:fillRect l="0" t="0" r="0" b="0"/>
              </a:stretch>
            </a:blipFill>
          </p:spPr>
        </p:sp>
      </p:grpSp>
      <p:sp>
        <p:nvSpPr>
          <p:cNvPr name="TextBox 13" id="13"/>
          <p:cNvSpPr txBox="true"/>
          <p:nvPr/>
        </p:nvSpPr>
        <p:spPr>
          <a:xfrm rot="0">
            <a:off x="7208520" y="2946083"/>
            <a:ext cx="2166699" cy="348615"/>
          </a:xfrm>
          <a:prstGeom prst="rect">
            <a:avLst/>
          </a:prstGeom>
        </p:spPr>
        <p:txBody>
          <a:bodyPr anchor="t" rtlCol="false" tIns="0" lIns="0" bIns="0" rIns="0">
            <a:spAutoFit/>
          </a:bodyPr>
          <a:lstStyle/>
          <a:p>
            <a:pPr algn="l">
              <a:lnSpc>
                <a:spcPts val="2145"/>
              </a:lnSpc>
            </a:pPr>
            <a:r>
              <a:rPr lang="en-US" sz="1650">
                <a:solidFill>
                  <a:srgbClr val="1B1D24"/>
                </a:solidFill>
                <a:latin typeface="Arial"/>
                <a:ea typeface="Arial"/>
                <a:cs typeface="Arial"/>
                <a:sym typeface="Arial"/>
              </a:rPr>
              <a:t>Xác minh email</a:t>
            </a:r>
          </a:p>
        </p:txBody>
      </p:sp>
      <p:grpSp>
        <p:nvGrpSpPr>
          <p:cNvPr name="Group 14" id="14"/>
          <p:cNvGrpSpPr/>
          <p:nvPr/>
        </p:nvGrpSpPr>
        <p:grpSpPr>
          <a:xfrm rot="0">
            <a:off x="11887200" y="2788920"/>
            <a:ext cx="5181600" cy="662940"/>
            <a:chOff x="0" y="0"/>
            <a:chExt cx="6908800" cy="883920"/>
          </a:xfrm>
        </p:grpSpPr>
        <p:sp>
          <p:nvSpPr>
            <p:cNvPr name="Freeform 15" id="15"/>
            <p:cNvSpPr/>
            <p:nvPr/>
          </p:nvSpPr>
          <p:spPr>
            <a:xfrm flipH="false" flipV="false" rot="0">
              <a:off x="0" y="0"/>
              <a:ext cx="6908800" cy="883920"/>
            </a:xfrm>
            <a:custGeom>
              <a:avLst/>
              <a:gdLst/>
              <a:ahLst/>
              <a:cxnLst/>
              <a:rect r="r" b="b" t="t" l="l"/>
              <a:pathLst>
                <a:path h="883920" w="6908800">
                  <a:moveTo>
                    <a:pt x="0" y="199771"/>
                  </a:moveTo>
                  <a:cubicBezTo>
                    <a:pt x="0" y="89408"/>
                    <a:pt x="89408" y="0"/>
                    <a:pt x="199771" y="0"/>
                  </a:cubicBezTo>
                  <a:lnTo>
                    <a:pt x="6709029" y="0"/>
                  </a:lnTo>
                  <a:cubicBezTo>
                    <a:pt x="6819392" y="0"/>
                    <a:pt x="6908800" y="89408"/>
                    <a:pt x="6908800" y="199771"/>
                  </a:cubicBezTo>
                  <a:lnTo>
                    <a:pt x="6908800" y="684149"/>
                  </a:lnTo>
                  <a:cubicBezTo>
                    <a:pt x="6908800" y="794512"/>
                    <a:pt x="6819392" y="883920"/>
                    <a:pt x="6709029" y="883920"/>
                  </a:cubicBezTo>
                  <a:lnTo>
                    <a:pt x="199771" y="883920"/>
                  </a:lnTo>
                  <a:cubicBezTo>
                    <a:pt x="89408" y="883920"/>
                    <a:pt x="0" y="794512"/>
                    <a:pt x="0" y="684149"/>
                  </a:cubicBezTo>
                  <a:close/>
                </a:path>
              </a:pathLst>
            </a:custGeom>
            <a:solidFill>
              <a:srgbClr val="FFFEFB"/>
            </a:solidFill>
            <a:ln w="9525" cap="sq">
              <a:solidFill>
                <a:srgbClr val="E2DED3"/>
              </a:solidFill>
              <a:prstDash val="solid"/>
              <a:miter/>
            </a:ln>
          </p:spPr>
        </p:sp>
      </p:grpSp>
      <p:grpSp>
        <p:nvGrpSpPr>
          <p:cNvPr name="Group 16" id="16"/>
          <p:cNvGrpSpPr/>
          <p:nvPr/>
        </p:nvGrpSpPr>
        <p:grpSpPr>
          <a:xfrm rot="0">
            <a:off x="12104370" y="2967990"/>
            <a:ext cx="304800" cy="304800"/>
            <a:chOff x="0" y="0"/>
            <a:chExt cx="406400" cy="406400"/>
          </a:xfrm>
        </p:grpSpPr>
        <p:sp>
          <p:nvSpPr>
            <p:cNvPr name="Freeform 17" id="17" descr="Key"/>
            <p:cNvSpPr/>
            <p:nvPr/>
          </p:nvSpPr>
          <p:spPr>
            <a:xfrm flipH="false" flipV="false" rot="0">
              <a:off x="0" y="0"/>
              <a:ext cx="406400" cy="406400"/>
            </a:xfrm>
            <a:custGeom>
              <a:avLst/>
              <a:gdLst/>
              <a:ahLst/>
              <a:cxnLst/>
              <a:rect r="r" b="b" t="t" l="l"/>
              <a:pathLst>
                <a:path h="406400" w="406400">
                  <a:moveTo>
                    <a:pt x="0" y="0"/>
                  </a:moveTo>
                  <a:lnTo>
                    <a:pt x="406400" y="0"/>
                  </a:lnTo>
                  <a:lnTo>
                    <a:pt x="406400" y="406400"/>
                  </a:lnTo>
                  <a:lnTo>
                    <a:pt x="0" y="406400"/>
                  </a:lnTo>
                  <a:lnTo>
                    <a:pt x="0" y="0"/>
                  </a:lnTo>
                  <a:close/>
                </a:path>
              </a:pathLst>
            </a:custGeom>
            <a:blipFill>
              <a:blip r:embed="rId5"/>
              <a:stretch>
                <a:fillRect l="0" t="0" r="0" b="0"/>
              </a:stretch>
            </a:blipFill>
          </p:spPr>
        </p:sp>
      </p:grpSp>
      <p:sp>
        <p:nvSpPr>
          <p:cNvPr name="TextBox 18" id="18"/>
          <p:cNvSpPr txBox="true"/>
          <p:nvPr/>
        </p:nvSpPr>
        <p:spPr>
          <a:xfrm rot="0">
            <a:off x="12542520" y="2946083"/>
            <a:ext cx="2795778" cy="348615"/>
          </a:xfrm>
          <a:prstGeom prst="rect">
            <a:avLst/>
          </a:prstGeom>
        </p:spPr>
        <p:txBody>
          <a:bodyPr anchor="t" rtlCol="false" tIns="0" lIns="0" bIns="0" rIns="0">
            <a:spAutoFit/>
          </a:bodyPr>
          <a:lstStyle/>
          <a:p>
            <a:pPr algn="l">
              <a:lnSpc>
                <a:spcPts val="2145"/>
              </a:lnSpc>
            </a:pPr>
            <a:r>
              <a:rPr lang="en-US" sz="1650">
                <a:solidFill>
                  <a:srgbClr val="1B1D24"/>
                </a:solidFill>
                <a:latin typeface="Arial"/>
                <a:ea typeface="Arial"/>
                <a:cs typeface="Arial"/>
                <a:sym typeface="Arial"/>
              </a:rPr>
              <a:t>Đặt lại mật khẩu</a:t>
            </a:r>
          </a:p>
        </p:txBody>
      </p:sp>
      <p:grpSp>
        <p:nvGrpSpPr>
          <p:cNvPr name="Group 19" id="19"/>
          <p:cNvGrpSpPr/>
          <p:nvPr/>
        </p:nvGrpSpPr>
        <p:grpSpPr>
          <a:xfrm rot="0">
            <a:off x="1219200" y="3604260"/>
            <a:ext cx="5181600" cy="662940"/>
            <a:chOff x="0" y="0"/>
            <a:chExt cx="6908800" cy="883920"/>
          </a:xfrm>
        </p:grpSpPr>
        <p:sp>
          <p:nvSpPr>
            <p:cNvPr name="Freeform 20" id="20"/>
            <p:cNvSpPr/>
            <p:nvPr/>
          </p:nvSpPr>
          <p:spPr>
            <a:xfrm flipH="false" flipV="false" rot="0">
              <a:off x="0" y="0"/>
              <a:ext cx="6908800" cy="883920"/>
            </a:xfrm>
            <a:custGeom>
              <a:avLst/>
              <a:gdLst/>
              <a:ahLst/>
              <a:cxnLst/>
              <a:rect r="r" b="b" t="t" l="l"/>
              <a:pathLst>
                <a:path h="883920" w="6908800">
                  <a:moveTo>
                    <a:pt x="0" y="199771"/>
                  </a:moveTo>
                  <a:cubicBezTo>
                    <a:pt x="0" y="89408"/>
                    <a:pt x="89408" y="0"/>
                    <a:pt x="199771" y="0"/>
                  </a:cubicBezTo>
                  <a:lnTo>
                    <a:pt x="6709029" y="0"/>
                  </a:lnTo>
                  <a:cubicBezTo>
                    <a:pt x="6819392" y="0"/>
                    <a:pt x="6908800" y="89408"/>
                    <a:pt x="6908800" y="199771"/>
                  </a:cubicBezTo>
                  <a:lnTo>
                    <a:pt x="6908800" y="684149"/>
                  </a:lnTo>
                  <a:cubicBezTo>
                    <a:pt x="6908800" y="794512"/>
                    <a:pt x="6819392" y="883920"/>
                    <a:pt x="6709029" y="883920"/>
                  </a:cubicBezTo>
                  <a:lnTo>
                    <a:pt x="199771" y="883920"/>
                  </a:lnTo>
                  <a:cubicBezTo>
                    <a:pt x="89408" y="883920"/>
                    <a:pt x="0" y="794512"/>
                    <a:pt x="0" y="684149"/>
                  </a:cubicBezTo>
                  <a:close/>
                </a:path>
              </a:pathLst>
            </a:custGeom>
            <a:solidFill>
              <a:srgbClr val="FFFEFB"/>
            </a:solidFill>
            <a:ln w="9525" cap="sq">
              <a:solidFill>
                <a:srgbClr val="E2DED3"/>
              </a:solidFill>
              <a:prstDash val="solid"/>
              <a:miter/>
            </a:ln>
          </p:spPr>
        </p:sp>
      </p:grpSp>
      <p:grpSp>
        <p:nvGrpSpPr>
          <p:cNvPr name="Group 21" id="21"/>
          <p:cNvGrpSpPr/>
          <p:nvPr/>
        </p:nvGrpSpPr>
        <p:grpSpPr>
          <a:xfrm rot="0">
            <a:off x="1436370" y="3783330"/>
            <a:ext cx="304800" cy="304800"/>
            <a:chOff x="0" y="0"/>
            <a:chExt cx="406400" cy="406400"/>
          </a:xfrm>
        </p:grpSpPr>
        <p:sp>
          <p:nvSpPr>
            <p:cNvPr name="Freeform 22" id="22" descr="Globe"/>
            <p:cNvSpPr/>
            <p:nvPr/>
          </p:nvSpPr>
          <p:spPr>
            <a:xfrm flipH="false" flipV="false" rot="0">
              <a:off x="0" y="0"/>
              <a:ext cx="406400" cy="406400"/>
            </a:xfrm>
            <a:custGeom>
              <a:avLst/>
              <a:gdLst/>
              <a:ahLst/>
              <a:cxnLst/>
              <a:rect r="r" b="b" t="t" l="l"/>
              <a:pathLst>
                <a:path h="406400" w="406400">
                  <a:moveTo>
                    <a:pt x="0" y="0"/>
                  </a:moveTo>
                  <a:lnTo>
                    <a:pt x="406400" y="0"/>
                  </a:lnTo>
                  <a:lnTo>
                    <a:pt x="406400" y="406400"/>
                  </a:lnTo>
                  <a:lnTo>
                    <a:pt x="0" y="406400"/>
                  </a:lnTo>
                  <a:lnTo>
                    <a:pt x="0" y="0"/>
                  </a:lnTo>
                  <a:close/>
                </a:path>
              </a:pathLst>
            </a:custGeom>
            <a:blipFill>
              <a:blip r:embed="rId6"/>
              <a:stretch>
                <a:fillRect l="0" t="0" r="0" b="0"/>
              </a:stretch>
            </a:blipFill>
          </p:spPr>
        </p:sp>
      </p:grpSp>
      <p:sp>
        <p:nvSpPr>
          <p:cNvPr name="TextBox 23" id="23"/>
          <p:cNvSpPr txBox="true"/>
          <p:nvPr/>
        </p:nvSpPr>
        <p:spPr>
          <a:xfrm rot="0">
            <a:off x="1874520" y="3761422"/>
            <a:ext cx="2740485" cy="348615"/>
          </a:xfrm>
          <a:prstGeom prst="rect">
            <a:avLst/>
          </a:prstGeom>
        </p:spPr>
        <p:txBody>
          <a:bodyPr anchor="t" rtlCol="false" tIns="0" lIns="0" bIns="0" rIns="0">
            <a:spAutoFit/>
          </a:bodyPr>
          <a:lstStyle/>
          <a:p>
            <a:pPr algn="l">
              <a:lnSpc>
                <a:spcPts val="2145"/>
              </a:lnSpc>
            </a:pPr>
            <a:r>
              <a:rPr lang="en-US" sz="1650">
                <a:solidFill>
                  <a:srgbClr val="1B1D24"/>
                </a:solidFill>
                <a:latin typeface="Arial"/>
                <a:ea typeface="Arial"/>
                <a:cs typeface="Arial"/>
                <a:sym typeface="Arial"/>
              </a:rPr>
              <a:t>Google Sign-In</a:t>
            </a:r>
          </a:p>
        </p:txBody>
      </p:sp>
      <p:grpSp>
        <p:nvGrpSpPr>
          <p:cNvPr name="Group 24" id="24"/>
          <p:cNvGrpSpPr/>
          <p:nvPr/>
        </p:nvGrpSpPr>
        <p:grpSpPr>
          <a:xfrm rot="0">
            <a:off x="6553200" y="3604260"/>
            <a:ext cx="5181600" cy="662940"/>
            <a:chOff x="0" y="0"/>
            <a:chExt cx="6908800" cy="883920"/>
          </a:xfrm>
        </p:grpSpPr>
        <p:sp>
          <p:nvSpPr>
            <p:cNvPr name="Freeform 25" id="25"/>
            <p:cNvSpPr/>
            <p:nvPr/>
          </p:nvSpPr>
          <p:spPr>
            <a:xfrm flipH="false" flipV="false" rot="0">
              <a:off x="0" y="0"/>
              <a:ext cx="6908800" cy="883920"/>
            </a:xfrm>
            <a:custGeom>
              <a:avLst/>
              <a:gdLst/>
              <a:ahLst/>
              <a:cxnLst/>
              <a:rect r="r" b="b" t="t" l="l"/>
              <a:pathLst>
                <a:path h="883920" w="6908800">
                  <a:moveTo>
                    <a:pt x="0" y="199771"/>
                  </a:moveTo>
                  <a:cubicBezTo>
                    <a:pt x="0" y="89408"/>
                    <a:pt x="89408" y="0"/>
                    <a:pt x="199771" y="0"/>
                  </a:cubicBezTo>
                  <a:lnTo>
                    <a:pt x="6709029" y="0"/>
                  </a:lnTo>
                  <a:cubicBezTo>
                    <a:pt x="6819392" y="0"/>
                    <a:pt x="6908800" y="89408"/>
                    <a:pt x="6908800" y="199771"/>
                  </a:cubicBezTo>
                  <a:lnTo>
                    <a:pt x="6908800" y="684149"/>
                  </a:lnTo>
                  <a:cubicBezTo>
                    <a:pt x="6908800" y="794512"/>
                    <a:pt x="6819392" y="883920"/>
                    <a:pt x="6709029" y="883920"/>
                  </a:cubicBezTo>
                  <a:lnTo>
                    <a:pt x="199771" y="883920"/>
                  </a:lnTo>
                  <a:cubicBezTo>
                    <a:pt x="89408" y="883920"/>
                    <a:pt x="0" y="794512"/>
                    <a:pt x="0" y="684149"/>
                  </a:cubicBezTo>
                  <a:close/>
                </a:path>
              </a:pathLst>
            </a:custGeom>
            <a:solidFill>
              <a:srgbClr val="FFFEFB"/>
            </a:solidFill>
            <a:ln w="9525" cap="sq">
              <a:solidFill>
                <a:srgbClr val="E2DED3"/>
              </a:solidFill>
              <a:prstDash val="solid"/>
              <a:miter/>
            </a:ln>
          </p:spPr>
        </p:sp>
      </p:grpSp>
      <p:grpSp>
        <p:nvGrpSpPr>
          <p:cNvPr name="Group 26" id="26"/>
          <p:cNvGrpSpPr/>
          <p:nvPr/>
        </p:nvGrpSpPr>
        <p:grpSpPr>
          <a:xfrm rot="0">
            <a:off x="6770370" y="3783330"/>
            <a:ext cx="304800" cy="304800"/>
            <a:chOff x="0" y="0"/>
            <a:chExt cx="406400" cy="406400"/>
          </a:xfrm>
        </p:grpSpPr>
        <p:sp>
          <p:nvSpPr>
            <p:cNvPr name="Freeform 27" id="27" descr="Verified"/>
            <p:cNvSpPr/>
            <p:nvPr/>
          </p:nvSpPr>
          <p:spPr>
            <a:xfrm flipH="false" flipV="false" rot="0">
              <a:off x="0" y="0"/>
              <a:ext cx="406400" cy="406400"/>
            </a:xfrm>
            <a:custGeom>
              <a:avLst/>
              <a:gdLst/>
              <a:ahLst/>
              <a:cxnLst/>
              <a:rect r="r" b="b" t="t" l="l"/>
              <a:pathLst>
                <a:path h="406400" w="406400">
                  <a:moveTo>
                    <a:pt x="0" y="0"/>
                  </a:moveTo>
                  <a:lnTo>
                    <a:pt x="406400" y="0"/>
                  </a:lnTo>
                  <a:lnTo>
                    <a:pt x="406400" y="406400"/>
                  </a:lnTo>
                  <a:lnTo>
                    <a:pt x="0" y="406400"/>
                  </a:lnTo>
                  <a:lnTo>
                    <a:pt x="0" y="0"/>
                  </a:lnTo>
                  <a:close/>
                </a:path>
              </a:pathLst>
            </a:custGeom>
            <a:blipFill>
              <a:blip r:embed="rId7"/>
              <a:stretch>
                <a:fillRect l="0" t="0" r="0" b="0"/>
              </a:stretch>
            </a:blipFill>
          </p:spPr>
        </p:sp>
      </p:grpSp>
      <p:sp>
        <p:nvSpPr>
          <p:cNvPr name="TextBox 28" id="28"/>
          <p:cNvSpPr txBox="true"/>
          <p:nvPr/>
        </p:nvSpPr>
        <p:spPr>
          <a:xfrm rot="0">
            <a:off x="7208520" y="3761422"/>
            <a:ext cx="3131106" cy="348615"/>
          </a:xfrm>
          <a:prstGeom prst="rect">
            <a:avLst/>
          </a:prstGeom>
        </p:spPr>
        <p:txBody>
          <a:bodyPr anchor="t" rtlCol="false" tIns="0" lIns="0" bIns="0" rIns="0">
            <a:spAutoFit/>
          </a:bodyPr>
          <a:lstStyle/>
          <a:p>
            <a:pPr algn="l">
              <a:lnSpc>
                <a:spcPts val="2145"/>
              </a:lnSpc>
            </a:pPr>
            <a:r>
              <a:rPr lang="en-US" sz="1650">
                <a:solidFill>
                  <a:srgbClr val="1B1D24"/>
                </a:solidFill>
                <a:latin typeface="Arial"/>
                <a:ea typeface="Arial"/>
                <a:cs typeface="Arial"/>
                <a:sym typeface="Arial"/>
              </a:rPr>
              <a:t>Cấp ID Token</a:t>
            </a:r>
          </a:p>
        </p:txBody>
      </p:sp>
      <p:grpSp>
        <p:nvGrpSpPr>
          <p:cNvPr name="Group 29" id="29"/>
          <p:cNvGrpSpPr/>
          <p:nvPr/>
        </p:nvGrpSpPr>
        <p:grpSpPr>
          <a:xfrm rot="0">
            <a:off x="11887200" y="3604260"/>
            <a:ext cx="5181600" cy="662940"/>
            <a:chOff x="0" y="0"/>
            <a:chExt cx="6908800" cy="883920"/>
          </a:xfrm>
        </p:grpSpPr>
        <p:sp>
          <p:nvSpPr>
            <p:cNvPr name="Freeform 30" id="30"/>
            <p:cNvSpPr/>
            <p:nvPr/>
          </p:nvSpPr>
          <p:spPr>
            <a:xfrm flipH="false" flipV="false" rot="0">
              <a:off x="0" y="0"/>
              <a:ext cx="6908800" cy="883920"/>
            </a:xfrm>
            <a:custGeom>
              <a:avLst/>
              <a:gdLst/>
              <a:ahLst/>
              <a:cxnLst/>
              <a:rect r="r" b="b" t="t" l="l"/>
              <a:pathLst>
                <a:path h="883920" w="6908800">
                  <a:moveTo>
                    <a:pt x="0" y="199771"/>
                  </a:moveTo>
                  <a:cubicBezTo>
                    <a:pt x="0" y="89408"/>
                    <a:pt x="89408" y="0"/>
                    <a:pt x="199771" y="0"/>
                  </a:cubicBezTo>
                  <a:lnTo>
                    <a:pt x="6709029" y="0"/>
                  </a:lnTo>
                  <a:cubicBezTo>
                    <a:pt x="6819392" y="0"/>
                    <a:pt x="6908800" y="89408"/>
                    <a:pt x="6908800" y="199771"/>
                  </a:cubicBezTo>
                  <a:lnTo>
                    <a:pt x="6908800" y="684149"/>
                  </a:lnTo>
                  <a:cubicBezTo>
                    <a:pt x="6908800" y="794512"/>
                    <a:pt x="6819392" y="883920"/>
                    <a:pt x="6709029" y="883920"/>
                  </a:cubicBezTo>
                  <a:lnTo>
                    <a:pt x="199771" y="883920"/>
                  </a:lnTo>
                  <a:cubicBezTo>
                    <a:pt x="89408" y="883920"/>
                    <a:pt x="0" y="794512"/>
                    <a:pt x="0" y="684149"/>
                  </a:cubicBezTo>
                  <a:close/>
                </a:path>
              </a:pathLst>
            </a:custGeom>
            <a:solidFill>
              <a:srgbClr val="FFFEFB"/>
            </a:solidFill>
            <a:ln w="9525" cap="sq">
              <a:solidFill>
                <a:srgbClr val="E2DED3"/>
              </a:solidFill>
              <a:prstDash val="solid"/>
              <a:miter/>
            </a:ln>
          </p:spPr>
        </p:sp>
      </p:grpSp>
      <p:grpSp>
        <p:nvGrpSpPr>
          <p:cNvPr name="Group 31" id="31"/>
          <p:cNvGrpSpPr/>
          <p:nvPr/>
        </p:nvGrpSpPr>
        <p:grpSpPr>
          <a:xfrm rot="0">
            <a:off x="12104370" y="3783330"/>
            <a:ext cx="304800" cy="304800"/>
            <a:chOff x="0" y="0"/>
            <a:chExt cx="406400" cy="406400"/>
          </a:xfrm>
        </p:grpSpPr>
        <p:sp>
          <p:nvSpPr>
            <p:cNvPr name="Freeform 32" id="32" descr="Warning"/>
            <p:cNvSpPr/>
            <p:nvPr/>
          </p:nvSpPr>
          <p:spPr>
            <a:xfrm flipH="false" flipV="false" rot="0">
              <a:off x="0" y="0"/>
              <a:ext cx="406400" cy="406400"/>
            </a:xfrm>
            <a:custGeom>
              <a:avLst/>
              <a:gdLst/>
              <a:ahLst/>
              <a:cxnLst/>
              <a:rect r="r" b="b" t="t" l="l"/>
              <a:pathLst>
                <a:path h="406400" w="406400">
                  <a:moveTo>
                    <a:pt x="0" y="0"/>
                  </a:moveTo>
                  <a:lnTo>
                    <a:pt x="406400" y="0"/>
                  </a:lnTo>
                  <a:lnTo>
                    <a:pt x="406400" y="406400"/>
                  </a:lnTo>
                  <a:lnTo>
                    <a:pt x="0" y="406400"/>
                  </a:lnTo>
                  <a:lnTo>
                    <a:pt x="0" y="0"/>
                  </a:lnTo>
                  <a:close/>
                </a:path>
              </a:pathLst>
            </a:custGeom>
            <a:blipFill>
              <a:blip r:embed="rId8"/>
              <a:stretch>
                <a:fillRect l="0" t="0" r="0" b="0"/>
              </a:stretch>
            </a:blipFill>
          </p:spPr>
        </p:sp>
      </p:grpSp>
      <p:sp>
        <p:nvSpPr>
          <p:cNvPr name="TextBox 33" id="33"/>
          <p:cNvSpPr txBox="true"/>
          <p:nvPr/>
        </p:nvSpPr>
        <p:spPr>
          <a:xfrm rot="0">
            <a:off x="12542520" y="3761422"/>
            <a:ext cx="2921508" cy="348615"/>
          </a:xfrm>
          <a:prstGeom prst="rect">
            <a:avLst/>
          </a:prstGeom>
        </p:spPr>
        <p:txBody>
          <a:bodyPr anchor="t" rtlCol="false" tIns="0" lIns="0" bIns="0" rIns="0">
            <a:spAutoFit/>
          </a:bodyPr>
          <a:lstStyle/>
          <a:p>
            <a:pPr algn="l">
              <a:lnSpc>
                <a:spcPts val="2145"/>
              </a:lnSpc>
            </a:pPr>
            <a:r>
              <a:rPr lang="en-US" sz="1650">
                <a:solidFill>
                  <a:srgbClr val="1B1D24"/>
                </a:solidFill>
                <a:latin typeface="Arial"/>
                <a:ea typeface="Arial"/>
                <a:cs typeface="Arial"/>
                <a:sym typeface="Arial"/>
              </a:rPr>
              <a:t>Chống lạm dụng</a:t>
            </a:r>
          </a:p>
        </p:txBody>
      </p:sp>
      <p:grpSp>
        <p:nvGrpSpPr>
          <p:cNvPr name="Group 34" id="34"/>
          <p:cNvGrpSpPr/>
          <p:nvPr/>
        </p:nvGrpSpPr>
        <p:grpSpPr>
          <a:xfrm rot="0">
            <a:off x="1219200" y="4533900"/>
            <a:ext cx="15849600" cy="914400"/>
            <a:chOff x="0" y="0"/>
            <a:chExt cx="21132800" cy="1219200"/>
          </a:xfrm>
        </p:grpSpPr>
        <p:sp>
          <p:nvSpPr>
            <p:cNvPr name="Freeform 35" id="35"/>
            <p:cNvSpPr/>
            <p:nvPr/>
          </p:nvSpPr>
          <p:spPr>
            <a:xfrm flipH="false" flipV="false" rot="0">
              <a:off x="0" y="0"/>
              <a:ext cx="21132800" cy="1219200"/>
            </a:xfrm>
            <a:custGeom>
              <a:avLst/>
              <a:gdLst/>
              <a:ahLst/>
              <a:cxnLst/>
              <a:rect r="r" b="b" t="t" l="l"/>
              <a:pathLst>
                <a:path h="1219200" w="21132800">
                  <a:moveTo>
                    <a:pt x="0" y="254000"/>
                  </a:moveTo>
                  <a:cubicBezTo>
                    <a:pt x="0" y="113665"/>
                    <a:pt x="113665" y="0"/>
                    <a:pt x="254000" y="0"/>
                  </a:cubicBezTo>
                  <a:lnTo>
                    <a:pt x="20878800" y="0"/>
                  </a:lnTo>
                  <a:cubicBezTo>
                    <a:pt x="21019136" y="0"/>
                    <a:pt x="21132800" y="113665"/>
                    <a:pt x="21132800" y="254000"/>
                  </a:cubicBezTo>
                  <a:lnTo>
                    <a:pt x="21132800" y="965200"/>
                  </a:lnTo>
                  <a:cubicBezTo>
                    <a:pt x="21132800" y="1105535"/>
                    <a:pt x="21019136" y="1219200"/>
                    <a:pt x="20878800" y="1219200"/>
                  </a:cubicBezTo>
                  <a:lnTo>
                    <a:pt x="254000" y="1219200"/>
                  </a:lnTo>
                  <a:cubicBezTo>
                    <a:pt x="113665" y="1219200"/>
                    <a:pt x="0" y="1105535"/>
                    <a:pt x="0" y="965200"/>
                  </a:cubicBezTo>
                  <a:close/>
                </a:path>
              </a:pathLst>
            </a:custGeom>
            <a:solidFill>
              <a:srgbClr val="15171E"/>
            </a:solidFill>
          </p:spPr>
        </p:sp>
      </p:grpSp>
      <p:grpSp>
        <p:nvGrpSpPr>
          <p:cNvPr name="Group 36" id="36"/>
          <p:cNvGrpSpPr/>
          <p:nvPr/>
        </p:nvGrpSpPr>
        <p:grpSpPr>
          <a:xfrm rot="0">
            <a:off x="1524000" y="4762500"/>
            <a:ext cx="457200" cy="457200"/>
            <a:chOff x="0" y="0"/>
            <a:chExt cx="609600" cy="609600"/>
          </a:xfrm>
        </p:grpSpPr>
        <p:sp>
          <p:nvSpPr>
            <p:cNvPr name="Freeform 37" id="37" descr="Key"/>
            <p:cNvSpPr/>
            <p:nvPr/>
          </p:nvSpPr>
          <p:spPr>
            <a:xfrm flipH="false" flipV="false" rot="0">
              <a:off x="0" y="0"/>
              <a:ext cx="609600" cy="609600"/>
            </a:xfrm>
            <a:custGeom>
              <a:avLst/>
              <a:gdLst/>
              <a:ahLst/>
              <a:cxnLst/>
              <a:rect r="r" b="b" t="t" l="l"/>
              <a:pathLst>
                <a:path h="609600" w="609600">
                  <a:moveTo>
                    <a:pt x="0" y="0"/>
                  </a:moveTo>
                  <a:lnTo>
                    <a:pt x="609600" y="0"/>
                  </a:lnTo>
                  <a:lnTo>
                    <a:pt x="609600" y="609600"/>
                  </a:lnTo>
                  <a:lnTo>
                    <a:pt x="0" y="609600"/>
                  </a:lnTo>
                  <a:lnTo>
                    <a:pt x="0" y="0"/>
                  </a:lnTo>
                  <a:close/>
                </a:path>
              </a:pathLst>
            </a:custGeom>
            <a:blipFill>
              <a:blip r:embed="rId9"/>
              <a:stretch>
                <a:fillRect l="0" t="0" r="0" b="0"/>
              </a:stretch>
            </a:blipFill>
          </p:spPr>
        </p:sp>
      </p:grpSp>
      <p:sp>
        <p:nvSpPr>
          <p:cNvPr name="TextBox 38" id="38"/>
          <p:cNvSpPr txBox="true"/>
          <p:nvPr/>
        </p:nvSpPr>
        <p:spPr>
          <a:xfrm rot="0">
            <a:off x="2209800" y="4783931"/>
            <a:ext cx="10753344" cy="423863"/>
          </a:xfrm>
          <a:prstGeom prst="rect">
            <a:avLst/>
          </a:prstGeom>
        </p:spPr>
        <p:txBody>
          <a:bodyPr anchor="t" rtlCol="false" tIns="0" lIns="0" bIns="0" rIns="0">
            <a:spAutoFit/>
          </a:bodyPr>
          <a:lstStyle/>
          <a:p>
            <a:pPr algn="l">
              <a:lnSpc>
                <a:spcPts val="2812"/>
              </a:lnSpc>
            </a:pPr>
            <a:r>
              <a:rPr lang="en-US" sz="2250" b="true">
                <a:solidFill>
                  <a:srgbClr val="F2F0EA"/>
                </a:solidFill>
                <a:latin typeface="Arial Bold"/>
                <a:ea typeface="Arial Bold"/>
                <a:cs typeface="Arial Bold"/>
                <a:sym typeface="Arial Bold"/>
              </a:rPr>
              <a:t>Firebase xử lý luồng đăng nhập; app tích hợp bằng SDK.</a:t>
            </a:r>
          </a:p>
        </p:txBody>
      </p:sp>
      <p:grpSp>
        <p:nvGrpSpPr>
          <p:cNvPr name="Group 39" id="39"/>
          <p:cNvGrpSpPr/>
          <p:nvPr/>
        </p:nvGrpSpPr>
        <p:grpSpPr>
          <a:xfrm rot="0">
            <a:off x="1219200" y="5715000"/>
            <a:ext cx="5156121" cy="1734502"/>
            <a:chOff x="0" y="0"/>
            <a:chExt cx="6874828" cy="2312670"/>
          </a:xfrm>
        </p:grpSpPr>
        <p:sp>
          <p:nvSpPr>
            <p:cNvPr name="Freeform 40" id="40"/>
            <p:cNvSpPr/>
            <p:nvPr/>
          </p:nvSpPr>
          <p:spPr>
            <a:xfrm flipH="false" flipV="false" rot="0">
              <a:off x="0" y="0"/>
              <a:ext cx="6874891" cy="2312670"/>
            </a:xfrm>
            <a:custGeom>
              <a:avLst/>
              <a:gdLst/>
              <a:ahLst/>
              <a:cxnLst/>
              <a:rect r="r" b="b" t="t" l="l"/>
              <a:pathLst>
                <a:path h="2312670" w="6874891">
                  <a:moveTo>
                    <a:pt x="0" y="197993"/>
                  </a:moveTo>
                  <a:cubicBezTo>
                    <a:pt x="0" y="88646"/>
                    <a:pt x="88646" y="0"/>
                    <a:pt x="197993" y="0"/>
                  </a:cubicBezTo>
                  <a:lnTo>
                    <a:pt x="6676898" y="0"/>
                  </a:lnTo>
                  <a:cubicBezTo>
                    <a:pt x="6786245" y="0"/>
                    <a:pt x="6874891" y="88646"/>
                    <a:pt x="6874891" y="197993"/>
                  </a:cubicBezTo>
                  <a:lnTo>
                    <a:pt x="6874891" y="2114677"/>
                  </a:lnTo>
                  <a:cubicBezTo>
                    <a:pt x="6874891" y="2224024"/>
                    <a:pt x="6786245" y="2312670"/>
                    <a:pt x="6676898" y="2312670"/>
                  </a:cubicBezTo>
                  <a:lnTo>
                    <a:pt x="197993" y="2312670"/>
                  </a:lnTo>
                  <a:cubicBezTo>
                    <a:pt x="88646" y="2312670"/>
                    <a:pt x="0" y="2224024"/>
                    <a:pt x="0" y="2114677"/>
                  </a:cubicBezTo>
                  <a:close/>
                </a:path>
              </a:pathLst>
            </a:custGeom>
            <a:solidFill>
              <a:srgbClr val="FFFEFB"/>
            </a:solidFill>
            <a:ln w="9525" cap="sq">
              <a:solidFill>
                <a:srgbClr val="E2DED3"/>
              </a:solidFill>
              <a:prstDash val="solid"/>
              <a:miter/>
            </a:ln>
          </p:spPr>
        </p:sp>
      </p:grpSp>
      <p:grpSp>
        <p:nvGrpSpPr>
          <p:cNvPr name="Group 41" id="41"/>
          <p:cNvGrpSpPr/>
          <p:nvPr/>
        </p:nvGrpSpPr>
        <p:grpSpPr>
          <a:xfrm rot="0">
            <a:off x="1436370" y="5932170"/>
            <a:ext cx="304800" cy="304800"/>
            <a:chOff x="0" y="0"/>
            <a:chExt cx="406400" cy="406400"/>
          </a:xfrm>
        </p:grpSpPr>
        <p:sp>
          <p:nvSpPr>
            <p:cNvPr name="Freeform 42" id="42" descr="Lock"/>
            <p:cNvSpPr/>
            <p:nvPr/>
          </p:nvSpPr>
          <p:spPr>
            <a:xfrm flipH="false" flipV="false" rot="0">
              <a:off x="0" y="0"/>
              <a:ext cx="406400" cy="406400"/>
            </a:xfrm>
            <a:custGeom>
              <a:avLst/>
              <a:gdLst/>
              <a:ahLst/>
              <a:cxnLst/>
              <a:rect r="r" b="b" t="t" l="l"/>
              <a:pathLst>
                <a:path h="406400" w="406400">
                  <a:moveTo>
                    <a:pt x="0" y="0"/>
                  </a:moveTo>
                  <a:lnTo>
                    <a:pt x="406400" y="0"/>
                  </a:lnTo>
                  <a:lnTo>
                    <a:pt x="406400" y="406400"/>
                  </a:lnTo>
                  <a:lnTo>
                    <a:pt x="0" y="406400"/>
                  </a:lnTo>
                  <a:lnTo>
                    <a:pt x="0" y="0"/>
                  </a:lnTo>
                  <a:close/>
                </a:path>
              </a:pathLst>
            </a:custGeom>
            <a:blipFill>
              <a:blip r:embed="rId3"/>
              <a:stretch>
                <a:fillRect l="0" t="0" r="0" b="0"/>
              </a:stretch>
            </a:blipFill>
          </p:spPr>
        </p:sp>
      </p:grpSp>
      <p:sp>
        <p:nvSpPr>
          <p:cNvPr name="TextBox 43" id="43"/>
          <p:cNvSpPr txBox="true"/>
          <p:nvPr/>
        </p:nvSpPr>
        <p:spPr>
          <a:xfrm rot="0">
            <a:off x="1436370" y="6284595"/>
            <a:ext cx="4863436" cy="376237"/>
          </a:xfrm>
          <a:prstGeom prst="rect">
            <a:avLst/>
          </a:prstGeom>
        </p:spPr>
        <p:txBody>
          <a:bodyPr anchor="t" rtlCol="false" tIns="0" lIns="0" bIns="0" rIns="0">
            <a:spAutoFit/>
          </a:bodyPr>
          <a:lstStyle/>
          <a:p>
            <a:pPr algn="l">
              <a:lnSpc>
                <a:spcPts val="2437"/>
              </a:lnSpc>
            </a:pPr>
            <a:r>
              <a:rPr lang="en-US" sz="1950" b="true">
                <a:solidFill>
                  <a:srgbClr val="1B1D24"/>
                </a:solidFill>
                <a:latin typeface="Arial Bold"/>
                <a:ea typeface="Arial Bold"/>
                <a:cs typeface="Arial Bold"/>
                <a:sym typeface="Arial Bold"/>
              </a:rPr>
              <a:t>Tài khoản</a:t>
            </a:r>
          </a:p>
        </p:txBody>
      </p:sp>
      <p:sp>
        <p:nvSpPr>
          <p:cNvPr name="TextBox 44" id="44"/>
          <p:cNvSpPr txBox="true"/>
          <p:nvPr/>
        </p:nvSpPr>
        <p:spPr>
          <a:xfrm rot="0">
            <a:off x="1436370" y="6651307"/>
            <a:ext cx="4863436" cy="619125"/>
          </a:xfrm>
          <a:prstGeom prst="rect">
            <a:avLst/>
          </a:prstGeom>
        </p:spPr>
        <p:txBody>
          <a:bodyPr anchor="t" rtlCol="false" tIns="0" lIns="0" bIns="0" rIns="0">
            <a:spAutoFit/>
          </a:bodyPr>
          <a:lstStyle/>
          <a:p>
            <a:pPr algn="l">
              <a:lnSpc>
                <a:spcPts val="2100"/>
              </a:lnSpc>
            </a:pPr>
            <a:r>
              <a:rPr lang="en-US" sz="1500">
                <a:solidFill>
                  <a:srgbClr val="50566A"/>
                </a:solidFill>
                <a:latin typeface="Arial"/>
                <a:ea typeface="Arial"/>
                <a:cs typeface="Arial"/>
                <a:sym typeface="Arial"/>
              </a:rPr>
              <a:t>Đăng ký, xác minh, khôi phục</a:t>
            </a:r>
          </a:p>
        </p:txBody>
      </p:sp>
      <p:grpSp>
        <p:nvGrpSpPr>
          <p:cNvPr name="Group 45" id="45"/>
          <p:cNvGrpSpPr/>
          <p:nvPr/>
        </p:nvGrpSpPr>
        <p:grpSpPr>
          <a:xfrm rot="0">
            <a:off x="6565821" y="5715000"/>
            <a:ext cx="5156235" cy="1734502"/>
            <a:chOff x="0" y="0"/>
            <a:chExt cx="6874980" cy="2312670"/>
          </a:xfrm>
        </p:grpSpPr>
        <p:sp>
          <p:nvSpPr>
            <p:cNvPr name="Freeform 46" id="46"/>
            <p:cNvSpPr/>
            <p:nvPr/>
          </p:nvSpPr>
          <p:spPr>
            <a:xfrm flipH="false" flipV="false" rot="0">
              <a:off x="0" y="0"/>
              <a:ext cx="6875018" cy="2312670"/>
            </a:xfrm>
            <a:custGeom>
              <a:avLst/>
              <a:gdLst/>
              <a:ahLst/>
              <a:cxnLst/>
              <a:rect r="r" b="b" t="t" l="l"/>
              <a:pathLst>
                <a:path h="2312670" w="6875018">
                  <a:moveTo>
                    <a:pt x="0" y="197993"/>
                  </a:moveTo>
                  <a:cubicBezTo>
                    <a:pt x="0" y="88646"/>
                    <a:pt x="88646" y="0"/>
                    <a:pt x="197993" y="0"/>
                  </a:cubicBezTo>
                  <a:lnTo>
                    <a:pt x="6677025" y="0"/>
                  </a:lnTo>
                  <a:cubicBezTo>
                    <a:pt x="6786372" y="0"/>
                    <a:pt x="6875018" y="88646"/>
                    <a:pt x="6875018" y="197993"/>
                  </a:cubicBezTo>
                  <a:lnTo>
                    <a:pt x="6875018" y="2114677"/>
                  </a:lnTo>
                  <a:cubicBezTo>
                    <a:pt x="6875018" y="2224024"/>
                    <a:pt x="6786372" y="2312670"/>
                    <a:pt x="6677025" y="2312670"/>
                  </a:cubicBezTo>
                  <a:lnTo>
                    <a:pt x="197993" y="2312670"/>
                  </a:lnTo>
                  <a:cubicBezTo>
                    <a:pt x="88646" y="2312670"/>
                    <a:pt x="0" y="2224024"/>
                    <a:pt x="0" y="2114677"/>
                  </a:cubicBezTo>
                  <a:close/>
                </a:path>
              </a:pathLst>
            </a:custGeom>
            <a:solidFill>
              <a:srgbClr val="FFFEFB"/>
            </a:solidFill>
            <a:ln w="9525" cap="sq">
              <a:solidFill>
                <a:srgbClr val="E2DED3"/>
              </a:solidFill>
              <a:prstDash val="solid"/>
              <a:miter/>
            </a:ln>
          </p:spPr>
        </p:sp>
      </p:grpSp>
      <p:grpSp>
        <p:nvGrpSpPr>
          <p:cNvPr name="Group 47" id="47"/>
          <p:cNvGrpSpPr/>
          <p:nvPr/>
        </p:nvGrpSpPr>
        <p:grpSpPr>
          <a:xfrm rot="0">
            <a:off x="6782991" y="5932170"/>
            <a:ext cx="304800" cy="304800"/>
            <a:chOff x="0" y="0"/>
            <a:chExt cx="406400" cy="406400"/>
          </a:xfrm>
        </p:grpSpPr>
        <p:sp>
          <p:nvSpPr>
            <p:cNvPr name="Freeform 48" id="48" descr="Users"/>
            <p:cNvSpPr/>
            <p:nvPr/>
          </p:nvSpPr>
          <p:spPr>
            <a:xfrm flipH="false" flipV="false" rot="0">
              <a:off x="0" y="0"/>
              <a:ext cx="406400" cy="406400"/>
            </a:xfrm>
            <a:custGeom>
              <a:avLst/>
              <a:gdLst/>
              <a:ahLst/>
              <a:cxnLst/>
              <a:rect r="r" b="b" t="t" l="l"/>
              <a:pathLst>
                <a:path h="406400" w="406400">
                  <a:moveTo>
                    <a:pt x="0" y="0"/>
                  </a:moveTo>
                  <a:lnTo>
                    <a:pt x="406400" y="0"/>
                  </a:lnTo>
                  <a:lnTo>
                    <a:pt x="406400" y="406400"/>
                  </a:lnTo>
                  <a:lnTo>
                    <a:pt x="0" y="406400"/>
                  </a:lnTo>
                  <a:lnTo>
                    <a:pt x="0" y="0"/>
                  </a:lnTo>
                  <a:close/>
                </a:path>
              </a:pathLst>
            </a:custGeom>
            <a:blipFill>
              <a:blip r:embed="rId10"/>
              <a:stretch>
                <a:fillRect l="0" t="0" r="0" b="0"/>
              </a:stretch>
            </a:blipFill>
          </p:spPr>
        </p:sp>
      </p:grpSp>
      <p:sp>
        <p:nvSpPr>
          <p:cNvPr name="TextBox 49" id="49"/>
          <p:cNvSpPr txBox="true"/>
          <p:nvPr/>
        </p:nvSpPr>
        <p:spPr>
          <a:xfrm rot="0">
            <a:off x="6782991" y="6284595"/>
            <a:ext cx="4863560" cy="376237"/>
          </a:xfrm>
          <a:prstGeom prst="rect">
            <a:avLst/>
          </a:prstGeom>
        </p:spPr>
        <p:txBody>
          <a:bodyPr anchor="t" rtlCol="false" tIns="0" lIns="0" bIns="0" rIns="0">
            <a:spAutoFit/>
          </a:bodyPr>
          <a:lstStyle/>
          <a:p>
            <a:pPr algn="l">
              <a:lnSpc>
                <a:spcPts val="2437"/>
              </a:lnSpc>
            </a:pPr>
            <a:r>
              <a:rPr lang="en-US" sz="1950" b="true">
                <a:solidFill>
                  <a:srgbClr val="1B1D24"/>
                </a:solidFill>
                <a:latin typeface="Arial Bold"/>
                <a:ea typeface="Arial Bold"/>
                <a:cs typeface="Arial Bold"/>
                <a:sym typeface="Arial Bold"/>
              </a:rPr>
              <a:t>Phương thức</a:t>
            </a:r>
          </a:p>
        </p:txBody>
      </p:sp>
      <p:sp>
        <p:nvSpPr>
          <p:cNvPr name="TextBox 50" id="50"/>
          <p:cNvSpPr txBox="true"/>
          <p:nvPr/>
        </p:nvSpPr>
        <p:spPr>
          <a:xfrm rot="0">
            <a:off x="6782991" y="6651307"/>
            <a:ext cx="4863560" cy="619125"/>
          </a:xfrm>
          <a:prstGeom prst="rect">
            <a:avLst/>
          </a:prstGeom>
        </p:spPr>
        <p:txBody>
          <a:bodyPr anchor="t" rtlCol="false" tIns="0" lIns="0" bIns="0" rIns="0">
            <a:spAutoFit/>
          </a:bodyPr>
          <a:lstStyle/>
          <a:p>
            <a:pPr algn="l">
              <a:lnSpc>
                <a:spcPts val="2100"/>
              </a:lnSpc>
            </a:pPr>
            <a:r>
              <a:rPr lang="en-US" sz="1500">
                <a:solidFill>
                  <a:srgbClr val="50566A"/>
                </a:solidFill>
                <a:latin typeface="Arial"/>
                <a:ea typeface="Arial"/>
                <a:cs typeface="Arial"/>
                <a:sym typeface="Arial"/>
              </a:rPr>
              <a:t>Email/Password · Google · SMS…</a:t>
            </a:r>
          </a:p>
        </p:txBody>
      </p:sp>
      <p:grpSp>
        <p:nvGrpSpPr>
          <p:cNvPr name="Group 51" id="51"/>
          <p:cNvGrpSpPr/>
          <p:nvPr/>
        </p:nvGrpSpPr>
        <p:grpSpPr>
          <a:xfrm rot="0">
            <a:off x="11912565" y="5715000"/>
            <a:ext cx="5156235" cy="1734502"/>
            <a:chOff x="0" y="0"/>
            <a:chExt cx="6874980" cy="2312670"/>
          </a:xfrm>
        </p:grpSpPr>
        <p:sp>
          <p:nvSpPr>
            <p:cNvPr name="Freeform 52" id="52"/>
            <p:cNvSpPr/>
            <p:nvPr/>
          </p:nvSpPr>
          <p:spPr>
            <a:xfrm flipH="false" flipV="false" rot="0">
              <a:off x="0" y="0"/>
              <a:ext cx="6875018" cy="2312670"/>
            </a:xfrm>
            <a:custGeom>
              <a:avLst/>
              <a:gdLst/>
              <a:ahLst/>
              <a:cxnLst/>
              <a:rect r="r" b="b" t="t" l="l"/>
              <a:pathLst>
                <a:path h="2312670" w="6875018">
                  <a:moveTo>
                    <a:pt x="0" y="197993"/>
                  </a:moveTo>
                  <a:cubicBezTo>
                    <a:pt x="0" y="88646"/>
                    <a:pt x="88646" y="0"/>
                    <a:pt x="197993" y="0"/>
                  </a:cubicBezTo>
                  <a:lnTo>
                    <a:pt x="6677025" y="0"/>
                  </a:lnTo>
                  <a:cubicBezTo>
                    <a:pt x="6786372" y="0"/>
                    <a:pt x="6875018" y="88646"/>
                    <a:pt x="6875018" y="197993"/>
                  </a:cubicBezTo>
                  <a:lnTo>
                    <a:pt x="6875018" y="2114677"/>
                  </a:lnTo>
                  <a:cubicBezTo>
                    <a:pt x="6875018" y="2224024"/>
                    <a:pt x="6786372" y="2312670"/>
                    <a:pt x="6677025" y="2312670"/>
                  </a:cubicBezTo>
                  <a:lnTo>
                    <a:pt x="197993" y="2312670"/>
                  </a:lnTo>
                  <a:cubicBezTo>
                    <a:pt x="88646" y="2312670"/>
                    <a:pt x="0" y="2224024"/>
                    <a:pt x="0" y="2114677"/>
                  </a:cubicBezTo>
                  <a:close/>
                </a:path>
              </a:pathLst>
            </a:custGeom>
            <a:solidFill>
              <a:srgbClr val="FFFEFB"/>
            </a:solidFill>
            <a:ln w="9525" cap="sq">
              <a:solidFill>
                <a:srgbClr val="E2DED3"/>
              </a:solidFill>
              <a:prstDash val="solid"/>
              <a:miter/>
            </a:ln>
          </p:spPr>
        </p:sp>
      </p:grpSp>
      <p:grpSp>
        <p:nvGrpSpPr>
          <p:cNvPr name="Group 53" id="53"/>
          <p:cNvGrpSpPr/>
          <p:nvPr/>
        </p:nvGrpSpPr>
        <p:grpSpPr>
          <a:xfrm rot="0">
            <a:off x="12129735" y="5932170"/>
            <a:ext cx="304800" cy="304800"/>
            <a:chOff x="0" y="0"/>
            <a:chExt cx="406400" cy="406400"/>
          </a:xfrm>
        </p:grpSpPr>
        <p:sp>
          <p:nvSpPr>
            <p:cNvPr name="Freeform 54" id="54" descr="Verified"/>
            <p:cNvSpPr/>
            <p:nvPr/>
          </p:nvSpPr>
          <p:spPr>
            <a:xfrm flipH="false" flipV="false" rot="0">
              <a:off x="0" y="0"/>
              <a:ext cx="406400" cy="406400"/>
            </a:xfrm>
            <a:custGeom>
              <a:avLst/>
              <a:gdLst/>
              <a:ahLst/>
              <a:cxnLst/>
              <a:rect r="r" b="b" t="t" l="l"/>
              <a:pathLst>
                <a:path h="406400" w="406400">
                  <a:moveTo>
                    <a:pt x="0" y="0"/>
                  </a:moveTo>
                  <a:lnTo>
                    <a:pt x="406400" y="0"/>
                  </a:lnTo>
                  <a:lnTo>
                    <a:pt x="406400" y="406400"/>
                  </a:lnTo>
                  <a:lnTo>
                    <a:pt x="0" y="406400"/>
                  </a:lnTo>
                  <a:lnTo>
                    <a:pt x="0" y="0"/>
                  </a:lnTo>
                  <a:close/>
                </a:path>
              </a:pathLst>
            </a:custGeom>
            <a:blipFill>
              <a:blip r:embed="rId7"/>
              <a:stretch>
                <a:fillRect l="0" t="0" r="0" b="0"/>
              </a:stretch>
            </a:blipFill>
          </p:spPr>
        </p:sp>
      </p:grpSp>
      <p:sp>
        <p:nvSpPr>
          <p:cNvPr name="TextBox 55" id="55"/>
          <p:cNvSpPr txBox="true"/>
          <p:nvPr/>
        </p:nvSpPr>
        <p:spPr>
          <a:xfrm rot="0">
            <a:off x="12129735" y="6284595"/>
            <a:ext cx="4863560" cy="376237"/>
          </a:xfrm>
          <a:prstGeom prst="rect">
            <a:avLst/>
          </a:prstGeom>
        </p:spPr>
        <p:txBody>
          <a:bodyPr anchor="t" rtlCol="false" tIns="0" lIns="0" bIns="0" rIns="0">
            <a:spAutoFit/>
          </a:bodyPr>
          <a:lstStyle/>
          <a:p>
            <a:pPr algn="l">
              <a:lnSpc>
                <a:spcPts val="2437"/>
              </a:lnSpc>
            </a:pPr>
            <a:r>
              <a:rPr lang="en-US" sz="1950" b="true">
                <a:solidFill>
                  <a:srgbClr val="1B1D24"/>
                </a:solidFill>
                <a:latin typeface="Arial Bold"/>
                <a:ea typeface="Arial Bold"/>
                <a:cs typeface="Arial Bold"/>
                <a:sym typeface="Arial Bold"/>
              </a:rPr>
              <a:t>ID Token</a:t>
            </a:r>
          </a:p>
        </p:txBody>
      </p:sp>
      <p:sp>
        <p:nvSpPr>
          <p:cNvPr name="TextBox 56" id="56"/>
          <p:cNvSpPr txBox="true"/>
          <p:nvPr/>
        </p:nvSpPr>
        <p:spPr>
          <a:xfrm rot="0">
            <a:off x="12129735" y="6651307"/>
            <a:ext cx="4863560" cy="352425"/>
          </a:xfrm>
          <a:prstGeom prst="rect">
            <a:avLst/>
          </a:prstGeom>
        </p:spPr>
        <p:txBody>
          <a:bodyPr anchor="t" rtlCol="false" tIns="0" lIns="0" bIns="0" rIns="0">
            <a:spAutoFit/>
          </a:bodyPr>
          <a:lstStyle/>
          <a:p>
            <a:pPr algn="l">
              <a:lnSpc>
                <a:spcPts val="2100"/>
              </a:lnSpc>
            </a:pPr>
            <a:r>
              <a:rPr lang="en-US" sz="1500">
                <a:solidFill>
                  <a:srgbClr val="50566A"/>
                </a:solidFill>
                <a:latin typeface="Arial"/>
                <a:ea typeface="Arial"/>
                <a:cs typeface="Arial"/>
                <a:sym typeface="Arial"/>
              </a:rPr>
              <a:t>Dùng để xác minh danh tính khi gọi API</a:t>
            </a:r>
          </a:p>
        </p:txBody>
      </p:sp>
      <p:sp>
        <p:nvSpPr>
          <p:cNvPr name="TextBox 57" id="57"/>
          <p:cNvSpPr txBox="true"/>
          <p:nvPr/>
        </p:nvSpPr>
        <p:spPr>
          <a:xfrm rot="0">
            <a:off x="15849600" y="9300210"/>
            <a:ext cx="1219200" cy="415290"/>
          </a:xfrm>
          <a:prstGeom prst="rect">
            <a:avLst/>
          </a:prstGeom>
        </p:spPr>
        <p:txBody>
          <a:bodyPr anchor="t" rtlCol="false" tIns="0" lIns="0" bIns="0" rIns="0">
            <a:spAutoFit/>
          </a:bodyPr>
          <a:lstStyle/>
          <a:p>
            <a:pPr algn="r">
              <a:lnSpc>
                <a:spcPts val="2520"/>
              </a:lnSpc>
            </a:pPr>
            <a:r>
              <a:rPr lang="en-US" sz="1800">
                <a:solidFill>
                  <a:srgbClr val="6B7080"/>
                </a:solidFill>
                <a:latin typeface="Arial"/>
                <a:ea typeface="Arial"/>
                <a:cs typeface="Arial"/>
                <a:sym typeface="Arial"/>
              </a:rPr>
              <a:t>04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2A72B"/>
        </a:solidFill>
      </p:bgPr>
    </p:bg>
    <p:spTree>
      <p:nvGrpSpPr>
        <p:cNvPr id="1" name=""/>
        <p:cNvGrpSpPr/>
        <p:nvPr/>
      </p:nvGrpSpPr>
      <p:grpSpPr>
        <a:xfrm>
          <a:off x="0" y="0"/>
          <a:ext cx="0" cy="0"/>
          <a:chOff x="0" y="0"/>
          <a:chExt cx="0" cy="0"/>
        </a:xfrm>
      </p:grpSpPr>
      <p:grpSp>
        <p:nvGrpSpPr>
          <p:cNvPr name="Group 2" id="2"/>
          <p:cNvGrpSpPr/>
          <p:nvPr/>
        </p:nvGrpSpPr>
        <p:grpSpPr>
          <a:xfrm rot="0">
            <a:off x="15163800" y="1219200"/>
            <a:ext cx="1905000" cy="1905000"/>
            <a:chOff x="0" y="0"/>
            <a:chExt cx="2540000" cy="2540000"/>
          </a:xfrm>
        </p:grpSpPr>
        <p:sp>
          <p:nvSpPr>
            <p:cNvPr name="Freeform 3" id="3" descr="Play"/>
            <p:cNvSpPr/>
            <p:nvPr/>
          </p:nvSpPr>
          <p:spPr>
            <a:xfrm flipH="false" flipV="false" rot="0">
              <a:off x="0" y="0"/>
              <a:ext cx="2540000" cy="2540000"/>
            </a:xfrm>
            <a:custGeom>
              <a:avLst/>
              <a:gdLst/>
              <a:ahLst/>
              <a:cxnLst/>
              <a:rect r="r" b="b" t="t" l="l"/>
              <a:pathLst>
                <a:path h="2540000" w="2540000">
                  <a:moveTo>
                    <a:pt x="0" y="0"/>
                  </a:moveTo>
                  <a:lnTo>
                    <a:pt x="2540000" y="0"/>
                  </a:lnTo>
                  <a:lnTo>
                    <a:pt x="2540000" y="2540000"/>
                  </a:lnTo>
                  <a:lnTo>
                    <a:pt x="0" y="2540000"/>
                  </a:lnTo>
                  <a:lnTo>
                    <a:pt x="0" y="0"/>
                  </a:lnTo>
                  <a:close/>
                </a:path>
              </a:pathLst>
            </a:custGeom>
            <a:blipFill>
              <a:blip r:embed="rId3"/>
              <a:stretch>
                <a:fillRect l="0" t="0" r="0" b="0"/>
              </a:stretch>
            </a:blipFill>
          </p:spPr>
        </p:sp>
      </p:grpSp>
      <p:sp>
        <p:nvSpPr>
          <p:cNvPr name="TextBox 4" id="4"/>
          <p:cNvSpPr txBox="true"/>
          <p:nvPr/>
        </p:nvSpPr>
        <p:spPr>
          <a:xfrm rot="0">
            <a:off x="1219200" y="1162050"/>
            <a:ext cx="16325088" cy="415290"/>
          </a:xfrm>
          <a:prstGeom prst="rect">
            <a:avLst/>
          </a:prstGeom>
        </p:spPr>
        <p:txBody>
          <a:bodyPr anchor="t" rtlCol="false" tIns="0" lIns="0" bIns="0" rIns="0">
            <a:spAutoFit/>
          </a:bodyPr>
          <a:lstStyle/>
          <a:p>
            <a:pPr algn="l">
              <a:lnSpc>
                <a:spcPts val="2520"/>
              </a:lnSpc>
            </a:pPr>
            <a:r>
              <a:rPr lang="en-US" b="true" sz="1800" spc="225">
                <a:solidFill>
                  <a:srgbClr val="15171E"/>
                </a:solidFill>
                <a:latin typeface="Arial Bold"/>
                <a:ea typeface="Arial Bold"/>
                <a:cs typeface="Arial Bold"/>
                <a:sym typeface="Arial Bold"/>
              </a:rPr>
              <a:t>PHẦN 2 · XÁC THỰC</a:t>
            </a:r>
          </a:p>
        </p:txBody>
      </p:sp>
      <p:sp>
        <p:nvSpPr>
          <p:cNvPr name="TextBox 5" id="5"/>
          <p:cNvSpPr txBox="true"/>
          <p:nvPr/>
        </p:nvSpPr>
        <p:spPr>
          <a:xfrm rot="0">
            <a:off x="1219200" y="1824990"/>
            <a:ext cx="16325088" cy="1143000"/>
          </a:xfrm>
          <a:prstGeom prst="rect">
            <a:avLst/>
          </a:prstGeom>
        </p:spPr>
        <p:txBody>
          <a:bodyPr anchor="t" rtlCol="false" tIns="0" lIns="0" bIns="0" rIns="0">
            <a:spAutoFit/>
          </a:bodyPr>
          <a:lstStyle/>
          <a:p>
            <a:pPr algn="l">
              <a:lnSpc>
                <a:spcPts val="9450"/>
              </a:lnSpc>
            </a:pPr>
            <a:r>
              <a:rPr lang="en-US" sz="9000" b="true">
                <a:solidFill>
                  <a:srgbClr val="15171E"/>
                </a:solidFill>
                <a:latin typeface="Arial Bold"/>
                <a:ea typeface="Arial Bold"/>
                <a:cs typeface="Arial Bold"/>
                <a:sym typeface="Arial Bold"/>
              </a:rPr>
              <a:t>Demo 1: Đăng nhập</a:t>
            </a:r>
          </a:p>
        </p:txBody>
      </p:sp>
      <p:sp>
        <p:nvSpPr>
          <p:cNvPr name="TextBox 6" id="6"/>
          <p:cNvSpPr txBox="true"/>
          <p:nvPr/>
        </p:nvSpPr>
        <p:spPr>
          <a:xfrm rot="0">
            <a:off x="1219200" y="5551170"/>
            <a:ext cx="16325088" cy="521970"/>
          </a:xfrm>
          <a:prstGeom prst="rect">
            <a:avLst/>
          </a:prstGeom>
        </p:spPr>
        <p:txBody>
          <a:bodyPr anchor="t" rtlCol="false" tIns="0" lIns="0" bIns="0" rIns="0">
            <a:spAutoFit/>
          </a:bodyPr>
          <a:lstStyle/>
          <a:p>
            <a:pPr algn="l">
              <a:lnSpc>
                <a:spcPts val="3359"/>
              </a:lnSpc>
            </a:pPr>
            <a:r>
              <a:rPr lang="en-US" sz="2400" b="true">
                <a:solidFill>
                  <a:srgbClr val="15171E"/>
                </a:solidFill>
                <a:latin typeface="Arial Bold"/>
                <a:ea typeface="Arial Bold"/>
                <a:cs typeface="Arial Bold"/>
                <a:sym typeface="Arial Bold"/>
              </a:rPr>
              <a:t>Theo dõi 4 bước:</a:t>
            </a:r>
          </a:p>
        </p:txBody>
      </p:sp>
      <p:grpSp>
        <p:nvGrpSpPr>
          <p:cNvPr name="Group 7" id="7"/>
          <p:cNvGrpSpPr/>
          <p:nvPr/>
        </p:nvGrpSpPr>
        <p:grpSpPr>
          <a:xfrm rot="0">
            <a:off x="1219200" y="6225540"/>
            <a:ext cx="7829550" cy="1325880"/>
            <a:chOff x="0" y="0"/>
            <a:chExt cx="10439400" cy="1767840"/>
          </a:xfrm>
        </p:grpSpPr>
        <p:sp>
          <p:nvSpPr>
            <p:cNvPr name="Freeform 8" id="8"/>
            <p:cNvSpPr/>
            <p:nvPr/>
          </p:nvSpPr>
          <p:spPr>
            <a:xfrm flipH="false" flipV="false" rot="0">
              <a:off x="0" y="0"/>
              <a:ext cx="10439400" cy="1767840"/>
            </a:xfrm>
            <a:custGeom>
              <a:avLst/>
              <a:gdLst/>
              <a:ahLst/>
              <a:cxnLst/>
              <a:rect r="r" b="b" t="t" l="l"/>
              <a:pathLst>
                <a:path h="1767840" w="10439400">
                  <a:moveTo>
                    <a:pt x="0" y="254000"/>
                  </a:moveTo>
                  <a:cubicBezTo>
                    <a:pt x="0" y="113665"/>
                    <a:pt x="113665" y="0"/>
                    <a:pt x="254000" y="0"/>
                  </a:cubicBezTo>
                  <a:lnTo>
                    <a:pt x="10185400" y="0"/>
                  </a:lnTo>
                  <a:cubicBezTo>
                    <a:pt x="10325735" y="0"/>
                    <a:pt x="10439400" y="113665"/>
                    <a:pt x="10439400" y="254000"/>
                  </a:cubicBezTo>
                  <a:lnTo>
                    <a:pt x="10439400" y="1513840"/>
                  </a:lnTo>
                  <a:cubicBezTo>
                    <a:pt x="10439400" y="1654175"/>
                    <a:pt x="10325735" y="1767840"/>
                    <a:pt x="10185400" y="1767840"/>
                  </a:cubicBezTo>
                  <a:lnTo>
                    <a:pt x="254000" y="1767840"/>
                  </a:lnTo>
                  <a:cubicBezTo>
                    <a:pt x="113665" y="1767840"/>
                    <a:pt x="0" y="1654175"/>
                    <a:pt x="0" y="1513840"/>
                  </a:cubicBezTo>
                  <a:close/>
                </a:path>
              </a:pathLst>
            </a:custGeom>
            <a:solidFill>
              <a:srgbClr val="F7C565"/>
            </a:solidFill>
          </p:spPr>
        </p:sp>
      </p:grpSp>
      <p:sp>
        <p:nvSpPr>
          <p:cNvPr name="TextBox 9" id="9"/>
          <p:cNvSpPr txBox="true"/>
          <p:nvPr/>
        </p:nvSpPr>
        <p:spPr>
          <a:xfrm rot="0">
            <a:off x="1524000" y="6520815"/>
            <a:ext cx="280873" cy="428625"/>
          </a:xfrm>
          <a:prstGeom prst="rect">
            <a:avLst/>
          </a:prstGeom>
        </p:spPr>
        <p:txBody>
          <a:bodyPr anchor="t" rtlCol="false" tIns="0" lIns="0" bIns="0" rIns="0">
            <a:spAutoFit/>
          </a:bodyPr>
          <a:lstStyle/>
          <a:p>
            <a:pPr algn="l">
              <a:lnSpc>
                <a:spcPts val="3300"/>
              </a:lnSpc>
            </a:pPr>
            <a:r>
              <a:rPr lang="en-US" sz="3300" b="true">
                <a:solidFill>
                  <a:srgbClr val="15171E"/>
                </a:solidFill>
                <a:latin typeface="Arial Bold"/>
                <a:ea typeface="Arial Bold"/>
                <a:cs typeface="Arial Bold"/>
                <a:sym typeface="Arial Bold"/>
              </a:rPr>
              <a:t>1</a:t>
            </a:r>
          </a:p>
        </p:txBody>
      </p:sp>
      <p:sp>
        <p:nvSpPr>
          <p:cNvPr name="TextBox 10" id="10"/>
          <p:cNvSpPr txBox="true"/>
          <p:nvPr/>
        </p:nvSpPr>
        <p:spPr>
          <a:xfrm rot="0">
            <a:off x="1919173" y="6454140"/>
            <a:ext cx="7029526" cy="868680"/>
          </a:xfrm>
          <a:prstGeom prst="rect">
            <a:avLst/>
          </a:prstGeom>
        </p:spPr>
        <p:txBody>
          <a:bodyPr anchor="t" rtlCol="false" tIns="0" lIns="0" bIns="0" rIns="0">
            <a:spAutoFit/>
          </a:bodyPr>
          <a:lstStyle/>
          <a:p>
            <a:pPr algn="l">
              <a:lnSpc>
                <a:spcPts val="3120"/>
              </a:lnSpc>
            </a:pPr>
            <a:r>
              <a:rPr lang="en-US" sz="2400">
                <a:solidFill>
                  <a:srgbClr val="15171E"/>
                </a:solidFill>
                <a:latin typeface="Arial"/>
                <a:ea typeface="Arial"/>
                <a:cs typeface="Arial"/>
                <a:sym typeface="Arial"/>
              </a:rPr>
              <a:t>Đăng ký email sinh viên → ban đầu là Khách</a:t>
            </a:r>
          </a:p>
        </p:txBody>
      </p:sp>
      <p:grpSp>
        <p:nvGrpSpPr>
          <p:cNvPr name="Group 11" id="11"/>
          <p:cNvGrpSpPr/>
          <p:nvPr/>
        </p:nvGrpSpPr>
        <p:grpSpPr>
          <a:xfrm rot="0">
            <a:off x="9239250" y="6225540"/>
            <a:ext cx="7829550" cy="1325880"/>
            <a:chOff x="0" y="0"/>
            <a:chExt cx="10439400" cy="1767840"/>
          </a:xfrm>
        </p:grpSpPr>
        <p:sp>
          <p:nvSpPr>
            <p:cNvPr name="Freeform 12" id="12"/>
            <p:cNvSpPr/>
            <p:nvPr/>
          </p:nvSpPr>
          <p:spPr>
            <a:xfrm flipH="false" flipV="false" rot="0">
              <a:off x="0" y="0"/>
              <a:ext cx="10439400" cy="1767840"/>
            </a:xfrm>
            <a:custGeom>
              <a:avLst/>
              <a:gdLst/>
              <a:ahLst/>
              <a:cxnLst/>
              <a:rect r="r" b="b" t="t" l="l"/>
              <a:pathLst>
                <a:path h="1767840" w="10439400">
                  <a:moveTo>
                    <a:pt x="0" y="254000"/>
                  </a:moveTo>
                  <a:cubicBezTo>
                    <a:pt x="0" y="113665"/>
                    <a:pt x="113665" y="0"/>
                    <a:pt x="254000" y="0"/>
                  </a:cubicBezTo>
                  <a:lnTo>
                    <a:pt x="10185400" y="0"/>
                  </a:lnTo>
                  <a:cubicBezTo>
                    <a:pt x="10325735" y="0"/>
                    <a:pt x="10439400" y="113665"/>
                    <a:pt x="10439400" y="254000"/>
                  </a:cubicBezTo>
                  <a:lnTo>
                    <a:pt x="10439400" y="1513840"/>
                  </a:lnTo>
                  <a:cubicBezTo>
                    <a:pt x="10439400" y="1654175"/>
                    <a:pt x="10325735" y="1767840"/>
                    <a:pt x="10185400" y="1767840"/>
                  </a:cubicBezTo>
                  <a:lnTo>
                    <a:pt x="254000" y="1767840"/>
                  </a:lnTo>
                  <a:cubicBezTo>
                    <a:pt x="113665" y="1767840"/>
                    <a:pt x="0" y="1654175"/>
                    <a:pt x="0" y="1513840"/>
                  </a:cubicBezTo>
                  <a:close/>
                </a:path>
              </a:pathLst>
            </a:custGeom>
            <a:solidFill>
              <a:srgbClr val="F7C565"/>
            </a:solidFill>
          </p:spPr>
        </p:sp>
      </p:grpSp>
      <p:sp>
        <p:nvSpPr>
          <p:cNvPr name="TextBox 13" id="13"/>
          <p:cNvSpPr txBox="true"/>
          <p:nvPr/>
        </p:nvSpPr>
        <p:spPr>
          <a:xfrm rot="0">
            <a:off x="9544050" y="6520815"/>
            <a:ext cx="355759" cy="428625"/>
          </a:xfrm>
          <a:prstGeom prst="rect">
            <a:avLst/>
          </a:prstGeom>
        </p:spPr>
        <p:txBody>
          <a:bodyPr anchor="t" rtlCol="false" tIns="0" lIns="0" bIns="0" rIns="0">
            <a:spAutoFit/>
          </a:bodyPr>
          <a:lstStyle/>
          <a:p>
            <a:pPr algn="l">
              <a:lnSpc>
                <a:spcPts val="3300"/>
              </a:lnSpc>
            </a:pPr>
            <a:r>
              <a:rPr lang="en-US" sz="3300" b="true">
                <a:solidFill>
                  <a:srgbClr val="15171E"/>
                </a:solidFill>
                <a:latin typeface="Arial Bold"/>
                <a:ea typeface="Arial Bold"/>
                <a:cs typeface="Arial Bold"/>
                <a:sym typeface="Arial Bold"/>
              </a:rPr>
              <a:t>2</a:t>
            </a:r>
          </a:p>
        </p:txBody>
      </p:sp>
      <p:sp>
        <p:nvSpPr>
          <p:cNvPr name="TextBox 14" id="14"/>
          <p:cNvSpPr txBox="true"/>
          <p:nvPr/>
        </p:nvSpPr>
        <p:spPr>
          <a:xfrm rot="0">
            <a:off x="10014109" y="6454140"/>
            <a:ext cx="7054691" cy="472440"/>
          </a:xfrm>
          <a:prstGeom prst="rect">
            <a:avLst/>
          </a:prstGeom>
        </p:spPr>
        <p:txBody>
          <a:bodyPr anchor="t" rtlCol="false" tIns="0" lIns="0" bIns="0" rIns="0">
            <a:spAutoFit/>
          </a:bodyPr>
          <a:lstStyle/>
          <a:p>
            <a:pPr algn="l">
              <a:lnSpc>
                <a:spcPts val="3120"/>
              </a:lnSpc>
            </a:pPr>
            <a:r>
              <a:rPr lang="en-US" sz="2400">
                <a:solidFill>
                  <a:srgbClr val="15171E"/>
                </a:solidFill>
                <a:latin typeface="Arial"/>
                <a:ea typeface="Arial"/>
                <a:cs typeface="Arial"/>
                <a:sym typeface="Arial"/>
              </a:rPr>
              <a:t>Xác minh email → Sinh viên</a:t>
            </a:r>
          </a:p>
        </p:txBody>
      </p:sp>
      <p:grpSp>
        <p:nvGrpSpPr>
          <p:cNvPr name="Group 15" id="15"/>
          <p:cNvGrpSpPr/>
          <p:nvPr/>
        </p:nvGrpSpPr>
        <p:grpSpPr>
          <a:xfrm rot="0">
            <a:off x="1219200" y="7741920"/>
            <a:ext cx="7829550" cy="1325880"/>
            <a:chOff x="0" y="0"/>
            <a:chExt cx="10439400" cy="1767840"/>
          </a:xfrm>
        </p:grpSpPr>
        <p:sp>
          <p:nvSpPr>
            <p:cNvPr name="Freeform 16" id="16"/>
            <p:cNvSpPr/>
            <p:nvPr/>
          </p:nvSpPr>
          <p:spPr>
            <a:xfrm flipH="false" flipV="false" rot="0">
              <a:off x="0" y="0"/>
              <a:ext cx="10439400" cy="1767840"/>
            </a:xfrm>
            <a:custGeom>
              <a:avLst/>
              <a:gdLst/>
              <a:ahLst/>
              <a:cxnLst/>
              <a:rect r="r" b="b" t="t" l="l"/>
              <a:pathLst>
                <a:path h="1767840" w="10439400">
                  <a:moveTo>
                    <a:pt x="0" y="254000"/>
                  </a:moveTo>
                  <a:cubicBezTo>
                    <a:pt x="0" y="113665"/>
                    <a:pt x="113665" y="0"/>
                    <a:pt x="254000" y="0"/>
                  </a:cubicBezTo>
                  <a:lnTo>
                    <a:pt x="10185400" y="0"/>
                  </a:lnTo>
                  <a:cubicBezTo>
                    <a:pt x="10325735" y="0"/>
                    <a:pt x="10439400" y="113665"/>
                    <a:pt x="10439400" y="254000"/>
                  </a:cubicBezTo>
                  <a:lnTo>
                    <a:pt x="10439400" y="1513840"/>
                  </a:lnTo>
                  <a:cubicBezTo>
                    <a:pt x="10439400" y="1654175"/>
                    <a:pt x="10325735" y="1767840"/>
                    <a:pt x="10185400" y="1767840"/>
                  </a:cubicBezTo>
                  <a:lnTo>
                    <a:pt x="254000" y="1767840"/>
                  </a:lnTo>
                  <a:cubicBezTo>
                    <a:pt x="113665" y="1767840"/>
                    <a:pt x="0" y="1654175"/>
                    <a:pt x="0" y="1513840"/>
                  </a:cubicBezTo>
                  <a:close/>
                </a:path>
              </a:pathLst>
            </a:custGeom>
            <a:solidFill>
              <a:srgbClr val="F7C565"/>
            </a:solidFill>
          </p:spPr>
        </p:sp>
      </p:grpSp>
      <p:sp>
        <p:nvSpPr>
          <p:cNvPr name="TextBox 17" id="17"/>
          <p:cNvSpPr txBox="true"/>
          <p:nvPr/>
        </p:nvSpPr>
        <p:spPr>
          <a:xfrm rot="0">
            <a:off x="1524000" y="8037195"/>
            <a:ext cx="333137" cy="428625"/>
          </a:xfrm>
          <a:prstGeom prst="rect">
            <a:avLst/>
          </a:prstGeom>
        </p:spPr>
        <p:txBody>
          <a:bodyPr anchor="t" rtlCol="false" tIns="0" lIns="0" bIns="0" rIns="0">
            <a:spAutoFit/>
          </a:bodyPr>
          <a:lstStyle/>
          <a:p>
            <a:pPr algn="l">
              <a:lnSpc>
                <a:spcPts val="3300"/>
              </a:lnSpc>
            </a:pPr>
            <a:r>
              <a:rPr lang="en-US" sz="3300" b="true">
                <a:solidFill>
                  <a:srgbClr val="15171E"/>
                </a:solidFill>
                <a:latin typeface="Arial Bold"/>
                <a:ea typeface="Arial Bold"/>
                <a:cs typeface="Arial Bold"/>
                <a:sym typeface="Arial Bold"/>
              </a:rPr>
              <a:t>3</a:t>
            </a:r>
          </a:p>
        </p:txBody>
      </p:sp>
      <p:sp>
        <p:nvSpPr>
          <p:cNvPr name="TextBox 18" id="18"/>
          <p:cNvSpPr txBox="true"/>
          <p:nvPr/>
        </p:nvSpPr>
        <p:spPr>
          <a:xfrm rot="0">
            <a:off x="1971437" y="7970520"/>
            <a:ext cx="6975691" cy="868680"/>
          </a:xfrm>
          <a:prstGeom prst="rect">
            <a:avLst/>
          </a:prstGeom>
        </p:spPr>
        <p:txBody>
          <a:bodyPr anchor="t" rtlCol="false" tIns="0" lIns="0" bIns="0" rIns="0">
            <a:spAutoFit/>
          </a:bodyPr>
          <a:lstStyle/>
          <a:p>
            <a:pPr algn="l">
              <a:lnSpc>
                <a:spcPts val="3120"/>
              </a:lnSpc>
            </a:pPr>
            <a:r>
              <a:rPr lang="en-US" sz="2400">
                <a:solidFill>
                  <a:srgbClr val="15171E"/>
                </a:solidFill>
                <a:latin typeface="Arial"/>
                <a:ea typeface="Arial"/>
                <a:cs typeface="Arial"/>
                <a:sym typeface="Arial"/>
              </a:rPr>
              <a:t>Google Sign-In → hiển thị profile</a:t>
            </a:r>
          </a:p>
        </p:txBody>
      </p:sp>
      <p:grpSp>
        <p:nvGrpSpPr>
          <p:cNvPr name="Group 19" id="19"/>
          <p:cNvGrpSpPr/>
          <p:nvPr/>
        </p:nvGrpSpPr>
        <p:grpSpPr>
          <a:xfrm rot="0">
            <a:off x="9239250" y="7741920"/>
            <a:ext cx="7829550" cy="1325880"/>
            <a:chOff x="0" y="0"/>
            <a:chExt cx="10439400" cy="1767840"/>
          </a:xfrm>
        </p:grpSpPr>
        <p:sp>
          <p:nvSpPr>
            <p:cNvPr name="Freeform 20" id="20"/>
            <p:cNvSpPr/>
            <p:nvPr/>
          </p:nvSpPr>
          <p:spPr>
            <a:xfrm flipH="false" flipV="false" rot="0">
              <a:off x="0" y="0"/>
              <a:ext cx="10439400" cy="1767840"/>
            </a:xfrm>
            <a:custGeom>
              <a:avLst/>
              <a:gdLst/>
              <a:ahLst/>
              <a:cxnLst/>
              <a:rect r="r" b="b" t="t" l="l"/>
              <a:pathLst>
                <a:path h="1767840" w="10439400">
                  <a:moveTo>
                    <a:pt x="0" y="254000"/>
                  </a:moveTo>
                  <a:cubicBezTo>
                    <a:pt x="0" y="113665"/>
                    <a:pt x="113665" y="0"/>
                    <a:pt x="254000" y="0"/>
                  </a:cubicBezTo>
                  <a:lnTo>
                    <a:pt x="10185400" y="0"/>
                  </a:lnTo>
                  <a:cubicBezTo>
                    <a:pt x="10325735" y="0"/>
                    <a:pt x="10439400" y="113665"/>
                    <a:pt x="10439400" y="254000"/>
                  </a:cubicBezTo>
                  <a:lnTo>
                    <a:pt x="10439400" y="1513840"/>
                  </a:lnTo>
                  <a:cubicBezTo>
                    <a:pt x="10439400" y="1654175"/>
                    <a:pt x="10325735" y="1767840"/>
                    <a:pt x="10185400" y="1767840"/>
                  </a:cubicBezTo>
                  <a:lnTo>
                    <a:pt x="254000" y="1767840"/>
                  </a:lnTo>
                  <a:cubicBezTo>
                    <a:pt x="113665" y="1767840"/>
                    <a:pt x="0" y="1654175"/>
                    <a:pt x="0" y="1513840"/>
                  </a:cubicBezTo>
                  <a:close/>
                </a:path>
              </a:pathLst>
            </a:custGeom>
            <a:solidFill>
              <a:srgbClr val="F7C565"/>
            </a:solidFill>
          </p:spPr>
        </p:sp>
      </p:grpSp>
      <p:sp>
        <p:nvSpPr>
          <p:cNvPr name="TextBox 21" id="21"/>
          <p:cNvSpPr txBox="true"/>
          <p:nvPr/>
        </p:nvSpPr>
        <p:spPr>
          <a:xfrm rot="0">
            <a:off x="9544050" y="8037195"/>
            <a:ext cx="355759" cy="428625"/>
          </a:xfrm>
          <a:prstGeom prst="rect">
            <a:avLst/>
          </a:prstGeom>
        </p:spPr>
        <p:txBody>
          <a:bodyPr anchor="t" rtlCol="false" tIns="0" lIns="0" bIns="0" rIns="0">
            <a:spAutoFit/>
          </a:bodyPr>
          <a:lstStyle/>
          <a:p>
            <a:pPr algn="l">
              <a:lnSpc>
                <a:spcPts val="3300"/>
              </a:lnSpc>
            </a:pPr>
            <a:r>
              <a:rPr lang="en-US" sz="3300" b="true">
                <a:solidFill>
                  <a:srgbClr val="15171E"/>
                </a:solidFill>
                <a:latin typeface="Arial Bold"/>
                <a:ea typeface="Arial Bold"/>
                <a:cs typeface="Arial Bold"/>
                <a:sym typeface="Arial Bold"/>
              </a:rPr>
              <a:t>4</a:t>
            </a:r>
          </a:p>
        </p:txBody>
      </p:sp>
      <p:sp>
        <p:nvSpPr>
          <p:cNvPr name="TextBox 22" id="22"/>
          <p:cNvSpPr txBox="true"/>
          <p:nvPr/>
        </p:nvSpPr>
        <p:spPr>
          <a:xfrm rot="0">
            <a:off x="10014109" y="7970520"/>
            <a:ext cx="6893719" cy="472440"/>
          </a:xfrm>
          <a:prstGeom prst="rect">
            <a:avLst/>
          </a:prstGeom>
        </p:spPr>
        <p:txBody>
          <a:bodyPr anchor="t" rtlCol="false" tIns="0" lIns="0" bIns="0" rIns="0">
            <a:spAutoFit/>
          </a:bodyPr>
          <a:lstStyle/>
          <a:p>
            <a:pPr algn="l">
              <a:lnSpc>
                <a:spcPts val="3120"/>
              </a:lnSpc>
            </a:pPr>
            <a:r>
              <a:rPr lang="en-US" sz="2400">
                <a:solidFill>
                  <a:srgbClr val="15171E"/>
                </a:solidFill>
                <a:latin typeface="Arial"/>
                <a:ea typeface="Arial"/>
                <a:cs typeface="Arial"/>
                <a:sym typeface="Arial"/>
              </a:rPr>
              <a:t>Gửi token thật và token đã bị sửa</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7F6F2"/>
        </a:solidFill>
      </p:bgPr>
    </p:bg>
    <p:spTree>
      <p:nvGrpSpPr>
        <p:cNvPr id="1" name=""/>
        <p:cNvGrpSpPr/>
        <p:nvPr/>
      </p:nvGrpSpPr>
      <p:grpSpPr>
        <a:xfrm>
          <a:off x="0" y="0"/>
          <a:ext cx="0" cy="0"/>
          <a:chOff x="0" y="0"/>
          <a:chExt cx="0" cy="0"/>
        </a:xfrm>
      </p:grpSpPr>
      <p:sp>
        <p:nvSpPr>
          <p:cNvPr name="TextBox 2" id="2"/>
          <p:cNvSpPr txBox="true"/>
          <p:nvPr/>
        </p:nvSpPr>
        <p:spPr>
          <a:xfrm rot="0">
            <a:off x="1219200" y="1162050"/>
            <a:ext cx="16325088" cy="415290"/>
          </a:xfrm>
          <a:prstGeom prst="rect">
            <a:avLst/>
          </a:prstGeom>
        </p:spPr>
        <p:txBody>
          <a:bodyPr anchor="t" rtlCol="false" tIns="0" lIns="0" bIns="0" rIns="0">
            <a:spAutoFit/>
          </a:bodyPr>
          <a:lstStyle/>
          <a:p>
            <a:pPr algn="l">
              <a:lnSpc>
                <a:spcPts val="2520"/>
              </a:lnSpc>
            </a:pPr>
            <a:r>
              <a:rPr lang="en-US" b="true" sz="1800" spc="225">
                <a:solidFill>
                  <a:srgbClr val="8F5300"/>
                </a:solidFill>
                <a:latin typeface="Arial Bold"/>
                <a:ea typeface="Arial Bold"/>
                <a:cs typeface="Arial Bold"/>
                <a:sym typeface="Arial Bold"/>
              </a:rPr>
              <a:t>PHẦN 2 · PHƯƠNG THỨC XÁC THỰC</a:t>
            </a:r>
          </a:p>
        </p:txBody>
      </p:sp>
      <p:sp>
        <p:nvSpPr>
          <p:cNvPr name="TextBox 3" id="3"/>
          <p:cNvSpPr txBox="true"/>
          <p:nvPr/>
        </p:nvSpPr>
        <p:spPr>
          <a:xfrm rot="0">
            <a:off x="1219200" y="1710690"/>
            <a:ext cx="16325088" cy="773430"/>
          </a:xfrm>
          <a:prstGeom prst="rect">
            <a:avLst/>
          </a:prstGeom>
        </p:spPr>
        <p:txBody>
          <a:bodyPr anchor="t" rtlCol="false" tIns="0" lIns="0" bIns="0" rIns="0">
            <a:spAutoFit/>
          </a:bodyPr>
          <a:lstStyle/>
          <a:p>
            <a:pPr algn="l">
              <a:lnSpc>
                <a:spcPts val="5940"/>
              </a:lnSpc>
            </a:pPr>
            <a:r>
              <a:rPr lang="en-US" sz="5400" b="true">
                <a:solidFill>
                  <a:srgbClr val="1B1D24"/>
                </a:solidFill>
                <a:latin typeface="Arial Bold"/>
                <a:ea typeface="Arial Bold"/>
                <a:cs typeface="Arial Bold"/>
                <a:sym typeface="Arial Bold"/>
              </a:rPr>
              <a:t>Hai cách đăng nhập · Một loại token</a:t>
            </a:r>
          </a:p>
        </p:txBody>
      </p:sp>
      <p:grpSp>
        <p:nvGrpSpPr>
          <p:cNvPr name="Group 4" id="4"/>
          <p:cNvGrpSpPr/>
          <p:nvPr/>
        </p:nvGrpSpPr>
        <p:grpSpPr>
          <a:xfrm rot="0">
            <a:off x="1219200" y="2827020"/>
            <a:ext cx="5120640" cy="3749040"/>
            <a:chOff x="0" y="0"/>
            <a:chExt cx="6827520" cy="4998720"/>
          </a:xfrm>
        </p:grpSpPr>
        <p:sp>
          <p:nvSpPr>
            <p:cNvPr name="Freeform 5" id="5"/>
            <p:cNvSpPr/>
            <p:nvPr/>
          </p:nvSpPr>
          <p:spPr>
            <a:xfrm flipH="false" flipV="false" rot="0">
              <a:off x="0" y="0"/>
              <a:ext cx="6827520" cy="4998720"/>
            </a:xfrm>
            <a:custGeom>
              <a:avLst/>
              <a:gdLst/>
              <a:ahLst/>
              <a:cxnLst/>
              <a:rect r="r" b="b" t="t" l="l"/>
              <a:pathLst>
                <a:path h="4998720" w="6827520">
                  <a:moveTo>
                    <a:pt x="0" y="304800"/>
                  </a:moveTo>
                  <a:cubicBezTo>
                    <a:pt x="0" y="136525"/>
                    <a:pt x="136525" y="0"/>
                    <a:pt x="304800" y="0"/>
                  </a:cubicBezTo>
                  <a:lnTo>
                    <a:pt x="6522720" y="0"/>
                  </a:lnTo>
                  <a:cubicBezTo>
                    <a:pt x="6691122" y="0"/>
                    <a:pt x="6827520" y="136525"/>
                    <a:pt x="6827520" y="304800"/>
                  </a:cubicBezTo>
                  <a:lnTo>
                    <a:pt x="6827520" y="4693920"/>
                  </a:lnTo>
                  <a:cubicBezTo>
                    <a:pt x="6827520" y="4862322"/>
                    <a:pt x="6690995" y="4998720"/>
                    <a:pt x="6522720" y="4998720"/>
                  </a:cubicBezTo>
                  <a:lnTo>
                    <a:pt x="304800" y="4998720"/>
                  </a:lnTo>
                  <a:cubicBezTo>
                    <a:pt x="136398" y="4998720"/>
                    <a:pt x="0" y="4862195"/>
                    <a:pt x="0" y="4693920"/>
                  </a:cubicBezTo>
                  <a:close/>
                </a:path>
              </a:pathLst>
            </a:custGeom>
            <a:solidFill>
              <a:srgbClr val="15171E"/>
            </a:solidFill>
          </p:spPr>
        </p:sp>
      </p:grpSp>
      <p:grpSp>
        <p:nvGrpSpPr>
          <p:cNvPr name="Group 6" id="6"/>
          <p:cNvGrpSpPr/>
          <p:nvPr/>
        </p:nvGrpSpPr>
        <p:grpSpPr>
          <a:xfrm rot="0">
            <a:off x="1600200" y="3208020"/>
            <a:ext cx="533400" cy="533400"/>
            <a:chOff x="0" y="0"/>
            <a:chExt cx="711200" cy="711200"/>
          </a:xfrm>
        </p:grpSpPr>
        <p:sp>
          <p:nvSpPr>
            <p:cNvPr name="Freeform 7" id="7" descr="Lock"/>
            <p:cNvSpPr/>
            <p:nvPr/>
          </p:nvSpPr>
          <p:spPr>
            <a:xfrm flipH="false" flipV="false" rot="0">
              <a:off x="0" y="0"/>
              <a:ext cx="711200" cy="711200"/>
            </a:xfrm>
            <a:custGeom>
              <a:avLst/>
              <a:gdLst/>
              <a:ahLst/>
              <a:cxnLst/>
              <a:rect r="r" b="b" t="t" l="l"/>
              <a:pathLst>
                <a:path h="711200" w="711200">
                  <a:moveTo>
                    <a:pt x="0" y="0"/>
                  </a:moveTo>
                  <a:lnTo>
                    <a:pt x="711200" y="0"/>
                  </a:lnTo>
                  <a:lnTo>
                    <a:pt x="711200" y="711200"/>
                  </a:lnTo>
                  <a:lnTo>
                    <a:pt x="0" y="711200"/>
                  </a:lnTo>
                  <a:lnTo>
                    <a:pt x="0" y="0"/>
                  </a:lnTo>
                  <a:close/>
                </a:path>
              </a:pathLst>
            </a:custGeom>
            <a:blipFill>
              <a:blip r:embed="rId3"/>
              <a:stretch>
                <a:fillRect l="0" t="0" r="0" b="0"/>
              </a:stretch>
            </a:blipFill>
          </p:spPr>
        </p:sp>
      </p:grpSp>
      <p:sp>
        <p:nvSpPr>
          <p:cNvPr name="TextBox 8" id="8"/>
          <p:cNvSpPr txBox="true"/>
          <p:nvPr/>
        </p:nvSpPr>
        <p:spPr>
          <a:xfrm rot="0">
            <a:off x="1600200" y="3865245"/>
            <a:ext cx="4489399" cy="569595"/>
          </a:xfrm>
          <a:prstGeom prst="rect">
            <a:avLst/>
          </a:prstGeom>
        </p:spPr>
        <p:txBody>
          <a:bodyPr anchor="t" rtlCol="false" tIns="0" lIns="0" bIns="0" rIns="0">
            <a:spAutoFit/>
          </a:bodyPr>
          <a:lstStyle/>
          <a:p>
            <a:pPr algn="l">
              <a:lnSpc>
                <a:spcPts val="3960"/>
              </a:lnSpc>
            </a:pPr>
            <a:r>
              <a:rPr lang="en-US" sz="3300" b="true">
                <a:solidFill>
                  <a:srgbClr val="F2F0EA"/>
                </a:solidFill>
                <a:latin typeface="Arial Bold"/>
                <a:ea typeface="Arial Bold"/>
                <a:cs typeface="Arial Bold"/>
                <a:sym typeface="Arial Bold"/>
              </a:rPr>
              <a:t>Email/Password</a:t>
            </a:r>
          </a:p>
        </p:txBody>
      </p:sp>
      <p:sp>
        <p:nvSpPr>
          <p:cNvPr name="TextBox 9" id="9"/>
          <p:cNvSpPr txBox="true"/>
          <p:nvPr/>
        </p:nvSpPr>
        <p:spPr>
          <a:xfrm rot="0">
            <a:off x="1600200" y="4501515"/>
            <a:ext cx="4489399" cy="1731645"/>
          </a:xfrm>
          <a:prstGeom prst="rect">
            <a:avLst/>
          </a:prstGeom>
        </p:spPr>
        <p:txBody>
          <a:bodyPr anchor="t" rtlCol="false" tIns="0" lIns="0" bIns="0" rIns="0">
            <a:spAutoFit/>
          </a:bodyPr>
          <a:lstStyle/>
          <a:p>
            <a:pPr algn="l">
              <a:lnSpc>
                <a:spcPts val="3240"/>
              </a:lnSpc>
            </a:pPr>
            <a:r>
              <a:rPr lang="en-US" sz="2400">
                <a:solidFill>
                  <a:srgbClr val="C3C6CF"/>
                </a:solidFill>
                <a:latin typeface="Arial"/>
                <a:ea typeface="Arial"/>
                <a:cs typeface="Arial"/>
                <a:sym typeface="Arial"/>
              </a:rPr>
              <a:t>Đăng ký, xác minh email và đặt lại mật khẩu.</a:t>
            </a:r>
          </a:p>
        </p:txBody>
      </p:sp>
      <p:grpSp>
        <p:nvGrpSpPr>
          <p:cNvPr name="Group 10" id="10"/>
          <p:cNvGrpSpPr/>
          <p:nvPr/>
        </p:nvGrpSpPr>
        <p:grpSpPr>
          <a:xfrm rot="0">
            <a:off x="6568440" y="2827020"/>
            <a:ext cx="5135880" cy="3749040"/>
            <a:chOff x="0" y="0"/>
            <a:chExt cx="6847840" cy="4998720"/>
          </a:xfrm>
        </p:grpSpPr>
        <p:sp>
          <p:nvSpPr>
            <p:cNvPr name="Freeform 11" id="11"/>
            <p:cNvSpPr/>
            <p:nvPr/>
          </p:nvSpPr>
          <p:spPr>
            <a:xfrm flipH="false" flipV="false" rot="0">
              <a:off x="0" y="0"/>
              <a:ext cx="6847840" cy="4998720"/>
            </a:xfrm>
            <a:custGeom>
              <a:avLst/>
              <a:gdLst/>
              <a:ahLst/>
              <a:cxnLst/>
              <a:rect r="r" b="b" t="t" l="l"/>
              <a:pathLst>
                <a:path h="4998720" w="6847840">
                  <a:moveTo>
                    <a:pt x="0" y="299212"/>
                  </a:moveTo>
                  <a:cubicBezTo>
                    <a:pt x="0" y="133985"/>
                    <a:pt x="133985" y="0"/>
                    <a:pt x="299212" y="0"/>
                  </a:cubicBezTo>
                  <a:lnTo>
                    <a:pt x="6548628" y="0"/>
                  </a:lnTo>
                  <a:cubicBezTo>
                    <a:pt x="6713855" y="0"/>
                    <a:pt x="6847840" y="133985"/>
                    <a:pt x="6847840" y="299212"/>
                  </a:cubicBezTo>
                  <a:lnTo>
                    <a:pt x="6847840" y="4699508"/>
                  </a:lnTo>
                  <a:cubicBezTo>
                    <a:pt x="6847840" y="4864735"/>
                    <a:pt x="6713855" y="4998720"/>
                    <a:pt x="6548628" y="4998720"/>
                  </a:cubicBezTo>
                  <a:lnTo>
                    <a:pt x="299212" y="4998720"/>
                  </a:lnTo>
                  <a:cubicBezTo>
                    <a:pt x="133985" y="4998720"/>
                    <a:pt x="0" y="4864735"/>
                    <a:pt x="0" y="4699508"/>
                  </a:cubicBezTo>
                  <a:close/>
                </a:path>
              </a:pathLst>
            </a:custGeom>
            <a:solidFill>
              <a:srgbClr val="FFFEFB"/>
            </a:solidFill>
            <a:ln w="9525" cap="sq">
              <a:solidFill>
                <a:srgbClr val="E2DED3"/>
              </a:solidFill>
              <a:prstDash val="solid"/>
              <a:miter/>
            </a:ln>
          </p:spPr>
        </p:sp>
      </p:grpSp>
      <p:grpSp>
        <p:nvGrpSpPr>
          <p:cNvPr name="Group 12" id="12"/>
          <p:cNvGrpSpPr/>
          <p:nvPr/>
        </p:nvGrpSpPr>
        <p:grpSpPr>
          <a:xfrm rot="0">
            <a:off x="6957060" y="3215640"/>
            <a:ext cx="533400" cy="533400"/>
            <a:chOff x="0" y="0"/>
            <a:chExt cx="711200" cy="711200"/>
          </a:xfrm>
        </p:grpSpPr>
        <p:sp>
          <p:nvSpPr>
            <p:cNvPr name="Freeform 13" id="13" descr="Globe"/>
            <p:cNvSpPr/>
            <p:nvPr/>
          </p:nvSpPr>
          <p:spPr>
            <a:xfrm flipH="false" flipV="false" rot="0">
              <a:off x="0" y="0"/>
              <a:ext cx="711200" cy="711200"/>
            </a:xfrm>
            <a:custGeom>
              <a:avLst/>
              <a:gdLst/>
              <a:ahLst/>
              <a:cxnLst/>
              <a:rect r="r" b="b" t="t" l="l"/>
              <a:pathLst>
                <a:path h="711200" w="711200">
                  <a:moveTo>
                    <a:pt x="0" y="0"/>
                  </a:moveTo>
                  <a:lnTo>
                    <a:pt x="711200" y="0"/>
                  </a:lnTo>
                  <a:lnTo>
                    <a:pt x="711200" y="711200"/>
                  </a:lnTo>
                  <a:lnTo>
                    <a:pt x="0" y="711200"/>
                  </a:lnTo>
                  <a:lnTo>
                    <a:pt x="0" y="0"/>
                  </a:lnTo>
                  <a:close/>
                </a:path>
              </a:pathLst>
            </a:custGeom>
            <a:blipFill>
              <a:blip r:embed="rId4"/>
              <a:stretch>
                <a:fillRect l="0" t="0" r="0" b="0"/>
              </a:stretch>
            </a:blipFill>
          </p:spPr>
        </p:sp>
      </p:grpSp>
      <p:sp>
        <p:nvSpPr>
          <p:cNvPr name="TextBox 14" id="14"/>
          <p:cNvSpPr txBox="true"/>
          <p:nvPr/>
        </p:nvSpPr>
        <p:spPr>
          <a:xfrm rot="0">
            <a:off x="6957060" y="3872865"/>
            <a:ext cx="4489399" cy="569595"/>
          </a:xfrm>
          <a:prstGeom prst="rect">
            <a:avLst/>
          </a:prstGeom>
        </p:spPr>
        <p:txBody>
          <a:bodyPr anchor="t" rtlCol="false" tIns="0" lIns="0" bIns="0" rIns="0">
            <a:spAutoFit/>
          </a:bodyPr>
          <a:lstStyle/>
          <a:p>
            <a:pPr algn="l">
              <a:lnSpc>
                <a:spcPts val="3960"/>
              </a:lnSpc>
            </a:pPr>
            <a:r>
              <a:rPr lang="en-US" sz="3300" b="true">
                <a:solidFill>
                  <a:srgbClr val="1B1D24"/>
                </a:solidFill>
                <a:latin typeface="Arial Bold"/>
                <a:ea typeface="Arial Bold"/>
                <a:cs typeface="Arial Bold"/>
                <a:sym typeface="Arial Bold"/>
              </a:rPr>
              <a:t>Google Sign-In</a:t>
            </a:r>
          </a:p>
        </p:txBody>
      </p:sp>
      <p:sp>
        <p:nvSpPr>
          <p:cNvPr name="TextBox 15" id="15"/>
          <p:cNvSpPr txBox="true"/>
          <p:nvPr/>
        </p:nvSpPr>
        <p:spPr>
          <a:xfrm rot="0">
            <a:off x="6957060" y="4509135"/>
            <a:ext cx="4489399" cy="908685"/>
          </a:xfrm>
          <a:prstGeom prst="rect">
            <a:avLst/>
          </a:prstGeom>
        </p:spPr>
        <p:txBody>
          <a:bodyPr anchor="t" rtlCol="false" tIns="0" lIns="0" bIns="0" rIns="0">
            <a:spAutoFit/>
          </a:bodyPr>
          <a:lstStyle/>
          <a:p>
            <a:pPr algn="l">
              <a:lnSpc>
                <a:spcPts val="3240"/>
              </a:lnSpc>
            </a:pPr>
            <a:r>
              <a:rPr lang="en-US" sz="2400">
                <a:solidFill>
                  <a:srgbClr val="50566A"/>
                </a:solidFill>
                <a:latin typeface="Arial"/>
                <a:ea typeface="Arial"/>
                <a:cs typeface="Arial"/>
                <a:sym typeface="Arial"/>
              </a:rPr>
              <a:t>Đăng nhập bằng tài khoản Google.</a:t>
            </a:r>
          </a:p>
        </p:txBody>
      </p:sp>
      <p:grpSp>
        <p:nvGrpSpPr>
          <p:cNvPr name="Group 16" id="16"/>
          <p:cNvGrpSpPr/>
          <p:nvPr/>
        </p:nvGrpSpPr>
        <p:grpSpPr>
          <a:xfrm rot="0">
            <a:off x="11932920" y="2827020"/>
            <a:ext cx="5135880" cy="3749040"/>
            <a:chOff x="0" y="0"/>
            <a:chExt cx="6847840" cy="4998720"/>
          </a:xfrm>
        </p:grpSpPr>
        <p:sp>
          <p:nvSpPr>
            <p:cNvPr name="Freeform 17" id="17"/>
            <p:cNvSpPr/>
            <p:nvPr/>
          </p:nvSpPr>
          <p:spPr>
            <a:xfrm flipH="false" flipV="false" rot="0">
              <a:off x="0" y="0"/>
              <a:ext cx="6847840" cy="4998720"/>
            </a:xfrm>
            <a:custGeom>
              <a:avLst/>
              <a:gdLst/>
              <a:ahLst/>
              <a:cxnLst/>
              <a:rect r="r" b="b" t="t" l="l"/>
              <a:pathLst>
                <a:path h="4998720" w="6847840">
                  <a:moveTo>
                    <a:pt x="0" y="299212"/>
                  </a:moveTo>
                  <a:cubicBezTo>
                    <a:pt x="0" y="133985"/>
                    <a:pt x="133985" y="0"/>
                    <a:pt x="299212" y="0"/>
                  </a:cubicBezTo>
                  <a:lnTo>
                    <a:pt x="6548628" y="0"/>
                  </a:lnTo>
                  <a:cubicBezTo>
                    <a:pt x="6713855" y="0"/>
                    <a:pt x="6847840" y="133985"/>
                    <a:pt x="6847840" y="299212"/>
                  </a:cubicBezTo>
                  <a:lnTo>
                    <a:pt x="6847840" y="4699508"/>
                  </a:lnTo>
                  <a:cubicBezTo>
                    <a:pt x="6847840" y="4864735"/>
                    <a:pt x="6713855" y="4998720"/>
                    <a:pt x="6548628" y="4998720"/>
                  </a:cubicBezTo>
                  <a:lnTo>
                    <a:pt x="299212" y="4998720"/>
                  </a:lnTo>
                  <a:cubicBezTo>
                    <a:pt x="133985" y="4998720"/>
                    <a:pt x="0" y="4864735"/>
                    <a:pt x="0" y="4699508"/>
                  </a:cubicBezTo>
                  <a:close/>
                </a:path>
              </a:pathLst>
            </a:custGeom>
            <a:solidFill>
              <a:srgbClr val="FFFEFB"/>
            </a:solidFill>
            <a:ln w="9525" cap="sq">
              <a:solidFill>
                <a:srgbClr val="E2DED3"/>
              </a:solidFill>
              <a:prstDash val="solid"/>
              <a:miter/>
            </a:ln>
          </p:spPr>
        </p:sp>
      </p:grpSp>
      <p:grpSp>
        <p:nvGrpSpPr>
          <p:cNvPr name="Group 18" id="18"/>
          <p:cNvGrpSpPr/>
          <p:nvPr/>
        </p:nvGrpSpPr>
        <p:grpSpPr>
          <a:xfrm rot="0">
            <a:off x="12321540" y="3215640"/>
            <a:ext cx="533400" cy="533400"/>
            <a:chOff x="0" y="0"/>
            <a:chExt cx="711200" cy="711200"/>
          </a:xfrm>
        </p:grpSpPr>
        <p:sp>
          <p:nvSpPr>
            <p:cNvPr name="Freeform 19" id="19" descr="Verified"/>
            <p:cNvSpPr/>
            <p:nvPr/>
          </p:nvSpPr>
          <p:spPr>
            <a:xfrm flipH="false" flipV="false" rot="0">
              <a:off x="0" y="0"/>
              <a:ext cx="711200" cy="711200"/>
            </a:xfrm>
            <a:custGeom>
              <a:avLst/>
              <a:gdLst/>
              <a:ahLst/>
              <a:cxnLst/>
              <a:rect r="r" b="b" t="t" l="l"/>
              <a:pathLst>
                <a:path h="711200" w="711200">
                  <a:moveTo>
                    <a:pt x="0" y="0"/>
                  </a:moveTo>
                  <a:lnTo>
                    <a:pt x="711200" y="0"/>
                  </a:lnTo>
                  <a:lnTo>
                    <a:pt x="711200" y="711200"/>
                  </a:lnTo>
                  <a:lnTo>
                    <a:pt x="0" y="711200"/>
                  </a:lnTo>
                  <a:lnTo>
                    <a:pt x="0" y="0"/>
                  </a:lnTo>
                  <a:close/>
                </a:path>
              </a:pathLst>
            </a:custGeom>
            <a:blipFill>
              <a:blip r:embed="rId5"/>
              <a:stretch>
                <a:fillRect l="0" t="0" r="0" b="0"/>
              </a:stretch>
            </a:blipFill>
          </p:spPr>
        </p:sp>
      </p:grpSp>
      <p:sp>
        <p:nvSpPr>
          <p:cNvPr name="TextBox 20" id="20"/>
          <p:cNvSpPr txBox="true"/>
          <p:nvPr/>
        </p:nvSpPr>
        <p:spPr>
          <a:xfrm rot="0">
            <a:off x="12321540" y="3872865"/>
            <a:ext cx="4489399" cy="569595"/>
          </a:xfrm>
          <a:prstGeom prst="rect">
            <a:avLst/>
          </a:prstGeom>
        </p:spPr>
        <p:txBody>
          <a:bodyPr anchor="t" rtlCol="false" tIns="0" lIns="0" bIns="0" rIns="0">
            <a:spAutoFit/>
          </a:bodyPr>
          <a:lstStyle/>
          <a:p>
            <a:pPr algn="l">
              <a:lnSpc>
                <a:spcPts val="3960"/>
              </a:lnSpc>
            </a:pPr>
            <a:r>
              <a:rPr lang="en-US" sz="3300" b="true">
                <a:solidFill>
                  <a:srgbClr val="1B1D24"/>
                </a:solidFill>
                <a:latin typeface="Arial Bold"/>
                <a:ea typeface="Arial Bold"/>
                <a:cs typeface="Arial Bold"/>
                <a:sym typeface="Arial Bold"/>
              </a:rPr>
              <a:t>JWT</a:t>
            </a:r>
          </a:p>
        </p:txBody>
      </p:sp>
      <p:sp>
        <p:nvSpPr>
          <p:cNvPr name="TextBox 21" id="21"/>
          <p:cNvSpPr txBox="true"/>
          <p:nvPr/>
        </p:nvSpPr>
        <p:spPr>
          <a:xfrm rot="0">
            <a:off x="12321540" y="4509135"/>
            <a:ext cx="4489399" cy="1320165"/>
          </a:xfrm>
          <a:prstGeom prst="rect">
            <a:avLst/>
          </a:prstGeom>
        </p:spPr>
        <p:txBody>
          <a:bodyPr anchor="t" rtlCol="false" tIns="0" lIns="0" bIns="0" rIns="0">
            <a:spAutoFit/>
          </a:bodyPr>
          <a:lstStyle/>
          <a:p>
            <a:pPr algn="l">
              <a:lnSpc>
                <a:spcPts val="3240"/>
              </a:lnSpc>
            </a:pPr>
            <a:r>
              <a:rPr lang="en-US" sz="2400">
                <a:solidFill>
                  <a:srgbClr val="50566A"/>
                </a:solidFill>
                <a:latin typeface="Arial"/>
                <a:ea typeface="Arial"/>
                <a:cs typeface="Arial"/>
                <a:sym typeface="Arial"/>
              </a:rPr>
              <a:t>ID Token (JWT) được gửi để backend xác minh người dùng.</a:t>
            </a:r>
          </a:p>
        </p:txBody>
      </p:sp>
      <p:sp>
        <p:nvSpPr>
          <p:cNvPr name="AutoShape 22" id="22"/>
          <p:cNvSpPr/>
          <p:nvPr/>
        </p:nvSpPr>
        <p:spPr>
          <a:xfrm rot="4140">
            <a:off x="1209665" y="7662862"/>
            <a:ext cx="15868660" cy="0"/>
          </a:xfrm>
          <a:prstGeom prst="line">
            <a:avLst/>
          </a:prstGeom>
          <a:ln cap="rnd" w="9525">
            <a:solidFill>
              <a:srgbClr val="E2DED3"/>
            </a:solidFill>
            <a:prstDash val="solid"/>
            <a:headEnd type="none" len="sm" w="sm"/>
            <a:tailEnd type="none" len="sm" w="sm"/>
          </a:ln>
        </p:spPr>
      </p:sp>
      <p:sp>
        <p:nvSpPr>
          <p:cNvPr name="TextBox 23" id="23"/>
          <p:cNvSpPr txBox="true"/>
          <p:nvPr/>
        </p:nvSpPr>
        <p:spPr>
          <a:xfrm rot="0">
            <a:off x="1219200" y="7882890"/>
            <a:ext cx="16325088" cy="415290"/>
          </a:xfrm>
          <a:prstGeom prst="rect">
            <a:avLst/>
          </a:prstGeom>
        </p:spPr>
        <p:txBody>
          <a:bodyPr anchor="t" rtlCol="false" tIns="0" lIns="0" bIns="0" rIns="0">
            <a:spAutoFit/>
          </a:bodyPr>
          <a:lstStyle/>
          <a:p>
            <a:pPr algn="l">
              <a:lnSpc>
                <a:spcPts val="2520"/>
              </a:lnSpc>
            </a:pPr>
            <a:r>
              <a:rPr lang="en-US" b="true" sz="1800" spc="225">
                <a:solidFill>
                  <a:srgbClr val="6B7080"/>
                </a:solidFill>
                <a:latin typeface="Arial Bold"/>
                <a:ea typeface="Arial Bold"/>
                <a:cs typeface="Arial Bold"/>
                <a:sym typeface="Arial Bold"/>
              </a:rPr>
              <a:t>LƯU Ý</a:t>
            </a:r>
          </a:p>
        </p:txBody>
      </p:sp>
      <p:sp>
        <p:nvSpPr>
          <p:cNvPr name="TextBox 24" id="24"/>
          <p:cNvSpPr txBox="true"/>
          <p:nvPr/>
        </p:nvSpPr>
        <p:spPr>
          <a:xfrm rot="0">
            <a:off x="1219200" y="8279130"/>
            <a:ext cx="16325088" cy="521970"/>
          </a:xfrm>
          <a:prstGeom prst="rect">
            <a:avLst/>
          </a:prstGeom>
        </p:spPr>
        <p:txBody>
          <a:bodyPr anchor="t" rtlCol="false" tIns="0" lIns="0" bIns="0" rIns="0">
            <a:spAutoFit/>
          </a:bodyPr>
          <a:lstStyle/>
          <a:p>
            <a:pPr algn="l">
              <a:lnSpc>
                <a:spcPts val="3359"/>
              </a:lnSpc>
            </a:pPr>
            <a:r>
              <a:rPr lang="en-US" sz="2400">
                <a:solidFill>
                  <a:srgbClr val="50566A"/>
                </a:solidFill>
                <a:latin typeface="Arial"/>
                <a:ea typeface="Arial"/>
                <a:cs typeface="Arial"/>
                <a:sym typeface="Arial"/>
              </a:rPr>
              <a:t>JWT là token xác thực, không phải phương thức đăng nhập.</a:t>
            </a:r>
          </a:p>
        </p:txBody>
      </p:sp>
      <p:sp>
        <p:nvSpPr>
          <p:cNvPr name="TextBox 25" id="25"/>
          <p:cNvSpPr txBox="true"/>
          <p:nvPr/>
        </p:nvSpPr>
        <p:spPr>
          <a:xfrm rot="0">
            <a:off x="15849600" y="9300210"/>
            <a:ext cx="1219200" cy="415290"/>
          </a:xfrm>
          <a:prstGeom prst="rect">
            <a:avLst/>
          </a:prstGeom>
        </p:spPr>
        <p:txBody>
          <a:bodyPr anchor="t" rtlCol="false" tIns="0" lIns="0" bIns="0" rIns="0">
            <a:spAutoFit/>
          </a:bodyPr>
          <a:lstStyle/>
          <a:p>
            <a:pPr algn="r">
              <a:lnSpc>
                <a:spcPts val="2520"/>
              </a:lnSpc>
            </a:pPr>
            <a:r>
              <a:rPr lang="en-US" sz="1800">
                <a:solidFill>
                  <a:srgbClr val="6B7080"/>
                </a:solidFill>
                <a:latin typeface="Arial"/>
                <a:ea typeface="Arial"/>
                <a:cs typeface="Arial"/>
                <a:sym typeface="Arial"/>
              </a:rPr>
              <a:t>06</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7F6F2"/>
        </a:solidFill>
      </p:bgPr>
    </p:bg>
    <p:spTree>
      <p:nvGrpSpPr>
        <p:cNvPr id="1" name=""/>
        <p:cNvGrpSpPr/>
        <p:nvPr/>
      </p:nvGrpSpPr>
      <p:grpSpPr>
        <a:xfrm>
          <a:off x="0" y="0"/>
          <a:ext cx="0" cy="0"/>
          <a:chOff x="0" y="0"/>
          <a:chExt cx="0" cy="0"/>
        </a:xfrm>
      </p:grpSpPr>
      <p:sp>
        <p:nvSpPr>
          <p:cNvPr name="TextBox 2" id="2"/>
          <p:cNvSpPr txBox="true"/>
          <p:nvPr/>
        </p:nvSpPr>
        <p:spPr>
          <a:xfrm rot="0">
            <a:off x="1219200" y="1162050"/>
            <a:ext cx="16325088" cy="415290"/>
          </a:xfrm>
          <a:prstGeom prst="rect">
            <a:avLst/>
          </a:prstGeom>
        </p:spPr>
        <p:txBody>
          <a:bodyPr anchor="t" rtlCol="false" tIns="0" lIns="0" bIns="0" rIns="0">
            <a:spAutoFit/>
          </a:bodyPr>
          <a:lstStyle/>
          <a:p>
            <a:pPr algn="l">
              <a:lnSpc>
                <a:spcPts val="2520"/>
              </a:lnSpc>
            </a:pPr>
            <a:r>
              <a:rPr lang="en-US" b="true" sz="1800" spc="225">
                <a:solidFill>
                  <a:srgbClr val="8F5300"/>
                </a:solidFill>
                <a:latin typeface="Arial Bold"/>
                <a:ea typeface="Arial Bold"/>
                <a:cs typeface="Arial Bold"/>
                <a:sym typeface="Arial Bold"/>
              </a:rPr>
              <a:t>PHẦN 2 · JWT</a:t>
            </a:r>
          </a:p>
        </p:txBody>
      </p:sp>
      <p:sp>
        <p:nvSpPr>
          <p:cNvPr name="TextBox 3" id="3"/>
          <p:cNvSpPr txBox="true"/>
          <p:nvPr/>
        </p:nvSpPr>
        <p:spPr>
          <a:xfrm rot="0">
            <a:off x="1219200" y="1710700"/>
            <a:ext cx="16325088" cy="773430"/>
          </a:xfrm>
          <a:prstGeom prst="rect">
            <a:avLst/>
          </a:prstGeom>
        </p:spPr>
        <p:txBody>
          <a:bodyPr anchor="t" rtlCol="false" tIns="0" lIns="0" bIns="0" rIns="0">
            <a:spAutoFit/>
          </a:bodyPr>
          <a:lstStyle/>
          <a:p>
            <a:pPr algn="l">
              <a:lnSpc>
                <a:spcPts val="5940"/>
              </a:lnSpc>
            </a:pPr>
            <a:r>
              <a:rPr lang="en-US" sz="5400" b="true">
                <a:solidFill>
                  <a:srgbClr val="1B1D24"/>
                </a:solidFill>
                <a:latin typeface="Arial Bold"/>
                <a:ea typeface="Arial Bold"/>
                <a:cs typeface="Arial Bold"/>
                <a:sym typeface="Arial Bold"/>
              </a:rPr>
              <a:t>Firebase ID Token (JWT) gồm 3 phần</a:t>
            </a:r>
          </a:p>
        </p:txBody>
      </p:sp>
      <p:grpSp>
        <p:nvGrpSpPr>
          <p:cNvPr name="Group 4" id="4"/>
          <p:cNvGrpSpPr/>
          <p:nvPr/>
        </p:nvGrpSpPr>
        <p:grpSpPr>
          <a:xfrm rot="0">
            <a:off x="1219200" y="2827020"/>
            <a:ext cx="15849600" cy="1112520"/>
            <a:chOff x="0" y="0"/>
            <a:chExt cx="21132800" cy="1483360"/>
          </a:xfrm>
        </p:grpSpPr>
        <p:sp>
          <p:nvSpPr>
            <p:cNvPr name="Freeform 5" id="5"/>
            <p:cNvSpPr/>
            <p:nvPr/>
          </p:nvSpPr>
          <p:spPr>
            <a:xfrm flipH="false" flipV="false" rot="0">
              <a:off x="0" y="0"/>
              <a:ext cx="21132800" cy="1483360"/>
            </a:xfrm>
            <a:custGeom>
              <a:avLst/>
              <a:gdLst/>
              <a:ahLst/>
              <a:cxnLst/>
              <a:rect r="r" b="b" t="t" l="l"/>
              <a:pathLst>
                <a:path h="1483360" w="21132800">
                  <a:moveTo>
                    <a:pt x="0" y="254000"/>
                  </a:moveTo>
                  <a:cubicBezTo>
                    <a:pt x="0" y="113665"/>
                    <a:pt x="113665" y="0"/>
                    <a:pt x="254000" y="0"/>
                  </a:cubicBezTo>
                  <a:lnTo>
                    <a:pt x="20878800" y="0"/>
                  </a:lnTo>
                  <a:cubicBezTo>
                    <a:pt x="21019136" y="0"/>
                    <a:pt x="21132800" y="113665"/>
                    <a:pt x="21132800" y="254000"/>
                  </a:cubicBezTo>
                  <a:lnTo>
                    <a:pt x="21132800" y="1229360"/>
                  </a:lnTo>
                  <a:cubicBezTo>
                    <a:pt x="21132800" y="1369695"/>
                    <a:pt x="21019136" y="1483360"/>
                    <a:pt x="20878800" y="1483360"/>
                  </a:cubicBezTo>
                  <a:lnTo>
                    <a:pt x="254000" y="1483360"/>
                  </a:lnTo>
                  <a:cubicBezTo>
                    <a:pt x="113665" y="1483360"/>
                    <a:pt x="0" y="1369695"/>
                    <a:pt x="0" y="1229360"/>
                  </a:cubicBezTo>
                  <a:close/>
                </a:path>
              </a:pathLst>
            </a:custGeom>
            <a:solidFill>
              <a:srgbClr val="15171E"/>
            </a:solidFill>
          </p:spPr>
        </p:sp>
        <p:sp>
          <p:nvSpPr>
            <p:cNvPr name="TextBox 6" id="6"/>
            <p:cNvSpPr txBox="true"/>
            <p:nvPr/>
          </p:nvSpPr>
          <p:spPr>
            <a:xfrm>
              <a:off x="0" y="-57150"/>
              <a:ext cx="21132800" cy="1540510"/>
            </a:xfrm>
            <a:prstGeom prst="rect">
              <a:avLst/>
            </a:prstGeom>
          </p:spPr>
          <p:txBody>
            <a:bodyPr anchor="t" rtlCol="false" tIns="50800" lIns="50800" bIns="50800" rIns="50800"/>
            <a:lstStyle/>
            <a:p>
              <a:pPr algn="l">
                <a:lnSpc>
                  <a:spcPts val="3359"/>
                </a:lnSpc>
              </a:pPr>
              <a:r>
                <a:rPr lang="en-US" sz="2400">
                  <a:solidFill>
                    <a:srgbClr val="FF8A7A"/>
                  </a:solidFill>
                  <a:latin typeface="Courier New"/>
                  <a:ea typeface="Courier New"/>
                  <a:cs typeface="Courier New"/>
                  <a:sym typeface="Courier New"/>
                </a:rPr>
                <a:t>eyJhbGciOiJSUzI1NiIs…</a:t>
              </a:r>
              <a:r>
                <a:rPr lang="en-US" sz="2400">
                  <a:solidFill>
                    <a:srgbClr val="E8E6DF"/>
                  </a:solidFill>
                  <a:latin typeface="Courier New"/>
                  <a:ea typeface="Courier New"/>
                  <a:cs typeface="Courier New"/>
                  <a:sym typeface="Courier New"/>
                </a:rPr>
                <a:t>.</a:t>
              </a:r>
              <a:r>
                <a:rPr lang="en-US" sz="2400">
                  <a:solidFill>
                    <a:srgbClr val="C9A2FF"/>
                  </a:solidFill>
                  <a:latin typeface="Courier New"/>
                  <a:ea typeface="Courier New"/>
                  <a:cs typeface="Courier New"/>
                  <a:sym typeface="Courier New"/>
                </a:rPr>
                <a:t>eyJlbWFpbCI6IjUyM3Yw…</a:t>
              </a:r>
              <a:r>
                <a:rPr lang="en-US" sz="2400">
                  <a:solidFill>
                    <a:srgbClr val="E8E6DF"/>
                  </a:solidFill>
                  <a:latin typeface="Courier New"/>
                  <a:ea typeface="Courier New"/>
                  <a:cs typeface="Courier New"/>
                  <a:sym typeface="Courier New"/>
                </a:rPr>
                <a:t>.</a:t>
              </a:r>
              <a:r>
                <a:rPr lang="en-US" sz="2400">
                  <a:solidFill>
                    <a:srgbClr val="6CC7F5"/>
                  </a:solidFill>
                  <a:latin typeface="Courier New"/>
                  <a:ea typeface="Courier New"/>
                  <a:cs typeface="Courier New"/>
                  <a:sym typeface="Courier New"/>
                </a:rPr>
                <a:t>SflKxwRJSMeKKF2QT4fw…</a:t>
              </a:r>
            </a:p>
          </p:txBody>
        </p:sp>
      </p:grpSp>
      <p:grpSp>
        <p:nvGrpSpPr>
          <p:cNvPr name="Group 7" id="7"/>
          <p:cNvGrpSpPr/>
          <p:nvPr/>
        </p:nvGrpSpPr>
        <p:grpSpPr>
          <a:xfrm rot="0">
            <a:off x="1219200" y="4320550"/>
            <a:ext cx="4600689" cy="1943100"/>
            <a:chOff x="0" y="0"/>
            <a:chExt cx="6134252" cy="2590800"/>
          </a:xfrm>
        </p:grpSpPr>
        <p:sp>
          <p:nvSpPr>
            <p:cNvPr name="Freeform 8" id="8"/>
            <p:cNvSpPr/>
            <p:nvPr/>
          </p:nvSpPr>
          <p:spPr>
            <a:xfrm flipH="false" flipV="false" rot="0">
              <a:off x="0" y="0"/>
              <a:ext cx="6134354" cy="2590800"/>
            </a:xfrm>
            <a:custGeom>
              <a:avLst/>
              <a:gdLst/>
              <a:ahLst/>
              <a:cxnLst/>
              <a:rect r="r" b="b" t="t" l="l"/>
              <a:pathLst>
                <a:path h="2590800" w="6134354">
                  <a:moveTo>
                    <a:pt x="0" y="248920"/>
                  </a:moveTo>
                  <a:cubicBezTo>
                    <a:pt x="0" y="111379"/>
                    <a:pt x="111379" y="0"/>
                    <a:pt x="248920" y="0"/>
                  </a:cubicBezTo>
                  <a:lnTo>
                    <a:pt x="5885434" y="0"/>
                  </a:lnTo>
                  <a:cubicBezTo>
                    <a:pt x="6022848" y="0"/>
                    <a:pt x="6134354" y="111379"/>
                    <a:pt x="6134354" y="248920"/>
                  </a:cubicBezTo>
                  <a:lnTo>
                    <a:pt x="6134354" y="2341880"/>
                  </a:lnTo>
                  <a:cubicBezTo>
                    <a:pt x="6134354" y="2479294"/>
                    <a:pt x="6022975" y="2590800"/>
                    <a:pt x="5885434" y="2590800"/>
                  </a:cubicBezTo>
                  <a:lnTo>
                    <a:pt x="248920" y="2590800"/>
                  </a:lnTo>
                  <a:cubicBezTo>
                    <a:pt x="111379" y="2590800"/>
                    <a:pt x="0" y="2479421"/>
                    <a:pt x="0" y="2341880"/>
                  </a:cubicBezTo>
                  <a:close/>
                </a:path>
              </a:pathLst>
            </a:custGeom>
            <a:solidFill>
              <a:srgbClr val="FFFEFB"/>
            </a:solidFill>
            <a:ln w="9525" cap="sq">
              <a:solidFill>
                <a:srgbClr val="E2DED3"/>
              </a:solidFill>
              <a:prstDash val="solid"/>
              <a:miter/>
            </a:ln>
          </p:spPr>
        </p:sp>
      </p:grpSp>
      <p:sp>
        <p:nvSpPr>
          <p:cNvPr name="TextBox 9" id="9"/>
          <p:cNvSpPr txBox="true"/>
          <p:nvPr/>
        </p:nvSpPr>
        <p:spPr>
          <a:xfrm rot="0">
            <a:off x="1531620" y="4604385"/>
            <a:ext cx="4095131" cy="447675"/>
          </a:xfrm>
          <a:prstGeom prst="rect">
            <a:avLst/>
          </a:prstGeom>
        </p:spPr>
        <p:txBody>
          <a:bodyPr anchor="t" rtlCol="false" tIns="0" lIns="0" bIns="0" rIns="0">
            <a:spAutoFit/>
          </a:bodyPr>
          <a:lstStyle/>
          <a:p>
            <a:pPr algn="l">
              <a:lnSpc>
                <a:spcPts val="3000"/>
              </a:lnSpc>
            </a:pPr>
            <a:r>
              <a:rPr lang="en-US" sz="2400" b="true">
                <a:solidFill>
                  <a:srgbClr val="1B1D24"/>
                </a:solidFill>
                <a:latin typeface="Arial Bold"/>
                <a:ea typeface="Arial Bold"/>
                <a:cs typeface="Arial Bold"/>
                <a:sym typeface="Arial Bold"/>
              </a:rPr>
              <a:t>Header</a:t>
            </a:r>
          </a:p>
        </p:txBody>
      </p:sp>
      <p:sp>
        <p:nvSpPr>
          <p:cNvPr name="TextBox 10" id="10"/>
          <p:cNvSpPr txBox="true"/>
          <p:nvPr/>
        </p:nvSpPr>
        <p:spPr>
          <a:xfrm rot="0">
            <a:off x="1531620" y="5080635"/>
            <a:ext cx="4095131" cy="497205"/>
          </a:xfrm>
          <a:prstGeom prst="rect">
            <a:avLst/>
          </a:prstGeom>
        </p:spPr>
        <p:txBody>
          <a:bodyPr anchor="t" rtlCol="false" tIns="0" lIns="0" bIns="0" rIns="0">
            <a:spAutoFit/>
          </a:bodyPr>
          <a:lstStyle/>
          <a:p>
            <a:pPr algn="l">
              <a:lnSpc>
                <a:spcPts val="3240"/>
              </a:lnSpc>
            </a:pPr>
            <a:r>
              <a:rPr lang="en-US" sz="2400">
                <a:solidFill>
                  <a:srgbClr val="50566A"/>
                </a:solidFill>
                <a:latin typeface="Arial"/>
                <a:ea typeface="Arial"/>
                <a:cs typeface="Arial"/>
                <a:sym typeface="Arial"/>
              </a:rPr>
              <a:t>Thuật toán: RS256</a:t>
            </a:r>
          </a:p>
        </p:txBody>
      </p:sp>
      <p:grpSp>
        <p:nvGrpSpPr>
          <p:cNvPr name="Group 11" id="11"/>
          <p:cNvGrpSpPr/>
          <p:nvPr/>
        </p:nvGrpSpPr>
        <p:grpSpPr>
          <a:xfrm rot="0">
            <a:off x="6048489" y="4320550"/>
            <a:ext cx="6191012" cy="1943100"/>
            <a:chOff x="0" y="0"/>
            <a:chExt cx="8254682" cy="2590800"/>
          </a:xfrm>
        </p:grpSpPr>
        <p:sp>
          <p:nvSpPr>
            <p:cNvPr name="Freeform 12" id="12"/>
            <p:cNvSpPr/>
            <p:nvPr/>
          </p:nvSpPr>
          <p:spPr>
            <a:xfrm flipH="false" flipV="false" rot="0">
              <a:off x="0" y="0"/>
              <a:ext cx="8254746" cy="2590800"/>
            </a:xfrm>
            <a:custGeom>
              <a:avLst/>
              <a:gdLst/>
              <a:ahLst/>
              <a:cxnLst/>
              <a:rect r="r" b="b" t="t" l="l"/>
              <a:pathLst>
                <a:path h="2590800" w="8254746">
                  <a:moveTo>
                    <a:pt x="0" y="248920"/>
                  </a:moveTo>
                  <a:cubicBezTo>
                    <a:pt x="0" y="111379"/>
                    <a:pt x="111379" y="0"/>
                    <a:pt x="248920" y="0"/>
                  </a:cubicBezTo>
                  <a:lnTo>
                    <a:pt x="8005826" y="0"/>
                  </a:lnTo>
                  <a:cubicBezTo>
                    <a:pt x="8143240" y="0"/>
                    <a:pt x="8254746" y="111379"/>
                    <a:pt x="8254746" y="248920"/>
                  </a:cubicBezTo>
                  <a:lnTo>
                    <a:pt x="8254746" y="2341880"/>
                  </a:lnTo>
                  <a:cubicBezTo>
                    <a:pt x="8254746" y="2479294"/>
                    <a:pt x="8143367" y="2590800"/>
                    <a:pt x="8005826" y="2590800"/>
                  </a:cubicBezTo>
                  <a:lnTo>
                    <a:pt x="248920" y="2590800"/>
                  </a:lnTo>
                  <a:cubicBezTo>
                    <a:pt x="111379" y="2590800"/>
                    <a:pt x="0" y="2479421"/>
                    <a:pt x="0" y="2341880"/>
                  </a:cubicBezTo>
                  <a:close/>
                </a:path>
              </a:pathLst>
            </a:custGeom>
            <a:solidFill>
              <a:srgbClr val="FFFEFB"/>
            </a:solidFill>
            <a:ln w="9525" cap="sq">
              <a:solidFill>
                <a:srgbClr val="E2DED3"/>
              </a:solidFill>
              <a:prstDash val="solid"/>
              <a:miter/>
            </a:ln>
          </p:spPr>
        </p:sp>
      </p:grpSp>
      <p:sp>
        <p:nvSpPr>
          <p:cNvPr name="TextBox 13" id="13"/>
          <p:cNvSpPr txBox="true"/>
          <p:nvPr/>
        </p:nvSpPr>
        <p:spPr>
          <a:xfrm rot="0">
            <a:off x="6360909" y="4604385"/>
            <a:ext cx="5733155" cy="447675"/>
          </a:xfrm>
          <a:prstGeom prst="rect">
            <a:avLst/>
          </a:prstGeom>
        </p:spPr>
        <p:txBody>
          <a:bodyPr anchor="t" rtlCol="false" tIns="0" lIns="0" bIns="0" rIns="0">
            <a:spAutoFit/>
          </a:bodyPr>
          <a:lstStyle/>
          <a:p>
            <a:pPr algn="l">
              <a:lnSpc>
                <a:spcPts val="3000"/>
              </a:lnSpc>
            </a:pPr>
            <a:r>
              <a:rPr lang="en-US" sz="2400" b="true">
                <a:solidFill>
                  <a:srgbClr val="1B1D24"/>
                </a:solidFill>
                <a:latin typeface="Arial Bold"/>
                <a:ea typeface="Arial Bold"/>
                <a:cs typeface="Arial Bold"/>
                <a:sym typeface="Arial Bold"/>
              </a:rPr>
              <a:t>Payload</a:t>
            </a:r>
          </a:p>
        </p:txBody>
      </p:sp>
      <p:sp>
        <p:nvSpPr>
          <p:cNvPr name="TextBox 14" id="14"/>
          <p:cNvSpPr txBox="true"/>
          <p:nvPr/>
        </p:nvSpPr>
        <p:spPr>
          <a:xfrm rot="0">
            <a:off x="6360909" y="5080635"/>
            <a:ext cx="5733155" cy="908685"/>
          </a:xfrm>
          <a:prstGeom prst="rect">
            <a:avLst/>
          </a:prstGeom>
        </p:spPr>
        <p:txBody>
          <a:bodyPr anchor="t" rtlCol="false" tIns="0" lIns="0" bIns="0" rIns="0">
            <a:spAutoFit/>
          </a:bodyPr>
          <a:lstStyle/>
          <a:p>
            <a:pPr algn="l">
              <a:lnSpc>
                <a:spcPts val="3240"/>
              </a:lnSpc>
            </a:pPr>
            <a:r>
              <a:rPr lang="en-US" sz="2400">
                <a:solidFill>
                  <a:srgbClr val="50566A"/>
                </a:solidFill>
                <a:latin typeface="Arial"/>
                <a:ea typeface="Arial"/>
                <a:cs typeface="Arial"/>
                <a:sym typeface="Arial"/>
              </a:rPr>
              <a:t>email · uid · email_verified · exp</a:t>
            </a:r>
          </a:p>
        </p:txBody>
      </p:sp>
      <p:grpSp>
        <p:nvGrpSpPr>
          <p:cNvPr name="Group 15" id="15"/>
          <p:cNvGrpSpPr/>
          <p:nvPr/>
        </p:nvGrpSpPr>
        <p:grpSpPr>
          <a:xfrm rot="0">
            <a:off x="12468111" y="4320550"/>
            <a:ext cx="4600689" cy="1943100"/>
            <a:chOff x="0" y="0"/>
            <a:chExt cx="6134252" cy="2590800"/>
          </a:xfrm>
        </p:grpSpPr>
        <p:sp>
          <p:nvSpPr>
            <p:cNvPr name="Freeform 16" id="16"/>
            <p:cNvSpPr/>
            <p:nvPr/>
          </p:nvSpPr>
          <p:spPr>
            <a:xfrm flipH="false" flipV="false" rot="0">
              <a:off x="0" y="0"/>
              <a:ext cx="6134354" cy="2590800"/>
            </a:xfrm>
            <a:custGeom>
              <a:avLst/>
              <a:gdLst/>
              <a:ahLst/>
              <a:cxnLst/>
              <a:rect r="r" b="b" t="t" l="l"/>
              <a:pathLst>
                <a:path h="2590800" w="6134354">
                  <a:moveTo>
                    <a:pt x="0" y="248920"/>
                  </a:moveTo>
                  <a:cubicBezTo>
                    <a:pt x="0" y="111379"/>
                    <a:pt x="111379" y="0"/>
                    <a:pt x="248920" y="0"/>
                  </a:cubicBezTo>
                  <a:lnTo>
                    <a:pt x="5885434" y="0"/>
                  </a:lnTo>
                  <a:cubicBezTo>
                    <a:pt x="6022848" y="0"/>
                    <a:pt x="6134354" y="111379"/>
                    <a:pt x="6134354" y="248920"/>
                  </a:cubicBezTo>
                  <a:lnTo>
                    <a:pt x="6134354" y="2341880"/>
                  </a:lnTo>
                  <a:cubicBezTo>
                    <a:pt x="6134354" y="2479294"/>
                    <a:pt x="6022975" y="2590800"/>
                    <a:pt x="5885434" y="2590800"/>
                  </a:cubicBezTo>
                  <a:lnTo>
                    <a:pt x="248920" y="2590800"/>
                  </a:lnTo>
                  <a:cubicBezTo>
                    <a:pt x="111379" y="2590800"/>
                    <a:pt x="0" y="2479421"/>
                    <a:pt x="0" y="2341880"/>
                  </a:cubicBezTo>
                  <a:close/>
                </a:path>
              </a:pathLst>
            </a:custGeom>
            <a:solidFill>
              <a:srgbClr val="FFFEFB"/>
            </a:solidFill>
            <a:ln w="9525" cap="sq">
              <a:solidFill>
                <a:srgbClr val="E2DED3"/>
              </a:solidFill>
              <a:prstDash val="solid"/>
              <a:miter/>
            </a:ln>
          </p:spPr>
        </p:sp>
      </p:grpSp>
      <p:sp>
        <p:nvSpPr>
          <p:cNvPr name="TextBox 17" id="17"/>
          <p:cNvSpPr txBox="true"/>
          <p:nvPr/>
        </p:nvSpPr>
        <p:spPr>
          <a:xfrm rot="0">
            <a:off x="12780521" y="4604385"/>
            <a:ext cx="4095131" cy="447675"/>
          </a:xfrm>
          <a:prstGeom prst="rect">
            <a:avLst/>
          </a:prstGeom>
        </p:spPr>
        <p:txBody>
          <a:bodyPr anchor="t" rtlCol="false" tIns="0" lIns="0" bIns="0" rIns="0">
            <a:spAutoFit/>
          </a:bodyPr>
          <a:lstStyle/>
          <a:p>
            <a:pPr algn="l">
              <a:lnSpc>
                <a:spcPts val="3000"/>
              </a:lnSpc>
            </a:pPr>
            <a:r>
              <a:rPr lang="en-US" sz="2400" b="true">
                <a:solidFill>
                  <a:srgbClr val="1B1D24"/>
                </a:solidFill>
                <a:latin typeface="Arial Bold"/>
                <a:ea typeface="Arial Bold"/>
                <a:cs typeface="Arial Bold"/>
                <a:sym typeface="Arial Bold"/>
              </a:rPr>
              <a:t>Signature</a:t>
            </a:r>
          </a:p>
        </p:txBody>
      </p:sp>
      <p:sp>
        <p:nvSpPr>
          <p:cNvPr name="TextBox 18" id="18"/>
          <p:cNvSpPr txBox="true"/>
          <p:nvPr/>
        </p:nvSpPr>
        <p:spPr>
          <a:xfrm rot="0">
            <a:off x="12780521" y="5080635"/>
            <a:ext cx="4095131" cy="497205"/>
          </a:xfrm>
          <a:prstGeom prst="rect">
            <a:avLst/>
          </a:prstGeom>
        </p:spPr>
        <p:txBody>
          <a:bodyPr anchor="t" rtlCol="false" tIns="0" lIns="0" bIns="0" rIns="0">
            <a:spAutoFit/>
          </a:bodyPr>
          <a:lstStyle/>
          <a:p>
            <a:pPr algn="l">
              <a:lnSpc>
                <a:spcPts val="3240"/>
              </a:lnSpc>
            </a:pPr>
            <a:r>
              <a:rPr lang="en-US" sz="2400">
                <a:solidFill>
                  <a:srgbClr val="50566A"/>
                </a:solidFill>
                <a:latin typeface="Arial"/>
                <a:ea typeface="Arial"/>
                <a:cs typeface="Arial"/>
                <a:sym typeface="Arial"/>
              </a:rPr>
              <a:t>Chữ ký số do Firebase cấp</a:t>
            </a:r>
          </a:p>
        </p:txBody>
      </p:sp>
      <p:sp>
        <p:nvSpPr>
          <p:cNvPr name="TextBox 19" id="19"/>
          <p:cNvSpPr txBox="true"/>
          <p:nvPr/>
        </p:nvSpPr>
        <p:spPr>
          <a:xfrm rot="0">
            <a:off x="1219200" y="8191500"/>
            <a:ext cx="16325088" cy="609600"/>
          </a:xfrm>
          <a:prstGeom prst="rect">
            <a:avLst/>
          </a:prstGeom>
        </p:spPr>
        <p:txBody>
          <a:bodyPr anchor="t" rtlCol="false" tIns="0" lIns="0" bIns="0" rIns="0">
            <a:spAutoFit/>
          </a:bodyPr>
          <a:lstStyle/>
          <a:p>
            <a:pPr algn="l">
              <a:lnSpc>
                <a:spcPts val="4125"/>
              </a:lnSpc>
            </a:pPr>
            <a:r>
              <a:rPr lang="en-US" sz="3300" b="true">
                <a:solidFill>
                  <a:srgbClr val="1B1D24"/>
                </a:solidFill>
                <a:latin typeface="Arial Bold"/>
                <a:ea typeface="Arial Bold"/>
                <a:cs typeface="Arial Bold"/>
                <a:sym typeface="Arial Bold"/>
              </a:rPr>
              <a:t>Payload có thể đọc; sửa nội dung sẽ làm chữ ký không còn hợp lệ.</a:t>
            </a:r>
          </a:p>
        </p:txBody>
      </p:sp>
      <p:sp>
        <p:nvSpPr>
          <p:cNvPr name="TextBox 20" id="20"/>
          <p:cNvSpPr txBox="true"/>
          <p:nvPr/>
        </p:nvSpPr>
        <p:spPr>
          <a:xfrm rot="0">
            <a:off x="15849600" y="9300210"/>
            <a:ext cx="1219200" cy="415290"/>
          </a:xfrm>
          <a:prstGeom prst="rect">
            <a:avLst/>
          </a:prstGeom>
        </p:spPr>
        <p:txBody>
          <a:bodyPr anchor="t" rtlCol="false" tIns="0" lIns="0" bIns="0" rIns="0">
            <a:spAutoFit/>
          </a:bodyPr>
          <a:lstStyle/>
          <a:p>
            <a:pPr algn="r">
              <a:lnSpc>
                <a:spcPts val="2520"/>
              </a:lnSpc>
            </a:pPr>
            <a:r>
              <a:rPr lang="en-US" sz="1800">
                <a:solidFill>
                  <a:srgbClr val="6B7080"/>
                </a:solidFill>
                <a:latin typeface="Arial"/>
                <a:ea typeface="Arial"/>
                <a:cs typeface="Arial"/>
                <a:sym typeface="Arial"/>
              </a:rPr>
              <a:t>07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7F6F2"/>
        </a:solidFill>
      </p:bgPr>
    </p:bg>
    <p:spTree>
      <p:nvGrpSpPr>
        <p:cNvPr id="1" name=""/>
        <p:cNvGrpSpPr/>
        <p:nvPr/>
      </p:nvGrpSpPr>
      <p:grpSpPr>
        <a:xfrm>
          <a:off x="0" y="0"/>
          <a:ext cx="0" cy="0"/>
          <a:chOff x="0" y="0"/>
          <a:chExt cx="0" cy="0"/>
        </a:xfrm>
      </p:grpSpPr>
      <p:sp>
        <p:nvSpPr>
          <p:cNvPr name="TextBox 2" id="2"/>
          <p:cNvSpPr txBox="true"/>
          <p:nvPr/>
        </p:nvSpPr>
        <p:spPr>
          <a:xfrm rot="0">
            <a:off x="1219200" y="857250"/>
            <a:ext cx="16325088" cy="415290"/>
          </a:xfrm>
          <a:prstGeom prst="rect">
            <a:avLst/>
          </a:prstGeom>
        </p:spPr>
        <p:txBody>
          <a:bodyPr anchor="t" rtlCol="false" tIns="0" lIns="0" bIns="0" rIns="0">
            <a:spAutoFit/>
          </a:bodyPr>
          <a:lstStyle/>
          <a:p>
            <a:pPr algn="l">
              <a:lnSpc>
                <a:spcPts val="2520"/>
              </a:lnSpc>
            </a:pPr>
            <a:r>
              <a:rPr lang="en-US" b="true" sz="1800" spc="225">
                <a:solidFill>
                  <a:srgbClr val="8F5300"/>
                </a:solidFill>
                <a:latin typeface="Arial Bold"/>
                <a:ea typeface="Arial Bold"/>
                <a:cs typeface="Arial Bold"/>
                <a:sym typeface="Arial Bold"/>
              </a:rPr>
              <a:t>PHẦN 3 · GHÉP (1) + (2)</a:t>
            </a:r>
          </a:p>
        </p:txBody>
      </p:sp>
      <p:sp>
        <p:nvSpPr>
          <p:cNvPr name="TextBox 3" id="3"/>
          <p:cNvSpPr txBox="true"/>
          <p:nvPr/>
        </p:nvSpPr>
        <p:spPr>
          <a:xfrm rot="0">
            <a:off x="1219200" y="1367800"/>
            <a:ext cx="16325088" cy="605790"/>
          </a:xfrm>
          <a:prstGeom prst="rect">
            <a:avLst/>
          </a:prstGeom>
        </p:spPr>
        <p:txBody>
          <a:bodyPr anchor="t" rtlCol="false" tIns="0" lIns="0" bIns="0" rIns="0">
            <a:spAutoFit/>
          </a:bodyPr>
          <a:lstStyle/>
          <a:p>
            <a:pPr algn="l">
              <a:lnSpc>
                <a:spcPts val="4620"/>
              </a:lnSpc>
            </a:pPr>
            <a:r>
              <a:rPr lang="en-US" sz="4200" b="true">
                <a:solidFill>
                  <a:srgbClr val="1B1D24"/>
                </a:solidFill>
                <a:latin typeface="Arial Bold"/>
                <a:ea typeface="Arial Bold"/>
                <a:cs typeface="Arial Bold"/>
                <a:sym typeface="Arial Bold"/>
              </a:rPr>
              <a:t>ID Token bảo vệ API như thế nào?</a:t>
            </a:r>
          </a:p>
        </p:txBody>
      </p:sp>
      <p:grpSp>
        <p:nvGrpSpPr>
          <p:cNvPr name="Group 4" id="4"/>
          <p:cNvGrpSpPr/>
          <p:nvPr/>
        </p:nvGrpSpPr>
        <p:grpSpPr>
          <a:xfrm rot="0">
            <a:off x="1219200" y="2164080"/>
            <a:ext cx="3537585" cy="1497330"/>
            <a:chOff x="0" y="0"/>
            <a:chExt cx="4716780" cy="1996440"/>
          </a:xfrm>
        </p:grpSpPr>
        <p:sp>
          <p:nvSpPr>
            <p:cNvPr name="Freeform 5" id="5"/>
            <p:cNvSpPr/>
            <p:nvPr/>
          </p:nvSpPr>
          <p:spPr>
            <a:xfrm flipH="false" flipV="false" rot="0">
              <a:off x="0" y="0"/>
              <a:ext cx="4716780" cy="1996440"/>
            </a:xfrm>
            <a:custGeom>
              <a:avLst/>
              <a:gdLst/>
              <a:ahLst/>
              <a:cxnLst/>
              <a:rect r="r" b="b" t="t" l="l"/>
              <a:pathLst>
                <a:path h="1996440" w="4716780">
                  <a:moveTo>
                    <a:pt x="0" y="198120"/>
                  </a:moveTo>
                  <a:cubicBezTo>
                    <a:pt x="0" y="88646"/>
                    <a:pt x="88646" y="0"/>
                    <a:pt x="198120" y="0"/>
                  </a:cubicBezTo>
                  <a:lnTo>
                    <a:pt x="4518660" y="0"/>
                  </a:lnTo>
                  <a:cubicBezTo>
                    <a:pt x="4628134" y="0"/>
                    <a:pt x="4716780" y="88646"/>
                    <a:pt x="4716780" y="198120"/>
                  </a:cubicBezTo>
                  <a:lnTo>
                    <a:pt x="4716780" y="1798320"/>
                  </a:lnTo>
                  <a:cubicBezTo>
                    <a:pt x="4716780" y="1907794"/>
                    <a:pt x="4628134" y="1996440"/>
                    <a:pt x="4518660" y="1996440"/>
                  </a:cubicBezTo>
                  <a:lnTo>
                    <a:pt x="198120" y="1996440"/>
                  </a:lnTo>
                  <a:cubicBezTo>
                    <a:pt x="88646" y="1996440"/>
                    <a:pt x="0" y="1907794"/>
                    <a:pt x="0" y="1798320"/>
                  </a:cubicBezTo>
                  <a:close/>
                </a:path>
              </a:pathLst>
            </a:custGeom>
            <a:solidFill>
              <a:srgbClr val="FFFEFB"/>
            </a:solidFill>
            <a:ln w="9525" cap="sq">
              <a:solidFill>
                <a:srgbClr val="E2DED3"/>
              </a:solidFill>
              <a:prstDash val="solid"/>
              <a:miter/>
            </a:ln>
          </p:spPr>
        </p:sp>
      </p:grpSp>
      <p:sp>
        <p:nvSpPr>
          <p:cNvPr name="TextBox 6" id="6"/>
          <p:cNvSpPr txBox="true"/>
          <p:nvPr/>
        </p:nvSpPr>
        <p:spPr>
          <a:xfrm rot="0">
            <a:off x="1398270" y="2371725"/>
            <a:ext cx="3274828" cy="314325"/>
          </a:xfrm>
          <a:prstGeom prst="rect">
            <a:avLst/>
          </a:prstGeom>
        </p:spPr>
        <p:txBody>
          <a:bodyPr anchor="t" rtlCol="false" tIns="0" lIns="0" bIns="0" rIns="0">
            <a:spAutoFit/>
          </a:bodyPr>
          <a:lstStyle/>
          <a:p>
            <a:pPr algn="l">
              <a:lnSpc>
                <a:spcPts val="2400"/>
              </a:lnSpc>
            </a:pPr>
            <a:r>
              <a:rPr lang="en-US" sz="2400" b="true">
                <a:solidFill>
                  <a:srgbClr val="2F64D6"/>
                </a:solidFill>
                <a:latin typeface="Arial Bold"/>
                <a:ea typeface="Arial Bold"/>
                <a:cs typeface="Arial Bold"/>
                <a:sym typeface="Arial Bold"/>
              </a:rPr>
              <a:t>1</a:t>
            </a:r>
          </a:p>
        </p:txBody>
      </p:sp>
      <p:sp>
        <p:nvSpPr>
          <p:cNvPr name="TextBox 7" id="7"/>
          <p:cNvSpPr txBox="true"/>
          <p:nvPr/>
        </p:nvSpPr>
        <p:spPr>
          <a:xfrm rot="0">
            <a:off x="1398270" y="2686050"/>
            <a:ext cx="3274828" cy="331470"/>
          </a:xfrm>
          <a:prstGeom prst="rect">
            <a:avLst/>
          </a:prstGeom>
        </p:spPr>
        <p:txBody>
          <a:bodyPr anchor="t" rtlCol="false" tIns="0" lIns="0" bIns="0" rIns="0">
            <a:spAutoFit/>
          </a:bodyPr>
          <a:lstStyle/>
          <a:p>
            <a:pPr algn="l">
              <a:lnSpc>
                <a:spcPts val="2160"/>
              </a:lnSpc>
            </a:pPr>
            <a:r>
              <a:rPr lang="en-US" sz="1800" b="true">
                <a:solidFill>
                  <a:srgbClr val="1B1D24"/>
                </a:solidFill>
                <a:latin typeface="Arial Bold"/>
                <a:ea typeface="Arial Bold"/>
                <a:cs typeface="Arial Bold"/>
                <a:sym typeface="Arial Bold"/>
              </a:rPr>
              <a:t>Client</a:t>
            </a:r>
          </a:p>
        </p:txBody>
      </p:sp>
      <p:sp>
        <p:nvSpPr>
          <p:cNvPr name="TextBox 8" id="8"/>
          <p:cNvSpPr txBox="true"/>
          <p:nvPr/>
        </p:nvSpPr>
        <p:spPr>
          <a:xfrm rot="0">
            <a:off x="1398270" y="3007995"/>
            <a:ext cx="3274828" cy="512445"/>
          </a:xfrm>
          <a:prstGeom prst="rect">
            <a:avLst/>
          </a:prstGeom>
        </p:spPr>
        <p:txBody>
          <a:bodyPr anchor="t" rtlCol="false" tIns="0" lIns="0" bIns="0" rIns="0">
            <a:spAutoFit/>
          </a:bodyPr>
          <a:lstStyle/>
          <a:p>
            <a:pPr algn="l">
              <a:lnSpc>
                <a:spcPts val="1755"/>
              </a:lnSpc>
            </a:pPr>
            <a:r>
              <a:rPr lang="en-US" sz="1350">
                <a:solidFill>
                  <a:srgbClr val="50566A"/>
                </a:solidFill>
                <a:latin typeface="Arial"/>
                <a:ea typeface="Arial"/>
                <a:cs typeface="Arial"/>
                <a:sym typeface="Arial"/>
              </a:rPr>
              <a:t>Đăng nhập</a:t>
            </a:r>
          </a:p>
        </p:txBody>
      </p:sp>
      <p:grpSp>
        <p:nvGrpSpPr>
          <p:cNvPr name="Group 9" id="9"/>
          <p:cNvGrpSpPr/>
          <p:nvPr/>
        </p:nvGrpSpPr>
        <p:grpSpPr>
          <a:xfrm rot="0">
            <a:off x="4890135" y="2836545"/>
            <a:ext cx="304800" cy="152400"/>
            <a:chOff x="0" y="0"/>
            <a:chExt cx="406400" cy="203200"/>
          </a:xfrm>
        </p:grpSpPr>
        <p:sp>
          <p:nvSpPr>
            <p:cNvPr name="Freeform 10" id="10" descr="arrow-right"/>
            <p:cNvSpPr/>
            <p:nvPr/>
          </p:nvSpPr>
          <p:spPr>
            <a:xfrm flipH="false" flipV="false" rot="0">
              <a:off x="0" y="0"/>
              <a:ext cx="406400" cy="203200"/>
            </a:xfrm>
            <a:custGeom>
              <a:avLst/>
              <a:gdLst/>
              <a:ahLst/>
              <a:cxnLst/>
              <a:rect r="r" b="b" t="t" l="l"/>
              <a:pathLst>
                <a:path h="203200" w="406400">
                  <a:moveTo>
                    <a:pt x="0" y="0"/>
                  </a:moveTo>
                  <a:lnTo>
                    <a:pt x="406400" y="0"/>
                  </a:lnTo>
                  <a:lnTo>
                    <a:pt x="406400" y="203200"/>
                  </a:lnTo>
                  <a:lnTo>
                    <a:pt x="0" y="203200"/>
                  </a:lnTo>
                  <a:lnTo>
                    <a:pt x="0" y="0"/>
                  </a:lnTo>
                  <a:close/>
                </a:path>
              </a:pathLst>
            </a:custGeom>
            <a:blipFill>
              <a:blip r:embed="rId3"/>
              <a:stretch>
                <a:fillRect l="0" t="0" r="0" b="0"/>
              </a:stretch>
            </a:blipFill>
          </p:spPr>
        </p:sp>
      </p:grpSp>
      <p:grpSp>
        <p:nvGrpSpPr>
          <p:cNvPr name="Group 11" id="11"/>
          <p:cNvGrpSpPr/>
          <p:nvPr/>
        </p:nvGrpSpPr>
        <p:grpSpPr>
          <a:xfrm rot="0">
            <a:off x="5328285" y="2275522"/>
            <a:ext cx="3537585" cy="1274445"/>
            <a:chOff x="0" y="0"/>
            <a:chExt cx="4716780" cy="1699260"/>
          </a:xfrm>
        </p:grpSpPr>
        <p:sp>
          <p:nvSpPr>
            <p:cNvPr name="Freeform 12" id="12"/>
            <p:cNvSpPr/>
            <p:nvPr/>
          </p:nvSpPr>
          <p:spPr>
            <a:xfrm flipH="false" flipV="false" rot="0">
              <a:off x="0" y="0"/>
              <a:ext cx="4716780" cy="1699260"/>
            </a:xfrm>
            <a:custGeom>
              <a:avLst/>
              <a:gdLst/>
              <a:ahLst/>
              <a:cxnLst/>
              <a:rect r="r" b="b" t="t" l="l"/>
              <a:pathLst>
                <a:path h="1699260" w="4716780">
                  <a:moveTo>
                    <a:pt x="0" y="198374"/>
                  </a:moveTo>
                  <a:cubicBezTo>
                    <a:pt x="0" y="88773"/>
                    <a:pt x="88773" y="0"/>
                    <a:pt x="198374" y="0"/>
                  </a:cubicBezTo>
                  <a:lnTo>
                    <a:pt x="4518406" y="0"/>
                  </a:lnTo>
                  <a:cubicBezTo>
                    <a:pt x="4628007" y="0"/>
                    <a:pt x="4716780" y="88773"/>
                    <a:pt x="4716780" y="198374"/>
                  </a:cubicBezTo>
                  <a:lnTo>
                    <a:pt x="4716780" y="1500886"/>
                  </a:lnTo>
                  <a:cubicBezTo>
                    <a:pt x="4716780" y="1610487"/>
                    <a:pt x="4628007" y="1699260"/>
                    <a:pt x="4518406" y="1699260"/>
                  </a:cubicBezTo>
                  <a:lnTo>
                    <a:pt x="198374" y="1699260"/>
                  </a:lnTo>
                  <a:cubicBezTo>
                    <a:pt x="88773" y="1699260"/>
                    <a:pt x="0" y="1610487"/>
                    <a:pt x="0" y="1500886"/>
                  </a:cubicBezTo>
                  <a:close/>
                </a:path>
              </a:pathLst>
            </a:custGeom>
            <a:solidFill>
              <a:srgbClr val="FFFEFB"/>
            </a:solidFill>
            <a:ln w="9525" cap="sq">
              <a:solidFill>
                <a:srgbClr val="E2DED3"/>
              </a:solidFill>
              <a:prstDash val="solid"/>
              <a:miter/>
            </a:ln>
          </p:spPr>
        </p:sp>
      </p:grpSp>
      <p:sp>
        <p:nvSpPr>
          <p:cNvPr name="TextBox 13" id="13"/>
          <p:cNvSpPr txBox="true"/>
          <p:nvPr/>
        </p:nvSpPr>
        <p:spPr>
          <a:xfrm rot="0">
            <a:off x="5507355" y="2483167"/>
            <a:ext cx="3274828" cy="314325"/>
          </a:xfrm>
          <a:prstGeom prst="rect">
            <a:avLst/>
          </a:prstGeom>
        </p:spPr>
        <p:txBody>
          <a:bodyPr anchor="t" rtlCol="false" tIns="0" lIns="0" bIns="0" rIns="0">
            <a:spAutoFit/>
          </a:bodyPr>
          <a:lstStyle/>
          <a:p>
            <a:pPr algn="l">
              <a:lnSpc>
                <a:spcPts val="2400"/>
              </a:lnSpc>
            </a:pPr>
            <a:r>
              <a:rPr lang="en-US" sz="2400" b="true">
                <a:solidFill>
                  <a:srgbClr val="2F64D6"/>
                </a:solidFill>
                <a:latin typeface="Arial Bold"/>
                <a:ea typeface="Arial Bold"/>
                <a:cs typeface="Arial Bold"/>
                <a:sym typeface="Arial Bold"/>
              </a:rPr>
              <a:t>2</a:t>
            </a:r>
          </a:p>
        </p:txBody>
      </p:sp>
      <p:sp>
        <p:nvSpPr>
          <p:cNvPr name="TextBox 14" id="14"/>
          <p:cNvSpPr txBox="true"/>
          <p:nvPr/>
        </p:nvSpPr>
        <p:spPr>
          <a:xfrm rot="0">
            <a:off x="5507355" y="2797492"/>
            <a:ext cx="3274828" cy="331470"/>
          </a:xfrm>
          <a:prstGeom prst="rect">
            <a:avLst/>
          </a:prstGeom>
        </p:spPr>
        <p:txBody>
          <a:bodyPr anchor="t" rtlCol="false" tIns="0" lIns="0" bIns="0" rIns="0">
            <a:spAutoFit/>
          </a:bodyPr>
          <a:lstStyle/>
          <a:p>
            <a:pPr algn="l">
              <a:lnSpc>
                <a:spcPts val="2160"/>
              </a:lnSpc>
            </a:pPr>
            <a:r>
              <a:rPr lang="en-US" sz="1800" b="true">
                <a:solidFill>
                  <a:srgbClr val="1B1D24"/>
                </a:solidFill>
                <a:latin typeface="Arial Bold"/>
                <a:ea typeface="Arial Bold"/>
                <a:cs typeface="Arial Bold"/>
                <a:sym typeface="Arial Bold"/>
              </a:rPr>
              <a:t>Firebase Auth</a:t>
            </a:r>
          </a:p>
        </p:txBody>
      </p:sp>
      <p:sp>
        <p:nvSpPr>
          <p:cNvPr name="TextBox 15" id="15"/>
          <p:cNvSpPr txBox="true"/>
          <p:nvPr/>
        </p:nvSpPr>
        <p:spPr>
          <a:xfrm rot="0">
            <a:off x="5507355" y="3119437"/>
            <a:ext cx="3274828" cy="289560"/>
          </a:xfrm>
          <a:prstGeom prst="rect">
            <a:avLst/>
          </a:prstGeom>
        </p:spPr>
        <p:txBody>
          <a:bodyPr anchor="t" rtlCol="false" tIns="0" lIns="0" bIns="0" rIns="0">
            <a:spAutoFit/>
          </a:bodyPr>
          <a:lstStyle/>
          <a:p>
            <a:pPr algn="l">
              <a:lnSpc>
                <a:spcPts val="1755"/>
              </a:lnSpc>
            </a:pPr>
            <a:r>
              <a:rPr lang="en-US" sz="1350">
                <a:solidFill>
                  <a:srgbClr val="50566A"/>
                </a:solidFill>
                <a:latin typeface="Arial"/>
                <a:ea typeface="Arial"/>
                <a:cs typeface="Arial"/>
                <a:sym typeface="Arial"/>
              </a:rPr>
              <a:t>Firebase cấp ID Token</a:t>
            </a:r>
          </a:p>
        </p:txBody>
      </p:sp>
      <p:grpSp>
        <p:nvGrpSpPr>
          <p:cNvPr name="Group 16" id="16"/>
          <p:cNvGrpSpPr/>
          <p:nvPr/>
        </p:nvGrpSpPr>
        <p:grpSpPr>
          <a:xfrm rot="0">
            <a:off x="8999220" y="2836545"/>
            <a:ext cx="304800" cy="152400"/>
            <a:chOff x="0" y="0"/>
            <a:chExt cx="406400" cy="203200"/>
          </a:xfrm>
        </p:grpSpPr>
        <p:sp>
          <p:nvSpPr>
            <p:cNvPr name="Freeform 17" id="17" descr="arrow-right"/>
            <p:cNvSpPr/>
            <p:nvPr/>
          </p:nvSpPr>
          <p:spPr>
            <a:xfrm flipH="false" flipV="false" rot="0">
              <a:off x="0" y="0"/>
              <a:ext cx="406400" cy="203200"/>
            </a:xfrm>
            <a:custGeom>
              <a:avLst/>
              <a:gdLst/>
              <a:ahLst/>
              <a:cxnLst/>
              <a:rect r="r" b="b" t="t" l="l"/>
              <a:pathLst>
                <a:path h="203200" w="406400">
                  <a:moveTo>
                    <a:pt x="0" y="0"/>
                  </a:moveTo>
                  <a:lnTo>
                    <a:pt x="406400" y="0"/>
                  </a:lnTo>
                  <a:lnTo>
                    <a:pt x="406400" y="203200"/>
                  </a:lnTo>
                  <a:lnTo>
                    <a:pt x="0" y="203200"/>
                  </a:lnTo>
                  <a:lnTo>
                    <a:pt x="0" y="0"/>
                  </a:lnTo>
                  <a:close/>
                </a:path>
              </a:pathLst>
            </a:custGeom>
            <a:blipFill>
              <a:blip r:embed="rId3"/>
              <a:stretch>
                <a:fillRect l="0" t="0" r="0" b="0"/>
              </a:stretch>
            </a:blipFill>
          </p:spPr>
        </p:sp>
      </p:grpSp>
      <p:grpSp>
        <p:nvGrpSpPr>
          <p:cNvPr name="Group 18" id="18"/>
          <p:cNvGrpSpPr/>
          <p:nvPr/>
        </p:nvGrpSpPr>
        <p:grpSpPr>
          <a:xfrm rot="0">
            <a:off x="9437370" y="2275522"/>
            <a:ext cx="3537585" cy="1274445"/>
            <a:chOff x="0" y="0"/>
            <a:chExt cx="4716780" cy="1699260"/>
          </a:xfrm>
        </p:grpSpPr>
        <p:sp>
          <p:nvSpPr>
            <p:cNvPr name="Freeform 19" id="19"/>
            <p:cNvSpPr/>
            <p:nvPr/>
          </p:nvSpPr>
          <p:spPr>
            <a:xfrm flipH="false" flipV="false" rot="0">
              <a:off x="0" y="0"/>
              <a:ext cx="4716780" cy="1699260"/>
            </a:xfrm>
            <a:custGeom>
              <a:avLst/>
              <a:gdLst/>
              <a:ahLst/>
              <a:cxnLst/>
              <a:rect r="r" b="b" t="t" l="l"/>
              <a:pathLst>
                <a:path h="1699260" w="4716780">
                  <a:moveTo>
                    <a:pt x="0" y="198374"/>
                  </a:moveTo>
                  <a:cubicBezTo>
                    <a:pt x="0" y="88773"/>
                    <a:pt x="88773" y="0"/>
                    <a:pt x="198374" y="0"/>
                  </a:cubicBezTo>
                  <a:lnTo>
                    <a:pt x="4518406" y="0"/>
                  </a:lnTo>
                  <a:cubicBezTo>
                    <a:pt x="4628007" y="0"/>
                    <a:pt x="4716780" y="88773"/>
                    <a:pt x="4716780" y="198374"/>
                  </a:cubicBezTo>
                  <a:lnTo>
                    <a:pt x="4716780" y="1500886"/>
                  </a:lnTo>
                  <a:cubicBezTo>
                    <a:pt x="4716780" y="1610487"/>
                    <a:pt x="4628007" y="1699260"/>
                    <a:pt x="4518406" y="1699260"/>
                  </a:cubicBezTo>
                  <a:lnTo>
                    <a:pt x="198374" y="1699260"/>
                  </a:lnTo>
                  <a:cubicBezTo>
                    <a:pt x="88773" y="1699260"/>
                    <a:pt x="0" y="1610487"/>
                    <a:pt x="0" y="1500886"/>
                  </a:cubicBezTo>
                  <a:close/>
                </a:path>
              </a:pathLst>
            </a:custGeom>
            <a:solidFill>
              <a:srgbClr val="FFFEFB"/>
            </a:solidFill>
            <a:ln w="9525" cap="sq">
              <a:solidFill>
                <a:srgbClr val="E2DED3"/>
              </a:solidFill>
              <a:prstDash val="solid"/>
              <a:miter/>
            </a:ln>
          </p:spPr>
        </p:sp>
      </p:grpSp>
      <p:sp>
        <p:nvSpPr>
          <p:cNvPr name="TextBox 20" id="20"/>
          <p:cNvSpPr txBox="true"/>
          <p:nvPr/>
        </p:nvSpPr>
        <p:spPr>
          <a:xfrm rot="0">
            <a:off x="9616440" y="2483167"/>
            <a:ext cx="3274828" cy="314325"/>
          </a:xfrm>
          <a:prstGeom prst="rect">
            <a:avLst/>
          </a:prstGeom>
        </p:spPr>
        <p:txBody>
          <a:bodyPr anchor="t" rtlCol="false" tIns="0" lIns="0" bIns="0" rIns="0">
            <a:spAutoFit/>
          </a:bodyPr>
          <a:lstStyle/>
          <a:p>
            <a:pPr algn="l">
              <a:lnSpc>
                <a:spcPts val="2400"/>
              </a:lnSpc>
            </a:pPr>
            <a:r>
              <a:rPr lang="en-US" sz="2400" b="true">
                <a:solidFill>
                  <a:srgbClr val="2F64D6"/>
                </a:solidFill>
                <a:latin typeface="Arial Bold"/>
                <a:ea typeface="Arial Bold"/>
                <a:cs typeface="Arial Bold"/>
                <a:sym typeface="Arial Bold"/>
              </a:rPr>
              <a:t>3</a:t>
            </a:r>
          </a:p>
        </p:txBody>
      </p:sp>
      <p:sp>
        <p:nvSpPr>
          <p:cNvPr name="TextBox 21" id="21"/>
          <p:cNvSpPr txBox="true"/>
          <p:nvPr/>
        </p:nvSpPr>
        <p:spPr>
          <a:xfrm rot="0">
            <a:off x="9616440" y="2797492"/>
            <a:ext cx="3274828" cy="331470"/>
          </a:xfrm>
          <a:prstGeom prst="rect">
            <a:avLst/>
          </a:prstGeom>
        </p:spPr>
        <p:txBody>
          <a:bodyPr anchor="t" rtlCol="false" tIns="0" lIns="0" bIns="0" rIns="0">
            <a:spAutoFit/>
          </a:bodyPr>
          <a:lstStyle/>
          <a:p>
            <a:pPr algn="l">
              <a:lnSpc>
                <a:spcPts val="2160"/>
              </a:lnSpc>
            </a:pPr>
            <a:r>
              <a:rPr lang="en-US" sz="1800" b="true">
                <a:solidFill>
                  <a:srgbClr val="1B1D24"/>
                </a:solidFill>
                <a:latin typeface="Arial Bold"/>
                <a:ea typeface="Arial Bold"/>
                <a:cs typeface="Arial Bold"/>
                <a:sym typeface="Arial Bold"/>
              </a:rPr>
              <a:t>API Request</a:t>
            </a:r>
          </a:p>
        </p:txBody>
      </p:sp>
      <p:sp>
        <p:nvSpPr>
          <p:cNvPr name="TextBox 22" id="22"/>
          <p:cNvSpPr txBox="true"/>
          <p:nvPr/>
        </p:nvSpPr>
        <p:spPr>
          <a:xfrm rot="0">
            <a:off x="9616440" y="3119437"/>
            <a:ext cx="3274828" cy="289560"/>
          </a:xfrm>
          <a:prstGeom prst="rect">
            <a:avLst/>
          </a:prstGeom>
        </p:spPr>
        <p:txBody>
          <a:bodyPr anchor="t" rtlCol="false" tIns="0" lIns="0" bIns="0" rIns="0">
            <a:spAutoFit/>
          </a:bodyPr>
          <a:lstStyle/>
          <a:p>
            <a:pPr algn="l">
              <a:lnSpc>
                <a:spcPts val="1755"/>
              </a:lnSpc>
            </a:pPr>
            <a:r>
              <a:rPr lang="en-US" sz="1350">
                <a:solidFill>
                  <a:srgbClr val="50566A"/>
                </a:solidFill>
                <a:latin typeface="Arial"/>
                <a:ea typeface="Arial"/>
                <a:cs typeface="Arial"/>
                <a:sym typeface="Arial"/>
              </a:rPr>
              <a:t>Gửi Bearer Token</a:t>
            </a:r>
          </a:p>
        </p:txBody>
      </p:sp>
      <p:grpSp>
        <p:nvGrpSpPr>
          <p:cNvPr name="Group 23" id="23"/>
          <p:cNvGrpSpPr/>
          <p:nvPr/>
        </p:nvGrpSpPr>
        <p:grpSpPr>
          <a:xfrm rot="0">
            <a:off x="13108305" y="2836545"/>
            <a:ext cx="304800" cy="152400"/>
            <a:chOff x="0" y="0"/>
            <a:chExt cx="406400" cy="203200"/>
          </a:xfrm>
        </p:grpSpPr>
        <p:sp>
          <p:nvSpPr>
            <p:cNvPr name="Freeform 24" id="24" descr="arrow-right"/>
            <p:cNvSpPr/>
            <p:nvPr/>
          </p:nvSpPr>
          <p:spPr>
            <a:xfrm flipH="false" flipV="false" rot="0">
              <a:off x="0" y="0"/>
              <a:ext cx="406400" cy="203200"/>
            </a:xfrm>
            <a:custGeom>
              <a:avLst/>
              <a:gdLst/>
              <a:ahLst/>
              <a:cxnLst/>
              <a:rect r="r" b="b" t="t" l="l"/>
              <a:pathLst>
                <a:path h="203200" w="406400">
                  <a:moveTo>
                    <a:pt x="0" y="0"/>
                  </a:moveTo>
                  <a:lnTo>
                    <a:pt x="406400" y="0"/>
                  </a:lnTo>
                  <a:lnTo>
                    <a:pt x="406400" y="203200"/>
                  </a:lnTo>
                  <a:lnTo>
                    <a:pt x="0" y="203200"/>
                  </a:lnTo>
                  <a:lnTo>
                    <a:pt x="0" y="0"/>
                  </a:lnTo>
                  <a:close/>
                </a:path>
              </a:pathLst>
            </a:custGeom>
            <a:blipFill>
              <a:blip r:embed="rId3"/>
              <a:stretch>
                <a:fillRect l="0" t="0" r="0" b="0"/>
              </a:stretch>
            </a:blipFill>
          </p:spPr>
        </p:sp>
      </p:grpSp>
      <p:grpSp>
        <p:nvGrpSpPr>
          <p:cNvPr name="Group 25" id="25"/>
          <p:cNvGrpSpPr/>
          <p:nvPr/>
        </p:nvGrpSpPr>
        <p:grpSpPr>
          <a:xfrm rot="0">
            <a:off x="13546455" y="2283142"/>
            <a:ext cx="3522345" cy="1259205"/>
            <a:chOff x="0" y="0"/>
            <a:chExt cx="4696460" cy="1678940"/>
          </a:xfrm>
        </p:grpSpPr>
        <p:sp>
          <p:nvSpPr>
            <p:cNvPr name="Freeform 26" id="26"/>
            <p:cNvSpPr/>
            <p:nvPr/>
          </p:nvSpPr>
          <p:spPr>
            <a:xfrm flipH="false" flipV="false" rot="0">
              <a:off x="0" y="0"/>
              <a:ext cx="4696460" cy="1678940"/>
            </a:xfrm>
            <a:custGeom>
              <a:avLst/>
              <a:gdLst/>
              <a:ahLst/>
              <a:cxnLst/>
              <a:rect r="r" b="b" t="t" l="l"/>
              <a:pathLst>
                <a:path h="1678940" w="4696460">
                  <a:moveTo>
                    <a:pt x="0" y="203200"/>
                  </a:moveTo>
                  <a:cubicBezTo>
                    <a:pt x="0" y="90932"/>
                    <a:pt x="90932" y="0"/>
                    <a:pt x="203200" y="0"/>
                  </a:cubicBezTo>
                  <a:lnTo>
                    <a:pt x="4493260" y="0"/>
                  </a:lnTo>
                  <a:cubicBezTo>
                    <a:pt x="4605528" y="0"/>
                    <a:pt x="4696460" y="90932"/>
                    <a:pt x="4696460" y="203200"/>
                  </a:cubicBezTo>
                  <a:lnTo>
                    <a:pt x="4696460" y="1475740"/>
                  </a:lnTo>
                  <a:cubicBezTo>
                    <a:pt x="4696460" y="1588008"/>
                    <a:pt x="4605528" y="1678940"/>
                    <a:pt x="4493260" y="1678940"/>
                  </a:cubicBezTo>
                  <a:lnTo>
                    <a:pt x="203200" y="1678940"/>
                  </a:lnTo>
                  <a:cubicBezTo>
                    <a:pt x="90932" y="1678940"/>
                    <a:pt x="0" y="1588008"/>
                    <a:pt x="0" y="1475740"/>
                  </a:cubicBezTo>
                  <a:close/>
                </a:path>
              </a:pathLst>
            </a:custGeom>
            <a:solidFill>
              <a:srgbClr val="15171E"/>
            </a:solidFill>
          </p:spPr>
        </p:sp>
      </p:grpSp>
      <p:sp>
        <p:nvSpPr>
          <p:cNvPr name="TextBox 27" id="27"/>
          <p:cNvSpPr txBox="true"/>
          <p:nvPr/>
        </p:nvSpPr>
        <p:spPr>
          <a:xfrm rot="0">
            <a:off x="13717905" y="2483167"/>
            <a:ext cx="3274828" cy="314325"/>
          </a:xfrm>
          <a:prstGeom prst="rect">
            <a:avLst/>
          </a:prstGeom>
        </p:spPr>
        <p:txBody>
          <a:bodyPr anchor="t" rtlCol="false" tIns="0" lIns="0" bIns="0" rIns="0">
            <a:spAutoFit/>
          </a:bodyPr>
          <a:lstStyle/>
          <a:p>
            <a:pPr algn="l">
              <a:lnSpc>
                <a:spcPts val="2400"/>
              </a:lnSpc>
            </a:pPr>
            <a:r>
              <a:rPr lang="en-US" sz="2400" b="true">
                <a:solidFill>
                  <a:srgbClr val="F2A72B"/>
                </a:solidFill>
                <a:latin typeface="Arial Bold"/>
                <a:ea typeface="Arial Bold"/>
                <a:cs typeface="Arial Bold"/>
                <a:sym typeface="Arial Bold"/>
              </a:rPr>
              <a:t>4</a:t>
            </a:r>
          </a:p>
        </p:txBody>
      </p:sp>
      <p:sp>
        <p:nvSpPr>
          <p:cNvPr name="TextBox 28" id="28"/>
          <p:cNvSpPr txBox="true"/>
          <p:nvPr/>
        </p:nvSpPr>
        <p:spPr>
          <a:xfrm rot="0">
            <a:off x="13717905" y="2797492"/>
            <a:ext cx="3274828" cy="331470"/>
          </a:xfrm>
          <a:prstGeom prst="rect">
            <a:avLst/>
          </a:prstGeom>
        </p:spPr>
        <p:txBody>
          <a:bodyPr anchor="t" rtlCol="false" tIns="0" lIns="0" bIns="0" rIns="0">
            <a:spAutoFit/>
          </a:bodyPr>
          <a:lstStyle/>
          <a:p>
            <a:pPr algn="l">
              <a:lnSpc>
                <a:spcPts val="2160"/>
              </a:lnSpc>
            </a:pPr>
            <a:r>
              <a:rPr lang="en-US" sz="1800" b="true">
                <a:solidFill>
                  <a:srgbClr val="F2F0EA"/>
                </a:solidFill>
                <a:latin typeface="Arial Bold"/>
                <a:ea typeface="Arial Bold"/>
                <a:cs typeface="Arial Bold"/>
                <a:sym typeface="Arial Bold"/>
              </a:rPr>
              <a:t>Backend</a:t>
            </a:r>
          </a:p>
        </p:txBody>
      </p:sp>
      <p:sp>
        <p:nvSpPr>
          <p:cNvPr name="TextBox 29" id="29"/>
          <p:cNvSpPr txBox="true"/>
          <p:nvPr/>
        </p:nvSpPr>
        <p:spPr>
          <a:xfrm rot="0">
            <a:off x="13717905" y="3119437"/>
            <a:ext cx="3274828" cy="289560"/>
          </a:xfrm>
          <a:prstGeom prst="rect">
            <a:avLst/>
          </a:prstGeom>
        </p:spPr>
        <p:txBody>
          <a:bodyPr anchor="t" rtlCol="false" tIns="0" lIns="0" bIns="0" rIns="0">
            <a:spAutoFit/>
          </a:bodyPr>
          <a:lstStyle/>
          <a:p>
            <a:pPr algn="l">
              <a:lnSpc>
                <a:spcPts val="1755"/>
              </a:lnSpc>
            </a:pPr>
            <a:r>
              <a:rPr lang="en-US" sz="1350">
                <a:solidFill>
                  <a:srgbClr val="C3C6CF"/>
                </a:solidFill>
                <a:latin typeface="Arial"/>
                <a:ea typeface="Arial"/>
                <a:cs typeface="Arial"/>
                <a:sym typeface="Arial"/>
              </a:rPr>
              <a:t>Backend xác minh token</a:t>
            </a:r>
          </a:p>
        </p:txBody>
      </p:sp>
      <p:grpSp>
        <p:nvGrpSpPr>
          <p:cNvPr name="Group 30" id="30"/>
          <p:cNvGrpSpPr/>
          <p:nvPr/>
        </p:nvGrpSpPr>
        <p:grpSpPr>
          <a:xfrm rot="0">
            <a:off x="1219200" y="3890010"/>
            <a:ext cx="8919686" cy="1333500"/>
            <a:chOff x="0" y="0"/>
            <a:chExt cx="11892915" cy="1778000"/>
          </a:xfrm>
        </p:grpSpPr>
        <p:sp>
          <p:nvSpPr>
            <p:cNvPr name="Freeform 31" id="31"/>
            <p:cNvSpPr/>
            <p:nvPr/>
          </p:nvSpPr>
          <p:spPr>
            <a:xfrm flipH="false" flipV="false" rot="0">
              <a:off x="0" y="0"/>
              <a:ext cx="11892915" cy="1778000"/>
            </a:xfrm>
            <a:custGeom>
              <a:avLst/>
              <a:gdLst/>
              <a:ahLst/>
              <a:cxnLst/>
              <a:rect r="r" b="b" t="t" l="l"/>
              <a:pathLst>
                <a:path h="1778000" w="11892915">
                  <a:moveTo>
                    <a:pt x="0" y="203200"/>
                  </a:moveTo>
                  <a:cubicBezTo>
                    <a:pt x="0" y="90932"/>
                    <a:pt x="90932" y="0"/>
                    <a:pt x="203200" y="0"/>
                  </a:cubicBezTo>
                  <a:lnTo>
                    <a:pt x="11689715" y="0"/>
                  </a:lnTo>
                  <a:cubicBezTo>
                    <a:pt x="11801983" y="0"/>
                    <a:pt x="11892915" y="90932"/>
                    <a:pt x="11892915" y="203200"/>
                  </a:cubicBezTo>
                  <a:lnTo>
                    <a:pt x="11892915" y="1574800"/>
                  </a:lnTo>
                  <a:cubicBezTo>
                    <a:pt x="11892915" y="1687068"/>
                    <a:pt x="11801983" y="1778000"/>
                    <a:pt x="11689715" y="1778000"/>
                  </a:cubicBezTo>
                  <a:lnTo>
                    <a:pt x="203200" y="1778000"/>
                  </a:lnTo>
                  <a:cubicBezTo>
                    <a:pt x="90932" y="1778000"/>
                    <a:pt x="0" y="1687068"/>
                    <a:pt x="0" y="1574800"/>
                  </a:cubicBezTo>
                  <a:close/>
                </a:path>
              </a:pathLst>
            </a:custGeom>
            <a:solidFill>
              <a:srgbClr val="15171E"/>
            </a:solidFill>
          </p:spPr>
        </p:sp>
      </p:grpSp>
      <p:sp>
        <p:nvSpPr>
          <p:cNvPr name="TextBox 32" id="32"/>
          <p:cNvSpPr txBox="true"/>
          <p:nvPr/>
        </p:nvSpPr>
        <p:spPr>
          <a:xfrm rot="0">
            <a:off x="1466850" y="4051935"/>
            <a:ext cx="8677113" cy="371475"/>
          </a:xfrm>
          <a:prstGeom prst="rect">
            <a:avLst/>
          </a:prstGeom>
        </p:spPr>
        <p:txBody>
          <a:bodyPr anchor="t" rtlCol="false" tIns="0" lIns="0" bIns="0" rIns="0">
            <a:spAutoFit/>
          </a:bodyPr>
          <a:lstStyle/>
          <a:p>
            <a:pPr algn="l">
              <a:lnSpc>
                <a:spcPts val="2250"/>
              </a:lnSpc>
            </a:pPr>
            <a:r>
              <a:rPr lang="en-US" sz="1500">
                <a:solidFill>
                  <a:srgbClr val="8A90A0"/>
                </a:solidFill>
                <a:latin typeface="Courier New"/>
                <a:ea typeface="Courier New"/>
                <a:cs typeface="Courier New"/>
                <a:sym typeface="Courier New"/>
              </a:rPr>
              <a:t>// Backend riêng: Firebase Admin SDK</a:t>
            </a:r>
          </a:p>
        </p:txBody>
      </p:sp>
      <p:sp>
        <p:nvSpPr>
          <p:cNvPr name="TextBox 33" id="33"/>
          <p:cNvSpPr txBox="true"/>
          <p:nvPr/>
        </p:nvSpPr>
        <p:spPr>
          <a:xfrm rot="0">
            <a:off x="1466850" y="4366260"/>
            <a:ext cx="8677113" cy="371475"/>
          </a:xfrm>
          <a:prstGeom prst="rect">
            <a:avLst/>
          </a:prstGeom>
        </p:spPr>
        <p:txBody>
          <a:bodyPr anchor="t" rtlCol="false" tIns="0" lIns="0" bIns="0" rIns="0">
            <a:spAutoFit/>
          </a:bodyPr>
          <a:lstStyle/>
          <a:p>
            <a:pPr algn="l">
              <a:lnSpc>
                <a:spcPts val="2250"/>
              </a:lnSpc>
            </a:pPr>
            <a:r>
              <a:rPr lang="en-US" sz="1500">
                <a:solidFill>
                  <a:srgbClr val="E8E6DF"/>
                </a:solidFill>
                <a:latin typeface="Courier New"/>
                <a:ea typeface="Courier New"/>
                <a:cs typeface="Courier New"/>
                <a:sym typeface="Courier New"/>
              </a:rPr>
              <a:t>Authorization: Bearer &lt;ID_TOKEN&gt;</a:t>
            </a:r>
          </a:p>
        </p:txBody>
      </p:sp>
      <p:sp>
        <p:nvSpPr>
          <p:cNvPr name="TextBox 34" id="34"/>
          <p:cNvSpPr txBox="true"/>
          <p:nvPr/>
        </p:nvSpPr>
        <p:spPr>
          <a:xfrm rot="0">
            <a:off x="1466850" y="4680585"/>
            <a:ext cx="8677113" cy="371475"/>
          </a:xfrm>
          <a:prstGeom prst="rect">
            <a:avLst/>
          </a:prstGeom>
        </p:spPr>
        <p:txBody>
          <a:bodyPr anchor="t" rtlCol="false" tIns="0" lIns="0" bIns="0" rIns="0">
            <a:spAutoFit/>
          </a:bodyPr>
          <a:lstStyle/>
          <a:p>
            <a:pPr algn="l">
              <a:lnSpc>
                <a:spcPts val="2250"/>
              </a:lnSpc>
            </a:pPr>
            <a:r>
              <a:rPr lang="en-US" sz="1500">
                <a:solidFill>
                  <a:srgbClr val="8A90A0"/>
                </a:solidFill>
                <a:latin typeface="Courier New"/>
                <a:ea typeface="Courier New"/>
                <a:cs typeface="Courier New"/>
                <a:sym typeface="Courier New"/>
              </a:rPr>
              <a:t>verifyIdToken(token)</a:t>
            </a:r>
          </a:p>
        </p:txBody>
      </p:sp>
      <p:grpSp>
        <p:nvGrpSpPr>
          <p:cNvPr name="Group 35" id="35"/>
          <p:cNvGrpSpPr/>
          <p:nvPr/>
        </p:nvGrpSpPr>
        <p:grpSpPr>
          <a:xfrm rot="0">
            <a:off x="10329386" y="4090035"/>
            <a:ext cx="247650" cy="247650"/>
            <a:chOff x="0" y="0"/>
            <a:chExt cx="330200" cy="330200"/>
          </a:xfrm>
        </p:grpSpPr>
        <p:sp>
          <p:nvSpPr>
            <p:cNvPr name="Freeform 36" id="36" descr="CheckCircle"/>
            <p:cNvSpPr/>
            <p:nvPr/>
          </p:nvSpPr>
          <p:spPr>
            <a:xfrm flipH="false" flipV="false" rot="0">
              <a:off x="0" y="0"/>
              <a:ext cx="330200" cy="330200"/>
            </a:xfrm>
            <a:custGeom>
              <a:avLst/>
              <a:gdLst/>
              <a:ahLst/>
              <a:cxnLst/>
              <a:rect r="r" b="b" t="t" l="l"/>
              <a:pathLst>
                <a:path h="330200" w="330200">
                  <a:moveTo>
                    <a:pt x="0" y="0"/>
                  </a:moveTo>
                  <a:lnTo>
                    <a:pt x="330200" y="0"/>
                  </a:lnTo>
                  <a:lnTo>
                    <a:pt x="330200" y="330200"/>
                  </a:lnTo>
                  <a:lnTo>
                    <a:pt x="0" y="330200"/>
                  </a:lnTo>
                  <a:lnTo>
                    <a:pt x="0" y="0"/>
                  </a:lnTo>
                  <a:close/>
                </a:path>
              </a:pathLst>
            </a:custGeom>
            <a:blipFill>
              <a:blip r:embed="rId4"/>
              <a:stretch>
                <a:fillRect l="0" t="0" r="0" b="0"/>
              </a:stretch>
            </a:blipFill>
          </p:spPr>
        </p:sp>
      </p:grpSp>
      <p:sp>
        <p:nvSpPr>
          <p:cNvPr name="TextBox 37" id="37"/>
          <p:cNvSpPr txBox="true"/>
          <p:nvPr/>
        </p:nvSpPr>
        <p:spPr>
          <a:xfrm rot="0">
            <a:off x="10672286" y="4032885"/>
            <a:ext cx="2679335" cy="352425"/>
          </a:xfrm>
          <a:prstGeom prst="rect">
            <a:avLst/>
          </a:prstGeom>
        </p:spPr>
        <p:txBody>
          <a:bodyPr anchor="t" rtlCol="false" tIns="0" lIns="0" bIns="0" rIns="0">
            <a:spAutoFit/>
          </a:bodyPr>
          <a:lstStyle/>
          <a:p>
            <a:pPr algn="l">
              <a:lnSpc>
                <a:spcPts val="2100"/>
              </a:lnSpc>
            </a:pPr>
            <a:r>
              <a:rPr lang="en-US" sz="1500">
                <a:solidFill>
                  <a:srgbClr val="1B1D24"/>
                </a:solidFill>
                <a:latin typeface="Arial"/>
                <a:ea typeface="Arial"/>
                <a:cs typeface="Arial"/>
                <a:sym typeface="Arial"/>
              </a:rPr>
              <a:t>Chữ ký hợp lệ</a:t>
            </a:r>
          </a:p>
        </p:txBody>
      </p:sp>
      <p:grpSp>
        <p:nvGrpSpPr>
          <p:cNvPr name="Group 38" id="38"/>
          <p:cNvGrpSpPr/>
          <p:nvPr/>
        </p:nvGrpSpPr>
        <p:grpSpPr>
          <a:xfrm rot="0">
            <a:off x="10329386" y="4432935"/>
            <a:ext cx="247650" cy="247650"/>
            <a:chOff x="0" y="0"/>
            <a:chExt cx="330200" cy="330200"/>
          </a:xfrm>
        </p:grpSpPr>
        <p:sp>
          <p:nvSpPr>
            <p:cNvPr name="Freeform 39" id="39" descr="CheckCircle"/>
            <p:cNvSpPr/>
            <p:nvPr/>
          </p:nvSpPr>
          <p:spPr>
            <a:xfrm flipH="false" flipV="false" rot="0">
              <a:off x="0" y="0"/>
              <a:ext cx="330200" cy="330200"/>
            </a:xfrm>
            <a:custGeom>
              <a:avLst/>
              <a:gdLst/>
              <a:ahLst/>
              <a:cxnLst/>
              <a:rect r="r" b="b" t="t" l="l"/>
              <a:pathLst>
                <a:path h="330200" w="330200">
                  <a:moveTo>
                    <a:pt x="0" y="0"/>
                  </a:moveTo>
                  <a:lnTo>
                    <a:pt x="330200" y="0"/>
                  </a:lnTo>
                  <a:lnTo>
                    <a:pt x="330200" y="330200"/>
                  </a:lnTo>
                  <a:lnTo>
                    <a:pt x="0" y="330200"/>
                  </a:lnTo>
                  <a:lnTo>
                    <a:pt x="0" y="0"/>
                  </a:lnTo>
                  <a:close/>
                </a:path>
              </a:pathLst>
            </a:custGeom>
            <a:blipFill>
              <a:blip r:embed="rId4"/>
              <a:stretch>
                <a:fillRect l="0" t="0" r="0" b="0"/>
              </a:stretch>
            </a:blipFill>
          </p:spPr>
        </p:sp>
      </p:grpSp>
      <p:sp>
        <p:nvSpPr>
          <p:cNvPr name="TextBox 40" id="40"/>
          <p:cNvSpPr txBox="true"/>
          <p:nvPr/>
        </p:nvSpPr>
        <p:spPr>
          <a:xfrm rot="0">
            <a:off x="10672286" y="4375785"/>
            <a:ext cx="2021396" cy="352425"/>
          </a:xfrm>
          <a:prstGeom prst="rect">
            <a:avLst/>
          </a:prstGeom>
        </p:spPr>
        <p:txBody>
          <a:bodyPr anchor="t" rtlCol="false" tIns="0" lIns="0" bIns="0" rIns="0">
            <a:spAutoFit/>
          </a:bodyPr>
          <a:lstStyle/>
          <a:p>
            <a:pPr algn="l">
              <a:lnSpc>
                <a:spcPts val="2100"/>
              </a:lnSpc>
            </a:pPr>
            <a:r>
              <a:rPr lang="en-US" sz="1500">
                <a:solidFill>
                  <a:srgbClr val="1B1D24"/>
                </a:solidFill>
                <a:latin typeface="Arial"/>
                <a:ea typeface="Arial"/>
                <a:cs typeface="Arial"/>
                <a:sym typeface="Arial"/>
              </a:rPr>
              <a:t>Chưa hết hạn</a:t>
            </a:r>
          </a:p>
        </p:txBody>
      </p:sp>
      <p:grpSp>
        <p:nvGrpSpPr>
          <p:cNvPr name="Group 41" id="41"/>
          <p:cNvGrpSpPr/>
          <p:nvPr/>
        </p:nvGrpSpPr>
        <p:grpSpPr>
          <a:xfrm rot="0">
            <a:off x="10329386" y="4775835"/>
            <a:ext cx="247650" cy="247650"/>
            <a:chOff x="0" y="0"/>
            <a:chExt cx="330200" cy="330200"/>
          </a:xfrm>
        </p:grpSpPr>
        <p:sp>
          <p:nvSpPr>
            <p:cNvPr name="Freeform 42" id="42" descr="CheckCircle"/>
            <p:cNvSpPr/>
            <p:nvPr/>
          </p:nvSpPr>
          <p:spPr>
            <a:xfrm flipH="false" flipV="false" rot="0">
              <a:off x="0" y="0"/>
              <a:ext cx="330200" cy="330200"/>
            </a:xfrm>
            <a:custGeom>
              <a:avLst/>
              <a:gdLst/>
              <a:ahLst/>
              <a:cxnLst/>
              <a:rect r="r" b="b" t="t" l="l"/>
              <a:pathLst>
                <a:path h="330200" w="330200">
                  <a:moveTo>
                    <a:pt x="0" y="0"/>
                  </a:moveTo>
                  <a:lnTo>
                    <a:pt x="330200" y="0"/>
                  </a:lnTo>
                  <a:lnTo>
                    <a:pt x="330200" y="330200"/>
                  </a:lnTo>
                  <a:lnTo>
                    <a:pt x="0" y="330200"/>
                  </a:lnTo>
                  <a:lnTo>
                    <a:pt x="0" y="0"/>
                  </a:lnTo>
                  <a:close/>
                </a:path>
              </a:pathLst>
            </a:custGeom>
            <a:blipFill>
              <a:blip r:embed="rId4"/>
              <a:stretch>
                <a:fillRect l="0" t="0" r="0" b="0"/>
              </a:stretch>
            </a:blipFill>
          </p:spPr>
        </p:sp>
      </p:grpSp>
      <p:sp>
        <p:nvSpPr>
          <p:cNvPr name="TextBox 43" id="43"/>
          <p:cNvSpPr txBox="true"/>
          <p:nvPr/>
        </p:nvSpPr>
        <p:spPr>
          <a:xfrm rot="0">
            <a:off x="10672286" y="4718685"/>
            <a:ext cx="2249138" cy="352425"/>
          </a:xfrm>
          <a:prstGeom prst="rect">
            <a:avLst/>
          </a:prstGeom>
        </p:spPr>
        <p:txBody>
          <a:bodyPr anchor="t" rtlCol="false" tIns="0" lIns="0" bIns="0" rIns="0">
            <a:spAutoFit/>
          </a:bodyPr>
          <a:lstStyle/>
          <a:p>
            <a:pPr algn="l">
              <a:lnSpc>
                <a:spcPts val="2100"/>
              </a:lnSpc>
            </a:pPr>
            <a:r>
              <a:rPr lang="en-US" sz="1500">
                <a:solidFill>
                  <a:srgbClr val="1B1D24"/>
                </a:solidFill>
                <a:latin typeface="Arial"/>
                <a:ea typeface="Arial"/>
                <a:cs typeface="Arial"/>
                <a:sym typeface="Arial"/>
              </a:rPr>
              <a:t>Đúng Firebase project</a:t>
            </a:r>
          </a:p>
        </p:txBody>
      </p:sp>
      <p:grpSp>
        <p:nvGrpSpPr>
          <p:cNvPr name="Group 44" id="44"/>
          <p:cNvGrpSpPr/>
          <p:nvPr/>
        </p:nvGrpSpPr>
        <p:grpSpPr>
          <a:xfrm rot="0">
            <a:off x="1219200" y="5452110"/>
            <a:ext cx="7829550" cy="998220"/>
            <a:chOff x="0" y="0"/>
            <a:chExt cx="10439400" cy="1330960"/>
          </a:xfrm>
        </p:grpSpPr>
        <p:sp>
          <p:nvSpPr>
            <p:cNvPr name="Freeform 45" id="45"/>
            <p:cNvSpPr/>
            <p:nvPr/>
          </p:nvSpPr>
          <p:spPr>
            <a:xfrm flipH="false" flipV="false" rot="0">
              <a:off x="0" y="0"/>
              <a:ext cx="10439400" cy="1330960"/>
            </a:xfrm>
            <a:custGeom>
              <a:avLst/>
              <a:gdLst/>
              <a:ahLst/>
              <a:cxnLst/>
              <a:rect r="r" b="b" t="t" l="l"/>
              <a:pathLst>
                <a:path h="1330960" w="10439400">
                  <a:moveTo>
                    <a:pt x="0" y="194183"/>
                  </a:moveTo>
                  <a:cubicBezTo>
                    <a:pt x="0" y="86995"/>
                    <a:pt x="86995" y="0"/>
                    <a:pt x="194183" y="0"/>
                  </a:cubicBezTo>
                  <a:lnTo>
                    <a:pt x="10245217" y="0"/>
                  </a:lnTo>
                  <a:cubicBezTo>
                    <a:pt x="10352405" y="0"/>
                    <a:pt x="10439400" y="86995"/>
                    <a:pt x="10439400" y="194183"/>
                  </a:cubicBezTo>
                  <a:lnTo>
                    <a:pt x="10439400" y="1136777"/>
                  </a:lnTo>
                  <a:cubicBezTo>
                    <a:pt x="10439400" y="1244092"/>
                    <a:pt x="10352405" y="1330960"/>
                    <a:pt x="10245217" y="1330960"/>
                  </a:cubicBezTo>
                  <a:lnTo>
                    <a:pt x="194183" y="1330960"/>
                  </a:lnTo>
                  <a:cubicBezTo>
                    <a:pt x="86995" y="1330960"/>
                    <a:pt x="0" y="1243965"/>
                    <a:pt x="0" y="1136777"/>
                  </a:cubicBezTo>
                  <a:close/>
                </a:path>
              </a:pathLst>
            </a:custGeom>
            <a:solidFill>
              <a:srgbClr val="E9F0FC"/>
            </a:solidFill>
            <a:ln w="19050" cap="sq">
              <a:solidFill>
                <a:srgbClr val="2F64D6"/>
              </a:solidFill>
              <a:prstDash val="solid"/>
              <a:miter/>
            </a:ln>
          </p:spPr>
        </p:sp>
      </p:grpSp>
      <p:sp>
        <p:nvSpPr>
          <p:cNvPr name="TextBox 46" id="46"/>
          <p:cNvSpPr txBox="true"/>
          <p:nvPr/>
        </p:nvSpPr>
        <p:spPr>
          <a:xfrm rot="0">
            <a:off x="1463040" y="5591175"/>
            <a:ext cx="7562126" cy="352425"/>
          </a:xfrm>
          <a:prstGeom prst="rect">
            <a:avLst/>
          </a:prstGeom>
        </p:spPr>
        <p:txBody>
          <a:bodyPr anchor="t" rtlCol="false" tIns="0" lIns="0" bIns="0" rIns="0">
            <a:spAutoFit/>
          </a:bodyPr>
          <a:lstStyle/>
          <a:p>
            <a:pPr algn="l">
              <a:lnSpc>
                <a:spcPts val="2100"/>
              </a:lnSpc>
            </a:pPr>
            <a:r>
              <a:rPr lang="en-US" b="true" sz="1500" spc="75">
                <a:solidFill>
                  <a:srgbClr val="1F4BAA"/>
                </a:solidFill>
                <a:latin typeface="Arial Bold"/>
                <a:ea typeface="Arial Bold"/>
                <a:cs typeface="Arial Bold"/>
                <a:sym typeface="Arial Bold"/>
              </a:rPr>
              <a:t>TOKEN HỢP LỆ</a:t>
            </a:r>
          </a:p>
        </p:txBody>
      </p:sp>
      <p:sp>
        <p:nvSpPr>
          <p:cNvPr name="TextBox 47" id="47"/>
          <p:cNvSpPr txBox="true"/>
          <p:nvPr/>
        </p:nvSpPr>
        <p:spPr>
          <a:xfrm rot="0">
            <a:off x="1463040" y="5934075"/>
            <a:ext cx="7562126" cy="367665"/>
          </a:xfrm>
          <a:prstGeom prst="rect">
            <a:avLst/>
          </a:prstGeom>
        </p:spPr>
        <p:txBody>
          <a:bodyPr anchor="t" rtlCol="false" tIns="0" lIns="0" bIns="0" rIns="0">
            <a:spAutoFit/>
          </a:bodyPr>
          <a:lstStyle/>
          <a:p>
            <a:pPr algn="l">
              <a:lnSpc>
                <a:spcPts val="2520"/>
              </a:lnSpc>
            </a:pPr>
            <a:r>
              <a:rPr lang="en-US" sz="2100" b="true">
                <a:solidFill>
                  <a:srgbClr val="1B1D24"/>
                </a:solidFill>
                <a:latin typeface="Arial Bold"/>
                <a:ea typeface="Arial Bold"/>
                <a:cs typeface="Arial Bold"/>
                <a:sym typeface="Arial Bold"/>
              </a:rPr>
              <a:t>Cho phép xử lý</a:t>
            </a:r>
          </a:p>
        </p:txBody>
      </p:sp>
      <p:grpSp>
        <p:nvGrpSpPr>
          <p:cNvPr name="Group 48" id="48"/>
          <p:cNvGrpSpPr/>
          <p:nvPr/>
        </p:nvGrpSpPr>
        <p:grpSpPr>
          <a:xfrm rot="0">
            <a:off x="9239250" y="5452110"/>
            <a:ext cx="7829550" cy="998220"/>
            <a:chOff x="0" y="0"/>
            <a:chExt cx="10439400" cy="1330960"/>
          </a:xfrm>
        </p:grpSpPr>
        <p:sp>
          <p:nvSpPr>
            <p:cNvPr name="Freeform 49" id="49"/>
            <p:cNvSpPr/>
            <p:nvPr/>
          </p:nvSpPr>
          <p:spPr>
            <a:xfrm flipH="false" flipV="false" rot="0">
              <a:off x="0" y="0"/>
              <a:ext cx="10439400" cy="1330960"/>
            </a:xfrm>
            <a:custGeom>
              <a:avLst/>
              <a:gdLst/>
              <a:ahLst/>
              <a:cxnLst/>
              <a:rect r="r" b="b" t="t" l="l"/>
              <a:pathLst>
                <a:path h="1330960" w="10439400">
                  <a:moveTo>
                    <a:pt x="0" y="194183"/>
                  </a:moveTo>
                  <a:cubicBezTo>
                    <a:pt x="0" y="86995"/>
                    <a:pt x="86995" y="0"/>
                    <a:pt x="194183" y="0"/>
                  </a:cubicBezTo>
                  <a:lnTo>
                    <a:pt x="10245217" y="0"/>
                  </a:lnTo>
                  <a:cubicBezTo>
                    <a:pt x="10352405" y="0"/>
                    <a:pt x="10439400" y="86995"/>
                    <a:pt x="10439400" y="194183"/>
                  </a:cubicBezTo>
                  <a:lnTo>
                    <a:pt x="10439400" y="1136777"/>
                  </a:lnTo>
                  <a:cubicBezTo>
                    <a:pt x="10439400" y="1244092"/>
                    <a:pt x="10352405" y="1330960"/>
                    <a:pt x="10245217" y="1330960"/>
                  </a:cubicBezTo>
                  <a:lnTo>
                    <a:pt x="194183" y="1330960"/>
                  </a:lnTo>
                  <a:cubicBezTo>
                    <a:pt x="86995" y="1330960"/>
                    <a:pt x="0" y="1243965"/>
                    <a:pt x="0" y="1136777"/>
                  </a:cubicBezTo>
                  <a:close/>
                </a:path>
              </a:pathLst>
            </a:custGeom>
            <a:solidFill>
              <a:srgbClr val="FBEAE7"/>
            </a:solidFill>
            <a:ln w="19050" cap="sq">
              <a:solidFill>
                <a:srgbClr val="B03A2E"/>
              </a:solidFill>
              <a:prstDash val="solid"/>
              <a:miter/>
            </a:ln>
          </p:spPr>
        </p:sp>
      </p:grpSp>
      <p:sp>
        <p:nvSpPr>
          <p:cNvPr name="TextBox 50" id="50"/>
          <p:cNvSpPr txBox="true"/>
          <p:nvPr/>
        </p:nvSpPr>
        <p:spPr>
          <a:xfrm rot="0">
            <a:off x="9483090" y="5591175"/>
            <a:ext cx="7562126" cy="352425"/>
          </a:xfrm>
          <a:prstGeom prst="rect">
            <a:avLst/>
          </a:prstGeom>
        </p:spPr>
        <p:txBody>
          <a:bodyPr anchor="t" rtlCol="false" tIns="0" lIns="0" bIns="0" rIns="0">
            <a:spAutoFit/>
          </a:bodyPr>
          <a:lstStyle/>
          <a:p>
            <a:pPr algn="l">
              <a:lnSpc>
                <a:spcPts val="2100"/>
              </a:lnSpc>
            </a:pPr>
            <a:r>
              <a:rPr lang="en-US" b="true" sz="1500" spc="75">
                <a:solidFill>
                  <a:srgbClr val="962F25"/>
                </a:solidFill>
                <a:latin typeface="Arial Bold"/>
                <a:ea typeface="Arial Bold"/>
                <a:cs typeface="Arial Bold"/>
                <a:sym typeface="Arial Bold"/>
              </a:rPr>
              <a:t>TOKEN SAI / HẾT HẠN</a:t>
            </a:r>
          </a:p>
        </p:txBody>
      </p:sp>
      <p:sp>
        <p:nvSpPr>
          <p:cNvPr name="TextBox 51" id="51"/>
          <p:cNvSpPr txBox="true"/>
          <p:nvPr/>
        </p:nvSpPr>
        <p:spPr>
          <a:xfrm rot="0">
            <a:off x="9483090" y="5934075"/>
            <a:ext cx="7562126" cy="367665"/>
          </a:xfrm>
          <a:prstGeom prst="rect">
            <a:avLst/>
          </a:prstGeom>
        </p:spPr>
        <p:txBody>
          <a:bodyPr anchor="t" rtlCol="false" tIns="0" lIns="0" bIns="0" rIns="0">
            <a:spAutoFit/>
          </a:bodyPr>
          <a:lstStyle/>
          <a:p>
            <a:pPr algn="l">
              <a:lnSpc>
                <a:spcPts val="2520"/>
              </a:lnSpc>
            </a:pPr>
            <a:r>
              <a:rPr lang="en-US" sz="2100" b="true">
                <a:solidFill>
                  <a:srgbClr val="1B1D24"/>
                </a:solidFill>
                <a:latin typeface="Arial Bold"/>
                <a:ea typeface="Arial Bold"/>
                <a:cs typeface="Arial Bold"/>
                <a:sym typeface="Arial Bold"/>
              </a:rPr>
              <a:t>Từ chối truy cập</a:t>
            </a:r>
          </a:p>
        </p:txBody>
      </p:sp>
      <p:sp>
        <p:nvSpPr>
          <p:cNvPr name="TextBox 52" id="52"/>
          <p:cNvSpPr txBox="true"/>
          <p:nvPr/>
        </p:nvSpPr>
        <p:spPr>
          <a:xfrm rot="0">
            <a:off x="1219200" y="6631305"/>
            <a:ext cx="16325088" cy="352425"/>
          </a:xfrm>
          <a:prstGeom prst="rect">
            <a:avLst/>
          </a:prstGeom>
        </p:spPr>
        <p:txBody>
          <a:bodyPr anchor="t" rtlCol="false" tIns="0" lIns="0" bIns="0" rIns="0">
            <a:spAutoFit/>
          </a:bodyPr>
          <a:lstStyle/>
          <a:p>
            <a:pPr algn="l">
              <a:lnSpc>
                <a:spcPts val="2100"/>
              </a:lnSpc>
            </a:pPr>
            <a:r>
              <a:rPr lang="en-US" sz="1500" b="true">
                <a:solidFill>
                  <a:srgbClr val="1B1D24"/>
                </a:solidFill>
                <a:latin typeface="Arial Bold"/>
                <a:ea typeface="Arial Bold"/>
                <a:cs typeface="Arial Bold"/>
                <a:sym typeface="Arial Bold"/>
              </a:rPr>
              <a:t>Demo nhóm: Firestore xác minh người dùng và áp Security Rules ở phía server.</a:t>
            </a:r>
          </a:p>
        </p:txBody>
      </p:sp>
      <p:sp>
        <p:nvSpPr>
          <p:cNvPr name="TextBox 53" id="53"/>
          <p:cNvSpPr txBox="true"/>
          <p:nvPr/>
        </p:nvSpPr>
        <p:spPr>
          <a:xfrm rot="0">
            <a:off x="15849600" y="9300210"/>
            <a:ext cx="1219200" cy="415290"/>
          </a:xfrm>
          <a:prstGeom prst="rect">
            <a:avLst/>
          </a:prstGeom>
        </p:spPr>
        <p:txBody>
          <a:bodyPr anchor="t" rtlCol="false" tIns="0" lIns="0" bIns="0" rIns="0">
            <a:spAutoFit/>
          </a:bodyPr>
          <a:lstStyle/>
          <a:p>
            <a:pPr algn="r">
              <a:lnSpc>
                <a:spcPts val="2520"/>
              </a:lnSpc>
            </a:pPr>
            <a:r>
              <a:rPr lang="en-US" sz="1800">
                <a:solidFill>
                  <a:srgbClr val="6B7080"/>
                </a:solidFill>
                <a:latin typeface="Arial"/>
                <a:ea typeface="Arial"/>
                <a:cs typeface="Arial"/>
                <a:sym typeface="Arial"/>
              </a:rPr>
              <a:t>08</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7F6F2"/>
        </a:solidFill>
      </p:bgPr>
    </p:bg>
    <p:spTree>
      <p:nvGrpSpPr>
        <p:cNvPr id="1" name=""/>
        <p:cNvGrpSpPr/>
        <p:nvPr/>
      </p:nvGrpSpPr>
      <p:grpSpPr>
        <a:xfrm>
          <a:off x="0" y="0"/>
          <a:ext cx="0" cy="0"/>
          <a:chOff x="0" y="0"/>
          <a:chExt cx="0" cy="0"/>
        </a:xfrm>
      </p:grpSpPr>
      <p:sp>
        <p:nvSpPr>
          <p:cNvPr name="TextBox 2" id="2"/>
          <p:cNvSpPr txBox="true"/>
          <p:nvPr/>
        </p:nvSpPr>
        <p:spPr>
          <a:xfrm rot="0">
            <a:off x="1219200" y="1162050"/>
            <a:ext cx="16325088" cy="415290"/>
          </a:xfrm>
          <a:prstGeom prst="rect">
            <a:avLst/>
          </a:prstGeom>
        </p:spPr>
        <p:txBody>
          <a:bodyPr anchor="t" rtlCol="false" tIns="0" lIns="0" bIns="0" rIns="0">
            <a:spAutoFit/>
          </a:bodyPr>
          <a:lstStyle/>
          <a:p>
            <a:pPr algn="l">
              <a:lnSpc>
                <a:spcPts val="2520"/>
              </a:lnSpc>
            </a:pPr>
            <a:r>
              <a:rPr lang="en-US" b="true" sz="1800" spc="225">
                <a:solidFill>
                  <a:srgbClr val="8F5300"/>
                </a:solidFill>
                <a:latin typeface="Arial Bold"/>
                <a:ea typeface="Arial Bold"/>
                <a:cs typeface="Arial Bold"/>
                <a:sym typeface="Arial Bold"/>
              </a:rPr>
              <a:t>PHẦN 3 · PHÂN NHÁNH NGƯỜI DÙNG</a:t>
            </a:r>
          </a:p>
        </p:txBody>
      </p:sp>
      <p:sp>
        <p:nvSpPr>
          <p:cNvPr name="TextBox 3" id="3"/>
          <p:cNvSpPr txBox="true"/>
          <p:nvPr/>
        </p:nvSpPr>
        <p:spPr>
          <a:xfrm rot="0">
            <a:off x="1219200" y="1710700"/>
            <a:ext cx="16325088" cy="773430"/>
          </a:xfrm>
          <a:prstGeom prst="rect">
            <a:avLst/>
          </a:prstGeom>
        </p:spPr>
        <p:txBody>
          <a:bodyPr anchor="t" rtlCol="false" tIns="0" lIns="0" bIns="0" rIns="0">
            <a:spAutoFit/>
          </a:bodyPr>
          <a:lstStyle/>
          <a:p>
            <a:pPr algn="l">
              <a:lnSpc>
                <a:spcPts val="5940"/>
              </a:lnSpc>
            </a:pPr>
            <a:r>
              <a:rPr lang="en-US" sz="5400" b="true">
                <a:solidFill>
                  <a:srgbClr val="1B1D24"/>
                </a:solidFill>
                <a:latin typeface="Arial Bold"/>
                <a:ea typeface="Arial Bold"/>
                <a:cs typeface="Arial Bold"/>
                <a:sym typeface="Arial Bold"/>
              </a:rPr>
              <a:t>Vai trò được xác định thế nào?</a:t>
            </a:r>
          </a:p>
        </p:txBody>
      </p:sp>
      <p:grpSp>
        <p:nvGrpSpPr>
          <p:cNvPr name="Group 4" id="4"/>
          <p:cNvGrpSpPr/>
          <p:nvPr/>
        </p:nvGrpSpPr>
        <p:grpSpPr>
          <a:xfrm rot="0">
            <a:off x="1219200" y="2827020"/>
            <a:ext cx="7764780" cy="5040630"/>
            <a:chOff x="0" y="0"/>
            <a:chExt cx="10353040" cy="6720840"/>
          </a:xfrm>
        </p:grpSpPr>
        <p:sp>
          <p:nvSpPr>
            <p:cNvPr name="Freeform 5" id="5"/>
            <p:cNvSpPr/>
            <p:nvPr/>
          </p:nvSpPr>
          <p:spPr>
            <a:xfrm flipH="false" flipV="false" rot="0">
              <a:off x="0" y="0"/>
              <a:ext cx="10353040" cy="6720840"/>
            </a:xfrm>
            <a:custGeom>
              <a:avLst/>
              <a:gdLst/>
              <a:ahLst/>
              <a:cxnLst/>
              <a:rect r="r" b="b" t="t" l="l"/>
              <a:pathLst>
                <a:path h="6720840" w="10353040">
                  <a:moveTo>
                    <a:pt x="0" y="304800"/>
                  </a:moveTo>
                  <a:cubicBezTo>
                    <a:pt x="0" y="136398"/>
                    <a:pt x="136398" y="0"/>
                    <a:pt x="304800" y="0"/>
                  </a:cubicBezTo>
                  <a:lnTo>
                    <a:pt x="10048240" y="0"/>
                  </a:lnTo>
                  <a:cubicBezTo>
                    <a:pt x="10216515" y="0"/>
                    <a:pt x="10353040" y="136398"/>
                    <a:pt x="10353040" y="304800"/>
                  </a:cubicBezTo>
                  <a:lnTo>
                    <a:pt x="10353040" y="6416040"/>
                  </a:lnTo>
                  <a:cubicBezTo>
                    <a:pt x="10353040" y="6584315"/>
                    <a:pt x="10216642" y="6720840"/>
                    <a:pt x="10048240" y="6720840"/>
                  </a:cubicBezTo>
                  <a:lnTo>
                    <a:pt x="304800" y="6720840"/>
                  </a:lnTo>
                  <a:cubicBezTo>
                    <a:pt x="136525" y="6720840"/>
                    <a:pt x="0" y="6584442"/>
                    <a:pt x="0" y="6416040"/>
                  </a:cubicBezTo>
                  <a:close/>
                </a:path>
              </a:pathLst>
            </a:custGeom>
            <a:solidFill>
              <a:srgbClr val="15171E"/>
            </a:solidFill>
          </p:spPr>
        </p:sp>
      </p:grpSp>
      <p:sp>
        <p:nvSpPr>
          <p:cNvPr name="TextBox 6" id="6"/>
          <p:cNvSpPr txBox="true"/>
          <p:nvPr/>
        </p:nvSpPr>
        <p:spPr>
          <a:xfrm rot="0">
            <a:off x="1600200" y="3179445"/>
            <a:ext cx="7212863" cy="569595"/>
          </a:xfrm>
          <a:prstGeom prst="rect">
            <a:avLst/>
          </a:prstGeom>
        </p:spPr>
        <p:txBody>
          <a:bodyPr anchor="t" rtlCol="false" tIns="0" lIns="0" bIns="0" rIns="0">
            <a:spAutoFit/>
          </a:bodyPr>
          <a:lstStyle/>
          <a:p>
            <a:pPr algn="l">
              <a:lnSpc>
                <a:spcPts val="3960"/>
              </a:lnSpc>
            </a:pPr>
            <a:r>
              <a:rPr lang="en-US" sz="3300" b="true">
                <a:solidFill>
                  <a:srgbClr val="F2F0EA"/>
                </a:solidFill>
                <a:latin typeface="Arial Bold"/>
                <a:ea typeface="Arial Bold"/>
                <a:cs typeface="Arial Bold"/>
                <a:sym typeface="Arial Bold"/>
              </a:rPr>
              <a:t>Tài khoản trường</a:t>
            </a:r>
          </a:p>
        </p:txBody>
      </p:sp>
      <p:sp>
        <p:nvSpPr>
          <p:cNvPr name="TextBox 7" id="7"/>
          <p:cNvSpPr txBox="true"/>
          <p:nvPr/>
        </p:nvSpPr>
        <p:spPr>
          <a:xfrm rot="0">
            <a:off x="1600200" y="3844300"/>
            <a:ext cx="7212863" cy="415290"/>
          </a:xfrm>
          <a:prstGeom prst="rect">
            <a:avLst/>
          </a:prstGeom>
        </p:spPr>
        <p:txBody>
          <a:bodyPr anchor="t" rtlCol="false" tIns="0" lIns="0" bIns="0" rIns="0">
            <a:spAutoFit/>
          </a:bodyPr>
          <a:lstStyle/>
          <a:p>
            <a:pPr algn="l">
              <a:lnSpc>
                <a:spcPts val="2520"/>
              </a:lnSpc>
            </a:pPr>
            <a:r>
              <a:rPr lang="en-US" b="true" sz="1800" spc="149">
                <a:solidFill>
                  <a:srgbClr val="F2A72B"/>
                </a:solidFill>
                <a:latin typeface="Arial Bold"/>
                <a:ea typeface="Arial Bold"/>
                <a:cs typeface="Arial Bold"/>
                <a:sym typeface="Arial Bold"/>
              </a:rPr>
              <a:t>EMAIL</a:t>
            </a:r>
          </a:p>
        </p:txBody>
      </p:sp>
      <p:sp>
        <p:nvSpPr>
          <p:cNvPr name="TextBox 8" id="8"/>
          <p:cNvSpPr txBox="true"/>
          <p:nvPr/>
        </p:nvSpPr>
        <p:spPr>
          <a:xfrm rot="0">
            <a:off x="1600200" y="4231005"/>
            <a:ext cx="7212863" cy="497205"/>
          </a:xfrm>
          <a:prstGeom prst="rect">
            <a:avLst/>
          </a:prstGeom>
        </p:spPr>
        <p:txBody>
          <a:bodyPr anchor="t" rtlCol="false" tIns="0" lIns="0" bIns="0" rIns="0">
            <a:spAutoFit/>
          </a:bodyPr>
          <a:lstStyle/>
          <a:p>
            <a:pPr algn="l">
              <a:lnSpc>
                <a:spcPts val="3240"/>
              </a:lnSpc>
            </a:pPr>
            <a:r>
              <a:rPr lang="en-US" sz="2400">
                <a:solidFill>
                  <a:srgbClr val="F2F0EA"/>
                </a:solidFill>
                <a:latin typeface="Arial"/>
                <a:ea typeface="Arial"/>
                <a:cs typeface="Arial"/>
                <a:sym typeface="Arial"/>
              </a:rPr>
              <a:t>@student.tdtu.edu.vn · @tdtu.edu.vn</a:t>
            </a:r>
          </a:p>
        </p:txBody>
      </p:sp>
      <p:sp>
        <p:nvSpPr>
          <p:cNvPr name="TextBox 9" id="9"/>
          <p:cNvSpPr txBox="true"/>
          <p:nvPr/>
        </p:nvSpPr>
        <p:spPr>
          <a:xfrm rot="0">
            <a:off x="1600200" y="4823460"/>
            <a:ext cx="7212863" cy="415290"/>
          </a:xfrm>
          <a:prstGeom prst="rect">
            <a:avLst/>
          </a:prstGeom>
        </p:spPr>
        <p:txBody>
          <a:bodyPr anchor="t" rtlCol="false" tIns="0" lIns="0" bIns="0" rIns="0">
            <a:spAutoFit/>
          </a:bodyPr>
          <a:lstStyle/>
          <a:p>
            <a:pPr algn="l">
              <a:lnSpc>
                <a:spcPts val="2520"/>
              </a:lnSpc>
            </a:pPr>
            <a:r>
              <a:rPr lang="en-US" b="true" sz="1800" spc="149">
                <a:solidFill>
                  <a:srgbClr val="F2A72B"/>
                </a:solidFill>
                <a:latin typeface="Arial Bold"/>
                <a:ea typeface="Arial Bold"/>
                <a:cs typeface="Arial Bold"/>
                <a:sym typeface="Arial Bold"/>
              </a:rPr>
              <a:t>XÁC THỰC</a:t>
            </a:r>
          </a:p>
        </p:txBody>
      </p:sp>
      <p:sp>
        <p:nvSpPr>
          <p:cNvPr name="TextBox 10" id="10"/>
          <p:cNvSpPr txBox="true"/>
          <p:nvPr/>
        </p:nvSpPr>
        <p:spPr>
          <a:xfrm rot="0">
            <a:off x="1600200" y="5210175"/>
            <a:ext cx="7212863" cy="497205"/>
          </a:xfrm>
          <a:prstGeom prst="rect">
            <a:avLst/>
          </a:prstGeom>
        </p:spPr>
        <p:txBody>
          <a:bodyPr anchor="t" rtlCol="false" tIns="0" lIns="0" bIns="0" rIns="0">
            <a:spAutoFit/>
          </a:bodyPr>
          <a:lstStyle/>
          <a:p>
            <a:pPr algn="l">
              <a:lnSpc>
                <a:spcPts val="3240"/>
              </a:lnSpc>
            </a:pPr>
            <a:r>
              <a:rPr lang="en-US" sz="2400">
                <a:solidFill>
                  <a:srgbClr val="F2F0EA"/>
                </a:solidFill>
                <a:latin typeface="Arial"/>
                <a:ea typeface="Arial"/>
                <a:cs typeface="Arial"/>
                <a:sym typeface="Arial"/>
              </a:rPr>
              <a:t>Kiểm tra email đã xác minh</a:t>
            </a:r>
          </a:p>
        </p:txBody>
      </p:sp>
      <p:sp>
        <p:nvSpPr>
          <p:cNvPr name="TextBox 11" id="11"/>
          <p:cNvSpPr txBox="true"/>
          <p:nvPr/>
        </p:nvSpPr>
        <p:spPr>
          <a:xfrm rot="0">
            <a:off x="1600200" y="5802630"/>
            <a:ext cx="7212863" cy="415290"/>
          </a:xfrm>
          <a:prstGeom prst="rect">
            <a:avLst/>
          </a:prstGeom>
        </p:spPr>
        <p:txBody>
          <a:bodyPr anchor="t" rtlCol="false" tIns="0" lIns="0" bIns="0" rIns="0">
            <a:spAutoFit/>
          </a:bodyPr>
          <a:lstStyle/>
          <a:p>
            <a:pPr algn="l">
              <a:lnSpc>
                <a:spcPts val="2520"/>
              </a:lnSpc>
            </a:pPr>
            <a:r>
              <a:rPr lang="en-US" b="true" sz="1800" spc="149">
                <a:solidFill>
                  <a:srgbClr val="F2A72B"/>
                </a:solidFill>
                <a:latin typeface="Arial Bold"/>
                <a:ea typeface="Arial Bold"/>
                <a:cs typeface="Arial Bold"/>
                <a:sym typeface="Arial Bold"/>
              </a:rPr>
              <a:t>VAI TRÒ</a:t>
            </a:r>
          </a:p>
        </p:txBody>
      </p:sp>
      <p:sp>
        <p:nvSpPr>
          <p:cNvPr name="TextBox 12" id="12"/>
          <p:cNvSpPr txBox="true"/>
          <p:nvPr/>
        </p:nvSpPr>
        <p:spPr>
          <a:xfrm rot="0">
            <a:off x="1600200" y="6189345"/>
            <a:ext cx="7212863" cy="908685"/>
          </a:xfrm>
          <a:prstGeom prst="rect">
            <a:avLst/>
          </a:prstGeom>
        </p:spPr>
        <p:txBody>
          <a:bodyPr anchor="t" rtlCol="false" tIns="0" lIns="0" bIns="0" rIns="0">
            <a:spAutoFit/>
          </a:bodyPr>
          <a:lstStyle/>
          <a:p>
            <a:pPr algn="l">
              <a:lnSpc>
                <a:spcPts val="3240"/>
              </a:lnSpc>
            </a:pPr>
            <a:r>
              <a:rPr lang="en-US" sz="2400">
                <a:solidFill>
                  <a:srgbClr val="F2F0EA"/>
                </a:solidFill>
                <a:latin typeface="Arial"/>
                <a:ea typeface="Arial"/>
                <a:cs typeface="Arial"/>
                <a:sym typeface="Arial"/>
              </a:rPr>
              <a:t>Sinh viên: đọc + ghi</a:t>
            </a:r>
          </a:p>
          <a:p>
            <a:pPr algn="l">
              <a:lnSpc>
                <a:spcPts val="3240"/>
              </a:lnSpc>
            </a:pPr>
            <a:r>
              <a:rPr lang="en-US" sz="2400">
                <a:solidFill>
                  <a:srgbClr val="F2F0EA"/>
                </a:solidFill>
                <a:latin typeface="Arial"/>
                <a:ea typeface="Arial"/>
                <a:cs typeface="Arial"/>
                <a:sym typeface="Arial"/>
              </a:rPr>
              <a:t>Giảng viên: chỉ đọc</a:t>
            </a:r>
          </a:p>
        </p:txBody>
      </p:sp>
      <p:grpSp>
        <p:nvGrpSpPr>
          <p:cNvPr name="Group 13" id="13"/>
          <p:cNvGrpSpPr/>
          <p:nvPr/>
        </p:nvGrpSpPr>
        <p:grpSpPr>
          <a:xfrm rot="0">
            <a:off x="9288780" y="2827020"/>
            <a:ext cx="7780020" cy="5040630"/>
            <a:chOff x="0" y="0"/>
            <a:chExt cx="10373360" cy="6720840"/>
          </a:xfrm>
        </p:grpSpPr>
        <p:sp>
          <p:nvSpPr>
            <p:cNvPr name="Freeform 14" id="14"/>
            <p:cNvSpPr/>
            <p:nvPr/>
          </p:nvSpPr>
          <p:spPr>
            <a:xfrm flipH="false" flipV="false" rot="0">
              <a:off x="0" y="0"/>
              <a:ext cx="10373360" cy="6720840"/>
            </a:xfrm>
            <a:custGeom>
              <a:avLst/>
              <a:gdLst/>
              <a:ahLst/>
              <a:cxnLst/>
              <a:rect r="r" b="b" t="t" l="l"/>
              <a:pathLst>
                <a:path h="6720840" w="10373360">
                  <a:moveTo>
                    <a:pt x="0" y="298958"/>
                  </a:moveTo>
                  <a:cubicBezTo>
                    <a:pt x="0" y="133858"/>
                    <a:pt x="133858" y="0"/>
                    <a:pt x="298958" y="0"/>
                  </a:cubicBezTo>
                  <a:lnTo>
                    <a:pt x="10074402" y="0"/>
                  </a:lnTo>
                  <a:cubicBezTo>
                    <a:pt x="10239502" y="0"/>
                    <a:pt x="10373360" y="133858"/>
                    <a:pt x="10373360" y="298958"/>
                  </a:cubicBezTo>
                  <a:lnTo>
                    <a:pt x="10373360" y="6421882"/>
                  </a:lnTo>
                  <a:cubicBezTo>
                    <a:pt x="10373360" y="6586982"/>
                    <a:pt x="10239502" y="6720840"/>
                    <a:pt x="10074402" y="6720840"/>
                  </a:cubicBezTo>
                  <a:lnTo>
                    <a:pt x="298958" y="6720840"/>
                  </a:lnTo>
                  <a:cubicBezTo>
                    <a:pt x="133858" y="6720840"/>
                    <a:pt x="0" y="6586982"/>
                    <a:pt x="0" y="6421882"/>
                  </a:cubicBezTo>
                  <a:close/>
                </a:path>
              </a:pathLst>
            </a:custGeom>
            <a:solidFill>
              <a:srgbClr val="FFFEFB"/>
            </a:solidFill>
            <a:ln w="9525" cap="sq">
              <a:solidFill>
                <a:srgbClr val="E2DED3"/>
              </a:solidFill>
              <a:prstDash val="solid"/>
              <a:miter/>
            </a:ln>
          </p:spPr>
        </p:sp>
      </p:grpSp>
      <p:sp>
        <p:nvSpPr>
          <p:cNvPr name="TextBox 15" id="15"/>
          <p:cNvSpPr txBox="true"/>
          <p:nvPr/>
        </p:nvSpPr>
        <p:spPr>
          <a:xfrm rot="0">
            <a:off x="9677400" y="3187075"/>
            <a:ext cx="7212863" cy="569595"/>
          </a:xfrm>
          <a:prstGeom prst="rect">
            <a:avLst/>
          </a:prstGeom>
        </p:spPr>
        <p:txBody>
          <a:bodyPr anchor="t" rtlCol="false" tIns="0" lIns="0" bIns="0" rIns="0">
            <a:spAutoFit/>
          </a:bodyPr>
          <a:lstStyle/>
          <a:p>
            <a:pPr algn="l">
              <a:lnSpc>
                <a:spcPts val="3960"/>
              </a:lnSpc>
            </a:pPr>
            <a:r>
              <a:rPr lang="en-US" sz="3300" b="true">
                <a:solidFill>
                  <a:srgbClr val="1B1D24"/>
                </a:solidFill>
                <a:latin typeface="Arial Bold"/>
                <a:ea typeface="Arial Bold"/>
                <a:cs typeface="Arial Bold"/>
                <a:sym typeface="Arial Bold"/>
              </a:rPr>
              <a:t>Gmail cá nhân</a:t>
            </a:r>
          </a:p>
        </p:txBody>
      </p:sp>
      <p:sp>
        <p:nvSpPr>
          <p:cNvPr name="TextBox 16" id="16"/>
          <p:cNvSpPr txBox="true"/>
          <p:nvPr/>
        </p:nvSpPr>
        <p:spPr>
          <a:xfrm rot="0">
            <a:off x="9677400" y="3851910"/>
            <a:ext cx="7212863" cy="415290"/>
          </a:xfrm>
          <a:prstGeom prst="rect">
            <a:avLst/>
          </a:prstGeom>
        </p:spPr>
        <p:txBody>
          <a:bodyPr anchor="t" rtlCol="false" tIns="0" lIns="0" bIns="0" rIns="0">
            <a:spAutoFit/>
          </a:bodyPr>
          <a:lstStyle/>
          <a:p>
            <a:pPr algn="l">
              <a:lnSpc>
                <a:spcPts val="2520"/>
              </a:lnSpc>
            </a:pPr>
            <a:r>
              <a:rPr lang="en-US" b="true" sz="1800" spc="149">
                <a:solidFill>
                  <a:srgbClr val="8F5300"/>
                </a:solidFill>
                <a:latin typeface="Arial Bold"/>
                <a:ea typeface="Arial Bold"/>
                <a:cs typeface="Arial Bold"/>
                <a:sym typeface="Arial Bold"/>
              </a:rPr>
              <a:t>EMAIL</a:t>
            </a:r>
          </a:p>
        </p:txBody>
      </p:sp>
      <p:sp>
        <p:nvSpPr>
          <p:cNvPr name="TextBox 17" id="17"/>
          <p:cNvSpPr txBox="true"/>
          <p:nvPr/>
        </p:nvSpPr>
        <p:spPr>
          <a:xfrm rot="0">
            <a:off x="9677400" y="4238625"/>
            <a:ext cx="7212863" cy="497205"/>
          </a:xfrm>
          <a:prstGeom prst="rect">
            <a:avLst/>
          </a:prstGeom>
        </p:spPr>
        <p:txBody>
          <a:bodyPr anchor="t" rtlCol="false" tIns="0" lIns="0" bIns="0" rIns="0">
            <a:spAutoFit/>
          </a:bodyPr>
          <a:lstStyle/>
          <a:p>
            <a:pPr algn="l">
              <a:lnSpc>
                <a:spcPts val="3240"/>
              </a:lnSpc>
            </a:pPr>
            <a:r>
              <a:rPr lang="en-US" sz="2400">
                <a:solidFill>
                  <a:srgbClr val="1B1D24"/>
                </a:solidFill>
                <a:latin typeface="Arial"/>
                <a:ea typeface="Arial"/>
                <a:cs typeface="Arial"/>
                <a:sym typeface="Arial"/>
              </a:rPr>
              <a:t>Gmail đã khai báo / Gmail khác</a:t>
            </a:r>
          </a:p>
        </p:txBody>
      </p:sp>
      <p:sp>
        <p:nvSpPr>
          <p:cNvPr name="TextBox 18" id="18"/>
          <p:cNvSpPr txBox="true"/>
          <p:nvPr/>
        </p:nvSpPr>
        <p:spPr>
          <a:xfrm rot="0">
            <a:off x="9677400" y="4831080"/>
            <a:ext cx="7212863" cy="415290"/>
          </a:xfrm>
          <a:prstGeom prst="rect">
            <a:avLst/>
          </a:prstGeom>
        </p:spPr>
        <p:txBody>
          <a:bodyPr anchor="t" rtlCol="false" tIns="0" lIns="0" bIns="0" rIns="0">
            <a:spAutoFit/>
          </a:bodyPr>
          <a:lstStyle/>
          <a:p>
            <a:pPr algn="l">
              <a:lnSpc>
                <a:spcPts val="2520"/>
              </a:lnSpc>
            </a:pPr>
            <a:r>
              <a:rPr lang="en-US" b="true" sz="1800" spc="149">
                <a:solidFill>
                  <a:srgbClr val="8F5300"/>
                </a:solidFill>
                <a:latin typeface="Arial Bold"/>
                <a:ea typeface="Arial Bold"/>
                <a:cs typeface="Arial Bold"/>
                <a:sym typeface="Arial Bold"/>
              </a:rPr>
              <a:t>CƠ CHẾ</a:t>
            </a:r>
          </a:p>
        </p:txBody>
      </p:sp>
      <p:sp>
        <p:nvSpPr>
          <p:cNvPr name="TextBox 19" id="19"/>
          <p:cNvSpPr txBox="true"/>
          <p:nvPr/>
        </p:nvSpPr>
        <p:spPr>
          <a:xfrm rot="0">
            <a:off x="9677400" y="5217795"/>
            <a:ext cx="7212863" cy="908685"/>
          </a:xfrm>
          <a:prstGeom prst="rect">
            <a:avLst/>
          </a:prstGeom>
        </p:spPr>
        <p:txBody>
          <a:bodyPr anchor="t" rtlCol="false" tIns="0" lIns="0" bIns="0" rIns="0">
            <a:spAutoFit/>
          </a:bodyPr>
          <a:lstStyle/>
          <a:p>
            <a:pPr algn="l">
              <a:lnSpc>
                <a:spcPts val="3240"/>
              </a:lnSpc>
            </a:pPr>
            <a:r>
              <a:rPr lang="en-US" sz="2400">
                <a:solidFill>
                  <a:srgbClr val="1B1D24"/>
                </a:solidFill>
                <a:latin typeface="Arial"/>
                <a:ea typeface="Arial"/>
                <a:cs typeface="Arial"/>
                <a:sym typeface="Arial"/>
              </a:rPr>
              <a:t>Đã khai báo → Giảng viên</a:t>
            </a:r>
          </a:p>
          <a:p>
            <a:pPr algn="l">
              <a:lnSpc>
                <a:spcPts val="3240"/>
              </a:lnSpc>
            </a:pPr>
            <a:r>
              <a:rPr lang="en-US" sz="2400">
                <a:solidFill>
                  <a:srgbClr val="1B1D24"/>
                </a:solidFill>
                <a:latin typeface="Arial"/>
                <a:ea typeface="Arial"/>
                <a:cs typeface="Arial"/>
                <a:sym typeface="Arial"/>
              </a:rPr>
              <a:t>Gmail khác → chế độ demo</a:t>
            </a:r>
          </a:p>
        </p:txBody>
      </p:sp>
      <p:sp>
        <p:nvSpPr>
          <p:cNvPr name="TextBox 20" id="20"/>
          <p:cNvSpPr txBox="true"/>
          <p:nvPr/>
        </p:nvSpPr>
        <p:spPr>
          <a:xfrm rot="0">
            <a:off x="9677400" y="6221730"/>
            <a:ext cx="7212863" cy="415290"/>
          </a:xfrm>
          <a:prstGeom prst="rect">
            <a:avLst/>
          </a:prstGeom>
        </p:spPr>
        <p:txBody>
          <a:bodyPr anchor="t" rtlCol="false" tIns="0" lIns="0" bIns="0" rIns="0">
            <a:spAutoFit/>
          </a:bodyPr>
          <a:lstStyle/>
          <a:p>
            <a:pPr algn="l">
              <a:lnSpc>
                <a:spcPts val="2520"/>
              </a:lnSpc>
            </a:pPr>
            <a:r>
              <a:rPr lang="en-US" b="true" sz="1800" spc="149">
                <a:solidFill>
                  <a:srgbClr val="8F5300"/>
                </a:solidFill>
                <a:latin typeface="Arial Bold"/>
                <a:ea typeface="Arial Bold"/>
                <a:cs typeface="Arial Bold"/>
                <a:sym typeface="Arial Bold"/>
              </a:rPr>
              <a:t>VAI TRÒ</a:t>
            </a:r>
          </a:p>
        </p:txBody>
      </p:sp>
      <p:sp>
        <p:nvSpPr>
          <p:cNvPr name="TextBox 21" id="21"/>
          <p:cNvSpPr txBox="true"/>
          <p:nvPr/>
        </p:nvSpPr>
        <p:spPr>
          <a:xfrm rot="0">
            <a:off x="9677400" y="6608445"/>
            <a:ext cx="7212863" cy="908685"/>
          </a:xfrm>
          <a:prstGeom prst="rect">
            <a:avLst/>
          </a:prstGeom>
        </p:spPr>
        <p:txBody>
          <a:bodyPr anchor="t" rtlCol="false" tIns="0" lIns="0" bIns="0" rIns="0">
            <a:spAutoFit/>
          </a:bodyPr>
          <a:lstStyle/>
          <a:p>
            <a:pPr algn="l">
              <a:lnSpc>
                <a:spcPts val="3240"/>
              </a:lnSpc>
            </a:pPr>
            <a:r>
              <a:rPr lang="en-US" sz="2400">
                <a:solidFill>
                  <a:srgbClr val="1B1D24"/>
                </a:solidFill>
                <a:latin typeface="Arial"/>
                <a:ea typeface="Arial"/>
                <a:cs typeface="Arial"/>
                <a:sym typeface="Arial"/>
              </a:rPr>
              <a:t>Giảng viên: chỉ đọc</a:t>
            </a:r>
          </a:p>
          <a:p>
            <a:pPr algn="l">
              <a:lnSpc>
                <a:spcPts val="3240"/>
              </a:lnSpc>
            </a:pPr>
            <a:r>
              <a:rPr lang="en-US" sz="2400">
                <a:solidFill>
                  <a:srgbClr val="1B1D24"/>
                </a:solidFill>
                <a:latin typeface="Arial"/>
                <a:ea typeface="Arial"/>
                <a:cs typeface="Arial"/>
                <a:sym typeface="Arial"/>
              </a:rPr>
              <a:t>Chế độ demo: tự chọn vai trò</a:t>
            </a:r>
          </a:p>
        </p:txBody>
      </p:sp>
      <p:sp>
        <p:nvSpPr>
          <p:cNvPr name="TextBox 22" id="22"/>
          <p:cNvSpPr txBox="true"/>
          <p:nvPr/>
        </p:nvSpPr>
        <p:spPr>
          <a:xfrm rot="0">
            <a:off x="15849600" y="9300210"/>
            <a:ext cx="1219200" cy="415290"/>
          </a:xfrm>
          <a:prstGeom prst="rect">
            <a:avLst/>
          </a:prstGeom>
        </p:spPr>
        <p:txBody>
          <a:bodyPr anchor="t" rtlCol="false" tIns="0" lIns="0" bIns="0" rIns="0">
            <a:spAutoFit/>
          </a:bodyPr>
          <a:lstStyle/>
          <a:p>
            <a:pPr algn="r">
              <a:lnSpc>
                <a:spcPts val="2520"/>
              </a:lnSpc>
            </a:pPr>
            <a:r>
              <a:rPr lang="en-US" sz="1800">
                <a:solidFill>
                  <a:srgbClr val="6B7080"/>
                </a:solidFill>
                <a:latin typeface="Arial"/>
                <a:ea typeface="Arial"/>
                <a:cs typeface="Arial"/>
                <a:sym typeface="Arial"/>
              </a:rPr>
              <a:t>09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2A72B"/>
        </a:solidFill>
      </p:bgPr>
    </p:bg>
    <p:spTree>
      <p:nvGrpSpPr>
        <p:cNvPr id="1" name=""/>
        <p:cNvGrpSpPr/>
        <p:nvPr/>
      </p:nvGrpSpPr>
      <p:grpSpPr>
        <a:xfrm>
          <a:off x="0" y="0"/>
          <a:ext cx="0" cy="0"/>
          <a:chOff x="0" y="0"/>
          <a:chExt cx="0" cy="0"/>
        </a:xfrm>
      </p:grpSpPr>
      <p:grpSp>
        <p:nvGrpSpPr>
          <p:cNvPr name="Group 2" id="2"/>
          <p:cNvGrpSpPr/>
          <p:nvPr/>
        </p:nvGrpSpPr>
        <p:grpSpPr>
          <a:xfrm rot="0">
            <a:off x="15163800" y="1219200"/>
            <a:ext cx="1905000" cy="1905000"/>
            <a:chOff x="0" y="0"/>
            <a:chExt cx="2540000" cy="2540000"/>
          </a:xfrm>
        </p:grpSpPr>
        <p:sp>
          <p:nvSpPr>
            <p:cNvPr name="Freeform 3" id="3" descr="Play"/>
            <p:cNvSpPr/>
            <p:nvPr/>
          </p:nvSpPr>
          <p:spPr>
            <a:xfrm flipH="false" flipV="false" rot="0">
              <a:off x="0" y="0"/>
              <a:ext cx="2540000" cy="2540000"/>
            </a:xfrm>
            <a:custGeom>
              <a:avLst/>
              <a:gdLst/>
              <a:ahLst/>
              <a:cxnLst/>
              <a:rect r="r" b="b" t="t" l="l"/>
              <a:pathLst>
                <a:path h="2540000" w="2540000">
                  <a:moveTo>
                    <a:pt x="0" y="0"/>
                  </a:moveTo>
                  <a:lnTo>
                    <a:pt x="2540000" y="0"/>
                  </a:lnTo>
                  <a:lnTo>
                    <a:pt x="2540000" y="2540000"/>
                  </a:lnTo>
                  <a:lnTo>
                    <a:pt x="0" y="2540000"/>
                  </a:lnTo>
                  <a:lnTo>
                    <a:pt x="0" y="0"/>
                  </a:lnTo>
                  <a:close/>
                </a:path>
              </a:pathLst>
            </a:custGeom>
            <a:blipFill>
              <a:blip r:embed="rId3"/>
              <a:stretch>
                <a:fillRect l="0" t="0" r="0" b="0"/>
              </a:stretch>
            </a:blipFill>
          </p:spPr>
        </p:sp>
      </p:grpSp>
      <p:sp>
        <p:nvSpPr>
          <p:cNvPr name="TextBox 4" id="4"/>
          <p:cNvSpPr txBox="true"/>
          <p:nvPr/>
        </p:nvSpPr>
        <p:spPr>
          <a:xfrm rot="0">
            <a:off x="1219200" y="1162050"/>
            <a:ext cx="16325088" cy="415290"/>
          </a:xfrm>
          <a:prstGeom prst="rect">
            <a:avLst/>
          </a:prstGeom>
        </p:spPr>
        <p:txBody>
          <a:bodyPr anchor="t" rtlCol="false" tIns="0" lIns="0" bIns="0" rIns="0">
            <a:spAutoFit/>
          </a:bodyPr>
          <a:lstStyle/>
          <a:p>
            <a:pPr algn="l">
              <a:lnSpc>
                <a:spcPts val="2520"/>
              </a:lnSpc>
            </a:pPr>
            <a:r>
              <a:rPr lang="en-US" b="true" sz="1800" spc="225">
                <a:solidFill>
                  <a:srgbClr val="15171E"/>
                </a:solidFill>
                <a:latin typeface="Arial Bold"/>
                <a:ea typeface="Arial Bold"/>
                <a:cs typeface="Arial Bold"/>
                <a:sym typeface="Arial Bold"/>
              </a:rPr>
              <a:t>PHẦN 3 · PHÂN QUYỀN</a:t>
            </a:r>
          </a:p>
        </p:txBody>
      </p:sp>
      <p:sp>
        <p:nvSpPr>
          <p:cNvPr name="TextBox 5" id="5"/>
          <p:cNvSpPr txBox="true"/>
          <p:nvPr/>
        </p:nvSpPr>
        <p:spPr>
          <a:xfrm rot="0">
            <a:off x="1219200" y="1825000"/>
            <a:ext cx="16325088" cy="1143000"/>
          </a:xfrm>
          <a:prstGeom prst="rect">
            <a:avLst/>
          </a:prstGeom>
        </p:spPr>
        <p:txBody>
          <a:bodyPr anchor="t" rtlCol="false" tIns="0" lIns="0" bIns="0" rIns="0">
            <a:spAutoFit/>
          </a:bodyPr>
          <a:lstStyle/>
          <a:p>
            <a:pPr algn="l">
              <a:lnSpc>
                <a:spcPts val="9450"/>
              </a:lnSpc>
            </a:pPr>
            <a:r>
              <a:rPr lang="en-US" sz="9000" b="true">
                <a:solidFill>
                  <a:srgbClr val="15171E"/>
                </a:solidFill>
                <a:latin typeface="Arial Bold"/>
                <a:ea typeface="Arial Bold"/>
                <a:cs typeface="Arial Bold"/>
                <a:sym typeface="Arial Bold"/>
              </a:rPr>
              <a:t>Demo 2: Phân quyền</a:t>
            </a:r>
          </a:p>
        </p:txBody>
      </p:sp>
      <p:sp>
        <p:nvSpPr>
          <p:cNvPr name="TextBox 6" id="6"/>
          <p:cNvSpPr txBox="true"/>
          <p:nvPr/>
        </p:nvSpPr>
        <p:spPr>
          <a:xfrm rot="0">
            <a:off x="1219200" y="5551170"/>
            <a:ext cx="16325088" cy="521970"/>
          </a:xfrm>
          <a:prstGeom prst="rect">
            <a:avLst/>
          </a:prstGeom>
        </p:spPr>
        <p:txBody>
          <a:bodyPr anchor="t" rtlCol="false" tIns="0" lIns="0" bIns="0" rIns="0">
            <a:spAutoFit/>
          </a:bodyPr>
          <a:lstStyle/>
          <a:p>
            <a:pPr algn="l">
              <a:lnSpc>
                <a:spcPts val="3359"/>
              </a:lnSpc>
            </a:pPr>
            <a:r>
              <a:rPr lang="en-US" sz="2400" b="true">
                <a:solidFill>
                  <a:srgbClr val="15171E"/>
                </a:solidFill>
                <a:latin typeface="Arial Bold"/>
                <a:ea typeface="Arial Bold"/>
                <a:cs typeface="Arial Bold"/>
                <a:sym typeface="Arial Bold"/>
              </a:rPr>
              <a:t>Kiểm tra 4 tình huống:</a:t>
            </a:r>
          </a:p>
        </p:txBody>
      </p:sp>
      <p:grpSp>
        <p:nvGrpSpPr>
          <p:cNvPr name="Group 7" id="7"/>
          <p:cNvGrpSpPr/>
          <p:nvPr/>
        </p:nvGrpSpPr>
        <p:grpSpPr>
          <a:xfrm rot="0">
            <a:off x="1219200" y="6225550"/>
            <a:ext cx="7829550" cy="1325880"/>
            <a:chOff x="0" y="0"/>
            <a:chExt cx="10439400" cy="1767840"/>
          </a:xfrm>
        </p:grpSpPr>
        <p:sp>
          <p:nvSpPr>
            <p:cNvPr name="Freeform 8" id="8"/>
            <p:cNvSpPr/>
            <p:nvPr/>
          </p:nvSpPr>
          <p:spPr>
            <a:xfrm flipH="false" flipV="false" rot="0">
              <a:off x="0" y="0"/>
              <a:ext cx="10439400" cy="1767840"/>
            </a:xfrm>
            <a:custGeom>
              <a:avLst/>
              <a:gdLst/>
              <a:ahLst/>
              <a:cxnLst/>
              <a:rect r="r" b="b" t="t" l="l"/>
              <a:pathLst>
                <a:path h="1767840" w="10439400">
                  <a:moveTo>
                    <a:pt x="0" y="254000"/>
                  </a:moveTo>
                  <a:cubicBezTo>
                    <a:pt x="0" y="113665"/>
                    <a:pt x="113665" y="0"/>
                    <a:pt x="254000" y="0"/>
                  </a:cubicBezTo>
                  <a:lnTo>
                    <a:pt x="10185400" y="0"/>
                  </a:lnTo>
                  <a:cubicBezTo>
                    <a:pt x="10325735" y="0"/>
                    <a:pt x="10439400" y="113665"/>
                    <a:pt x="10439400" y="254000"/>
                  </a:cubicBezTo>
                  <a:lnTo>
                    <a:pt x="10439400" y="1513840"/>
                  </a:lnTo>
                  <a:cubicBezTo>
                    <a:pt x="10439400" y="1654175"/>
                    <a:pt x="10325735" y="1767840"/>
                    <a:pt x="10185400" y="1767840"/>
                  </a:cubicBezTo>
                  <a:lnTo>
                    <a:pt x="254000" y="1767840"/>
                  </a:lnTo>
                  <a:cubicBezTo>
                    <a:pt x="113665" y="1767840"/>
                    <a:pt x="0" y="1654175"/>
                    <a:pt x="0" y="1513840"/>
                  </a:cubicBezTo>
                  <a:close/>
                </a:path>
              </a:pathLst>
            </a:custGeom>
            <a:solidFill>
              <a:srgbClr val="F7C565"/>
            </a:solidFill>
          </p:spPr>
        </p:sp>
      </p:grpSp>
      <p:sp>
        <p:nvSpPr>
          <p:cNvPr name="TextBox 9" id="9"/>
          <p:cNvSpPr txBox="true"/>
          <p:nvPr/>
        </p:nvSpPr>
        <p:spPr>
          <a:xfrm rot="0">
            <a:off x="1524000" y="6520825"/>
            <a:ext cx="355759" cy="428625"/>
          </a:xfrm>
          <a:prstGeom prst="rect">
            <a:avLst/>
          </a:prstGeom>
        </p:spPr>
        <p:txBody>
          <a:bodyPr anchor="t" rtlCol="false" tIns="0" lIns="0" bIns="0" rIns="0">
            <a:spAutoFit/>
          </a:bodyPr>
          <a:lstStyle/>
          <a:p>
            <a:pPr algn="l">
              <a:lnSpc>
                <a:spcPts val="3300"/>
              </a:lnSpc>
            </a:pPr>
            <a:r>
              <a:rPr lang="en-US" sz="3300" b="true">
                <a:solidFill>
                  <a:srgbClr val="15171E"/>
                </a:solidFill>
                <a:latin typeface="Arial Bold"/>
                <a:ea typeface="Arial Bold"/>
                <a:cs typeface="Arial Bold"/>
                <a:sym typeface="Arial Bold"/>
              </a:rPr>
              <a:t>1</a:t>
            </a:r>
          </a:p>
        </p:txBody>
      </p:sp>
      <p:sp>
        <p:nvSpPr>
          <p:cNvPr name="TextBox 10" id="10"/>
          <p:cNvSpPr txBox="true"/>
          <p:nvPr/>
        </p:nvSpPr>
        <p:spPr>
          <a:xfrm rot="0">
            <a:off x="1994059" y="6454150"/>
            <a:ext cx="7054691" cy="472440"/>
          </a:xfrm>
          <a:prstGeom prst="rect">
            <a:avLst/>
          </a:prstGeom>
        </p:spPr>
        <p:txBody>
          <a:bodyPr anchor="t" rtlCol="false" tIns="0" lIns="0" bIns="0" rIns="0">
            <a:spAutoFit/>
          </a:bodyPr>
          <a:lstStyle/>
          <a:p>
            <a:pPr algn="l">
              <a:lnSpc>
                <a:spcPts val="3120"/>
              </a:lnSpc>
            </a:pPr>
            <a:r>
              <a:rPr lang="en-US" sz="2400">
                <a:solidFill>
                  <a:srgbClr val="15171E"/>
                </a:solidFill>
                <a:latin typeface="Arial"/>
                <a:ea typeface="Arial"/>
                <a:cs typeface="Arial"/>
                <a:sym typeface="Arial"/>
              </a:rPr>
              <a:t>Sinh viên đăng/xoá ghi chú của mình</a:t>
            </a:r>
          </a:p>
        </p:txBody>
      </p:sp>
      <p:grpSp>
        <p:nvGrpSpPr>
          <p:cNvPr name="Group 11" id="11"/>
          <p:cNvGrpSpPr/>
          <p:nvPr/>
        </p:nvGrpSpPr>
        <p:grpSpPr>
          <a:xfrm rot="0">
            <a:off x="9239250" y="6225550"/>
            <a:ext cx="7829550" cy="1325880"/>
            <a:chOff x="0" y="0"/>
            <a:chExt cx="10439400" cy="1767840"/>
          </a:xfrm>
        </p:grpSpPr>
        <p:sp>
          <p:nvSpPr>
            <p:cNvPr name="Freeform 12" id="12"/>
            <p:cNvSpPr/>
            <p:nvPr/>
          </p:nvSpPr>
          <p:spPr>
            <a:xfrm flipH="false" flipV="false" rot="0">
              <a:off x="0" y="0"/>
              <a:ext cx="10439400" cy="1767840"/>
            </a:xfrm>
            <a:custGeom>
              <a:avLst/>
              <a:gdLst/>
              <a:ahLst/>
              <a:cxnLst/>
              <a:rect r="r" b="b" t="t" l="l"/>
              <a:pathLst>
                <a:path h="1767840" w="10439400">
                  <a:moveTo>
                    <a:pt x="0" y="254000"/>
                  </a:moveTo>
                  <a:cubicBezTo>
                    <a:pt x="0" y="113665"/>
                    <a:pt x="113665" y="0"/>
                    <a:pt x="254000" y="0"/>
                  </a:cubicBezTo>
                  <a:lnTo>
                    <a:pt x="10185400" y="0"/>
                  </a:lnTo>
                  <a:cubicBezTo>
                    <a:pt x="10325735" y="0"/>
                    <a:pt x="10439400" y="113665"/>
                    <a:pt x="10439400" y="254000"/>
                  </a:cubicBezTo>
                  <a:lnTo>
                    <a:pt x="10439400" y="1513840"/>
                  </a:lnTo>
                  <a:cubicBezTo>
                    <a:pt x="10439400" y="1654175"/>
                    <a:pt x="10325735" y="1767840"/>
                    <a:pt x="10185400" y="1767840"/>
                  </a:cubicBezTo>
                  <a:lnTo>
                    <a:pt x="254000" y="1767840"/>
                  </a:lnTo>
                  <a:cubicBezTo>
                    <a:pt x="113665" y="1767840"/>
                    <a:pt x="0" y="1654175"/>
                    <a:pt x="0" y="1513840"/>
                  </a:cubicBezTo>
                  <a:close/>
                </a:path>
              </a:pathLst>
            </a:custGeom>
            <a:solidFill>
              <a:srgbClr val="F7C565"/>
            </a:solidFill>
          </p:spPr>
        </p:sp>
      </p:grpSp>
      <p:sp>
        <p:nvSpPr>
          <p:cNvPr name="TextBox 13" id="13"/>
          <p:cNvSpPr txBox="true"/>
          <p:nvPr/>
        </p:nvSpPr>
        <p:spPr>
          <a:xfrm rot="0">
            <a:off x="9544050" y="6520825"/>
            <a:ext cx="346824" cy="428625"/>
          </a:xfrm>
          <a:prstGeom prst="rect">
            <a:avLst/>
          </a:prstGeom>
        </p:spPr>
        <p:txBody>
          <a:bodyPr anchor="t" rtlCol="false" tIns="0" lIns="0" bIns="0" rIns="0">
            <a:spAutoFit/>
          </a:bodyPr>
          <a:lstStyle/>
          <a:p>
            <a:pPr algn="l">
              <a:lnSpc>
                <a:spcPts val="3300"/>
              </a:lnSpc>
            </a:pPr>
            <a:r>
              <a:rPr lang="en-US" sz="3300" b="true">
                <a:solidFill>
                  <a:srgbClr val="15171E"/>
                </a:solidFill>
                <a:latin typeface="Arial Bold"/>
                <a:ea typeface="Arial Bold"/>
                <a:cs typeface="Arial Bold"/>
                <a:sym typeface="Arial Bold"/>
              </a:rPr>
              <a:t>2</a:t>
            </a:r>
          </a:p>
        </p:txBody>
      </p:sp>
      <p:sp>
        <p:nvSpPr>
          <p:cNvPr name="TextBox 14" id="14"/>
          <p:cNvSpPr txBox="true"/>
          <p:nvPr/>
        </p:nvSpPr>
        <p:spPr>
          <a:xfrm rot="0">
            <a:off x="10005174" y="6454150"/>
            <a:ext cx="6961584" cy="868680"/>
          </a:xfrm>
          <a:prstGeom prst="rect">
            <a:avLst/>
          </a:prstGeom>
        </p:spPr>
        <p:txBody>
          <a:bodyPr anchor="t" rtlCol="false" tIns="0" lIns="0" bIns="0" rIns="0">
            <a:spAutoFit/>
          </a:bodyPr>
          <a:lstStyle/>
          <a:p>
            <a:pPr algn="l">
              <a:lnSpc>
                <a:spcPts val="3120"/>
              </a:lnSpc>
            </a:pPr>
            <a:r>
              <a:rPr lang="en-US" sz="2400">
                <a:solidFill>
                  <a:srgbClr val="15171E"/>
                </a:solidFill>
                <a:latin typeface="Arial"/>
                <a:ea typeface="Arial"/>
                <a:cs typeface="Arial"/>
                <a:sym typeface="Arial"/>
              </a:rPr>
              <a:t>Gmail giảng viên mô phỏng chỉ xem</a:t>
            </a:r>
          </a:p>
        </p:txBody>
      </p:sp>
      <p:grpSp>
        <p:nvGrpSpPr>
          <p:cNvPr name="Group 15" id="15"/>
          <p:cNvGrpSpPr/>
          <p:nvPr/>
        </p:nvGrpSpPr>
        <p:grpSpPr>
          <a:xfrm rot="0">
            <a:off x="1219200" y="7741920"/>
            <a:ext cx="7829550" cy="1325880"/>
            <a:chOff x="0" y="0"/>
            <a:chExt cx="10439400" cy="1767840"/>
          </a:xfrm>
        </p:grpSpPr>
        <p:sp>
          <p:nvSpPr>
            <p:cNvPr name="Freeform 16" id="16"/>
            <p:cNvSpPr/>
            <p:nvPr/>
          </p:nvSpPr>
          <p:spPr>
            <a:xfrm flipH="false" flipV="false" rot="0">
              <a:off x="0" y="0"/>
              <a:ext cx="10439400" cy="1767840"/>
            </a:xfrm>
            <a:custGeom>
              <a:avLst/>
              <a:gdLst/>
              <a:ahLst/>
              <a:cxnLst/>
              <a:rect r="r" b="b" t="t" l="l"/>
              <a:pathLst>
                <a:path h="1767840" w="10439400">
                  <a:moveTo>
                    <a:pt x="0" y="254000"/>
                  </a:moveTo>
                  <a:cubicBezTo>
                    <a:pt x="0" y="113665"/>
                    <a:pt x="113665" y="0"/>
                    <a:pt x="254000" y="0"/>
                  </a:cubicBezTo>
                  <a:lnTo>
                    <a:pt x="10185400" y="0"/>
                  </a:lnTo>
                  <a:cubicBezTo>
                    <a:pt x="10325735" y="0"/>
                    <a:pt x="10439400" y="113665"/>
                    <a:pt x="10439400" y="254000"/>
                  </a:cubicBezTo>
                  <a:lnTo>
                    <a:pt x="10439400" y="1513840"/>
                  </a:lnTo>
                  <a:cubicBezTo>
                    <a:pt x="10439400" y="1654175"/>
                    <a:pt x="10325735" y="1767840"/>
                    <a:pt x="10185400" y="1767840"/>
                  </a:cubicBezTo>
                  <a:lnTo>
                    <a:pt x="254000" y="1767840"/>
                  </a:lnTo>
                  <a:cubicBezTo>
                    <a:pt x="113665" y="1767840"/>
                    <a:pt x="0" y="1654175"/>
                    <a:pt x="0" y="1513840"/>
                  </a:cubicBezTo>
                  <a:close/>
                </a:path>
              </a:pathLst>
            </a:custGeom>
            <a:solidFill>
              <a:srgbClr val="F7C565"/>
            </a:solidFill>
          </p:spPr>
        </p:sp>
      </p:grpSp>
      <p:sp>
        <p:nvSpPr>
          <p:cNvPr name="TextBox 17" id="17"/>
          <p:cNvSpPr txBox="true"/>
          <p:nvPr/>
        </p:nvSpPr>
        <p:spPr>
          <a:xfrm rot="0">
            <a:off x="1524000" y="8037195"/>
            <a:ext cx="355759" cy="428625"/>
          </a:xfrm>
          <a:prstGeom prst="rect">
            <a:avLst/>
          </a:prstGeom>
        </p:spPr>
        <p:txBody>
          <a:bodyPr anchor="t" rtlCol="false" tIns="0" lIns="0" bIns="0" rIns="0">
            <a:spAutoFit/>
          </a:bodyPr>
          <a:lstStyle/>
          <a:p>
            <a:pPr algn="l">
              <a:lnSpc>
                <a:spcPts val="3300"/>
              </a:lnSpc>
            </a:pPr>
            <a:r>
              <a:rPr lang="en-US" sz="3300" b="true">
                <a:solidFill>
                  <a:srgbClr val="15171E"/>
                </a:solidFill>
                <a:latin typeface="Arial Bold"/>
                <a:ea typeface="Arial Bold"/>
                <a:cs typeface="Arial Bold"/>
                <a:sym typeface="Arial Bold"/>
              </a:rPr>
              <a:t>3</a:t>
            </a:r>
          </a:p>
        </p:txBody>
      </p:sp>
      <p:sp>
        <p:nvSpPr>
          <p:cNvPr name="TextBox 18" id="18"/>
          <p:cNvSpPr txBox="true"/>
          <p:nvPr/>
        </p:nvSpPr>
        <p:spPr>
          <a:xfrm rot="0">
            <a:off x="1994059" y="7970520"/>
            <a:ext cx="5978176" cy="472440"/>
          </a:xfrm>
          <a:prstGeom prst="rect">
            <a:avLst/>
          </a:prstGeom>
        </p:spPr>
        <p:txBody>
          <a:bodyPr anchor="t" rtlCol="false" tIns="0" lIns="0" bIns="0" rIns="0">
            <a:spAutoFit/>
          </a:bodyPr>
          <a:lstStyle/>
          <a:p>
            <a:pPr algn="l">
              <a:lnSpc>
                <a:spcPts val="3120"/>
              </a:lnSpc>
            </a:pPr>
            <a:r>
              <a:rPr lang="en-US" sz="2400">
                <a:solidFill>
                  <a:srgbClr val="15171E"/>
                </a:solidFill>
                <a:latin typeface="Arial"/>
                <a:ea typeface="Arial"/>
                <a:cs typeface="Arial"/>
                <a:sym typeface="Arial"/>
              </a:rPr>
              <a:t>Thử ghi với giảng viên → permission-denied</a:t>
            </a:r>
          </a:p>
        </p:txBody>
      </p:sp>
      <p:grpSp>
        <p:nvGrpSpPr>
          <p:cNvPr name="Group 19" id="19"/>
          <p:cNvGrpSpPr/>
          <p:nvPr/>
        </p:nvGrpSpPr>
        <p:grpSpPr>
          <a:xfrm rot="0">
            <a:off x="9239250" y="7741920"/>
            <a:ext cx="7829550" cy="1325880"/>
            <a:chOff x="0" y="0"/>
            <a:chExt cx="10439400" cy="1767840"/>
          </a:xfrm>
        </p:grpSpPr>
        <p:sp>
          <p:nvSpPr>
            <p:cNvPr name="Freeform 20" id="20"/>
            <p:cNvSpPr/>
            <p:nvPr/>
          </p:nvSpPr>
          <p:spPr>
            <a:xfrm flipH="false" flipV="false" rot="0">
              <a:off x="0" y="0"/>
              <a:ext cx="10439400" cy="1767840"/>
            </a:xfrm>
            <a:custGeom>
              <a:avLst/>
              <a:gdLst/>
              <a:ahLst/>
              <a:cxnLst/>
              <a:rect r="r" b="b" t="t" l="l"/>
              <a:pathLst>
                <a:path h="1767840" w="10439400">
                  <a:moveTo>
                    <a:pt x="0" y="254000"/>
                  </a:moveTo>
                  <a:cubicBezTo>
                    <a:pt x="0" y="113665"/>
                    <a:pt x="113665" y="0"/>
                    <a:pt x="254000" y="0"/>
                  </a:cubicBezTo>
                  <a:lnTo>
                    <a:pt x="10185400" y="0"/>
                  </a:lnTo>
                  <a:cubicBezTo>
                    <a:pt x="10325735" y="0"/>
                    <a:pt x="10439400" y="113665"/>
                    <a:pt x="10439400" y="254000"/>
                  </a:cubicBezTo>
                  <a:lnTo>
                    <a:pt x="10439400" y="1513840"/>
                  </a:lnTo>
                  <a:cubicBezTo>
                    <a:pt x="10439400" y="1654175"/>
                    <a:pt x="10325735" y="1767840"/>
                    <a:pt x="10185400" y="1767840"/>
                  </a:cubicBezTo>
                  <a:lnTo>
                    <a:pt x="254000" y="1767840"/>
                  </a:lnTo>
                  <a:cubicBezTo>
                    <a:pt x="113665" y="1767840"/>
                    <a:pt x="0" y="1654175"/>
                    <a:pt x="0" y="1513840"/>
                  </a:cubicBezTo>
                  <a:close/>
                </a:path>
              </a:pathLst>
            </a:custGeom>
            <a:solidFill>
              <a:srgbClr val="F7C565"/>
            </a:solidFill>
          </p:spPr>
        </p:sp>
      </p:grpSp>
      <p:sp>
        <p:nvSpPr>
          <p:cNvPr name="TextBox 21" id="21"/>
          <p:cNvSpPr txBox="true"/>
          <p:nvPr/>
        </p:nvSpPr>
        <p:spPr>
          <a:xfrm rot="0">
            <a:off x="9544050" y="8037195"/>
            <a:ext cx="271348" cy="428625"/>
          </a:xfrm>
          <a:prstGeom prst="rect">
            <a:avLst/>
          </a:prstGeom>
        </p:spPr>
        <p:txBody>
          <a:bodyPr anchor="t" rtlCol="false" tIns="0" lIns="0" bIns="0" rIns="0">
            <a:spAutoFit/>
          </a:bodyPr>
          <a:lstStyle/>
          <a:p>
            <a:pPr algn="l">
              <a:lnSpc>
                <a:spcPts val="3300"/>
              </a:lnSpc>
            </a:pPr>
            <a:r>
              <a:rPr lang="en-US" sz="3300" b="true">
                <a:solidFill>
                  <a:srgbClr val="15171E"/>
                </a:solidFill>
                <a:latin typeface="Arial Bold"/>
                <a:ea typeface="Arial Bold"/>
                <a:cs typeface="Arial Bold"/>
                <a:sym typeface="Arial Bold"/>
              </a:rPr>
              <a:t>4</a:t>
            </a:r>
          </a:p>
        </p:txBody>
      </p:sp>
      <p:sp>
        <p:nvSpPr>
          <p:cNvPr name="TextBox 22" id="22"/>
          <p:cNvSpPr txBox="true"/>
          <p:nvPr/>
        </p:nvSpPr>
        <p:spPr>
          <a:xfrm rot="0">
            <a:off x="9929698" y="7970520"/>
            <a:ext cx="7039337" cy="868680"/>
          </a:xfrm>
          <a:prstGeom prst="rect">
            <a:avLst/>
          </a:prstGeom>
        </p:spPr>
        <p:txBody>
          <a:bodyPr anchor="t" rtlCol="false" tIns="0" lIns="0" bIns="0" rIns="0">
            <a:spAutoFit/>
          </a:bodyPr>
          <a:lstStyle/>
          <a:p>
            <a:pPr algn="l">
              <a:lnSpc>
                <a:spcPts val="3120"/>
              </a:lnSpc>
            </a:pPr>
            <a:r>
              <a:rPr lang="en-US" sz="2400">
                <a:solidFill>
                  <a:srgbClr val="15171E"/>
                </a:solidFill>
                <a:latin typeface="Arial"/>
                <a:ea typeface="Arial"/>
                <a:cs typeface="Arial"/>
                <a:sym typeface="Arial"/>
              </a:rPr>
              <a:t>Gmail khác → thử chọn vai trò trong chế độ demo</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F7F6F2"/>
        </a:solidFill>
      </p:bgPr>
    </p:bg>
    <p:spTree>
      <p:nvGrpSpPr>
        <p:cNvPr id="1" name=""/>
        <p:cNvGrpSpPr/>
        <p:nvPr/>
      </p:nvGrpSpPr>
      <p:grpSpPr>
        <a:xfrm>
          <a:off x="0" y="0"/>
          <a:ext cx="0" cy="0"/>
          <a:chOff x="0" y="0"/>
          <a:chExt cx="0" cy="0"/>
        </a:xfrm>
      </p:grpSpPr>
      <p:sp>
        <p:nvSpPr>
          <p:cNvPr name="TextBox 2" id="2"/>
          <p:cNvSpPr txBox="true"/>
          <p:nvPr/>
        </p:nvSpPr>
        <p:spPr>
          <a:xfrm rot="0">
            <a:off x="1219200" y="857250"/>
            <a:ext cx="16325088" cy="415290"/>
          </a:xfrm>
          <a:prstGeom prst="rect">
            <a:avLst/>
          </a:prstGeom>
        </p:spPr>
        <p:txBody>
          <a:bodyPr anchor="t" rtlCol="false" tIns="0" lIns="0" bIns="0" rIns="0">
            <a:spAutoFit/>
          </a:bodyPr>
          <a:lstStyle/>
          <a:p>
            <a:pPr algn="l">
              <a:lnSpc>
                <a:spcPts val="2520"/>
              </a:lnSpc>
            </a:pPr>
            <a:r>
              <a:rPr lang="en-US" b="true" sz="1800" spc="225">
                <a:solidFill>
                  <a:srgbClr val="8F5300"/>
                </a:solidFill>
                <a:latin typeface="Arial Bold"/>
                <a:ea typeface="Arial Bold"/>
                <a:cs typeface="Arial Bold"/>
                <a:sym typeface="Arial Bold"/>
              </a:rPr>
              <a:t>PHẦN 3 · PHÂN QUYỀN</a:t>
            </a:r>
          </a:p>
        </p:txBody>
      </p:sp>
      <p:sp>
        <p:nvSpPr>
          <p:cNvPr name="TextBox 3" id="3"/>
          <p:cNvSpPr txBox="true"/>
          <p:nvPr/>
        </p:nvSpPr>
        <p:spPr>
          <a:xfrm rot="0">
            <a:off x="1219200" y="1367800"/>
            <a:ext cx="16325088" cy="563880"/>
          </a:xfrm>
          <a:prstGeom prst="rect">
            <a:avLst/>
          </a:prstGeom>
        </p:spPr>
        <p:txBody>
          <a:bodyPr anchor="t" rtlCol="false" tIns="0" lIns="0" bIns="0" rIns="0">
            <a:spAutoFit/>
          </a:bodyPr>
          <a:lstStyle/>
          <a:p>
            <a:pPr algn="l">
              <a:lnSpc>
                <a:spcPts val="4290"/>
              </a:lnSpc>
            </a:pPr>
            <a:r>
              <a:rPr lang="en-US" sz="3900" b="true">
                <a:solidFill>
                  <a:srgbClr val="1B1D24"/>
                </a:solidFill>
                <a:latin typeface="Arial Bold"/>
                <a:ea typeface="Arial Bold"/>
                <a:cs typeface="Arial Bold"/>
                <a:sym typeface="Arial Bold"/>
              </a:rPr>
              <a:t>Xác thực ≠ Phân quyền</a:t>
            </a:r>
          </a:p>
        </p:txBody>
      </p:sp>
      <p:grpSp>
        <p:nvGrpSpPr>
          <p:cNvPr name="Group 4" id="4"/>
          <p:cNvGrpSpPr/>
          <p:nvPr/>
        </p:nvGrpSpPr>
        <p:grpSpPr>
          <a:xfrm rot="0">
            <a:off x="1219200" y="2160270"/>
            <a:ext cx="7475220" cy="1669733"/>
            <a:chOff x="0" y="0"/>
            <a:chExt cx="9966960" cy="2226310"/>
          </a:xfrm>
        </p:grpSpPr>
        <p:sp>
          <p:nvSpPr>
            <p:cNvPr name="Freeform 5" id="5"/>
            <p:cNvSpPr/>
            <p:nvPr/>
          </p:nvSpPr>
          <p:spPr>
            <a:xfrm flipH="false" flipV="false" rot="0">
              <a:off x="0" y="0"/>
              <a:ext cx="9966960" cy="2226310"/>
            </a:xfrm>
            <a:custGeom>
              <a:avLst/>
              <a:gdLst/>
              <a:ahLst/>
              <a:cxnLst/>
              <a:rect r="r" b="b" t="t" l="l"/>
              <a:pathLst>
                <a:path h="2226310" w="9966960">
                  <a:moveTo>
                    <a:pt x="0" y="249047"/>
                  </a:moveTo>
                  <a:cubicBezTo>
                    <a:pt x="0" y="111506"/>
                    <a:pt x="111506" y="0"/>
                    <a:pt x="249047" y="0"/>
                  </a:cubicBezTo>
                  <a:lnTo>
                    <a:pt x="9717913" y="0"/>
                  </a:lnTo>
                  <a:cubicBezTo>
                    <a:pt x="9855454" y="0"/>
                    <a:pt x="9966960" y="111506"/>
                    <a:pt x="9966960" y="249047"/>
                  </a:cubicBezTo>
                  <a:lnTo>
                    <a:pt x="9966960" y="1977263"/>
                  </a:lnTo>
                  <a:cubicBezTo>
                    <a:pt x="9966960" y="2114804"/>
                    <a:pt x="9855454" y="2226310"/>
                    <a:pt x="9717913" y="2226310"/>
                  </a:cubicBezTo>
                  <a:lnTo>
                    <a:pt x="249047" y="2226310"/>
                  </a:lnTo>
                  <a:cubicBezTo>
                    <a:pt x="111506" y="2226310"/>
                    <a:pt x="0" y="2114804"/>
                    <a:pt x="0" y="1977263"/>
                  </a:cubicBezTo>
                  <a:close/>
                </a:path>
              </a:pathLst>
            </a:custGeom>
            <a:solidFill>
              <a:srgbClr val="FFFEFB"/>
            </a:solidFill>
            <a:ln w="9525" cap="sq">
              <a:solidFill>
                <a:srgbClr val="E2DED3"/>
              </a:solidFill>
              <a:prstDash val="solid"/>
              <a:miter/>
            </a:ln>
          </p:spPr>
        </p:sp>
      </p:grpSp>
      <p:sp>
        <p:nvSpPr>
          <p:cNvPr name="TextBox 6" id="6"/>
          <p:cNvSpPr txBox="true"/>
          <p:nvPr/>
        </p:nvSpPr>
        <p:spPr>
          <a:xfrm rot="0">
            <a:off x="1531620" y="2386975"/>
            <a:ext cx="7055891" cy="352425"/>
          </a:xfrm>
          <a:prstGeom prst="rect">
            <a:avLst/>
          </a:prstGeom>
        </p:spPr>
        <p:txBody>
          <a:bodyPr anchor="t" rtlCol="false" tIns="0" lIns="0" bIns="0" rIns="0">
            <a:spAutoFit/>
          </a:bodyPr>
          <a:lstStyle/>
          <a:p>
            <a:pPr algn="l">
              <a:lnSpc>
                <a:spcPts val="2100"/>
              </a:lnSpc>
            </a:pPr>
            <a:r>
              <a:rPr lang="en-US" b="true" sz="1500" spc="150">
                <a:solidFill>
                  <a:srgbClr val="6B7080"/>
                </a:solidFill>
                <a:latin typeface="Arial Bold"/>
                <a:ea typeface="Arial Bold"/>
                <a:cs typeface="Arial Bold"/>
                <a:sym typeface="Arial Bold"/>
              </a:rPr>
              <a:t>AUTHENTICATION · XÁC THỰC</a:t>
            </a:r>
          </a:p>
        </p:txBody>
      </p:sp>
      <p:sp>
        <p:nvSpPr>
          <p:cNvPr name="TextBox 7" id="7"/>
          <p:cNvSpPr txBox="true"/>
          <p:nvPr/>
        </p:nvSpPr>
        <p:spPr>
          <a:xfrm rot="0">
            <a:off x="1531620" y="2787025"/>
            <a:ext cx="7055891" cy="447675"/>
          </a:xfrm>
          <a:prstGeom prst="rect">
            <a:avLst/>
          </a:prstGeom>
        </p:spPr>
        <p:txBody>
          <a:bodyPr anchor="t" rtlCol="false" tIns="0" lIns="0" bIns="0" rIns="0">
            <a:spAutoFit/>
          </a:bodyPr>
          <a:lstStyle/>
          <a:p>
            <a:pPr algn="l">
              <a:lnSpc>
                <a:spcPts val="3300"/>
              </a:lnSpc>
            </a:pPr>
            <a:r>
              <a:rPr lang="en-US" sz="3000" b="true">
                <a:solidFill>
                  <a:srgbClr val="1B1D24"/>
                </a:solidFill>
                <a:latin typeface="Arial Bold"/>
                <a:ea typeface="Arial Bold"/>
                <a:cs typeface="Arial Bold"/>
                <a:sym typeface="Arial Bold"/>
              </a:rPr>
              <a:t>Bạn là ai?</a:t>
            </a:r>
          </a:p>
        </p:txBody>
      </p:sp>
      <p:sp>
        <p:nvSpPr>
          <p:cNvPr name="TextBox 8" id="8"/>
          <p:cNvSpPr txBox="true"/>
          <p:nvPr/>
        </p:nvSpPr>
        <p:spPr>
          <a:xfrm rot="0">
            <a:off x="1531620" y="3225175"/>
            <a:ext cx="7055891" cy="368617"/>
          </a:xfrm>
          <a:prstGeom prst="rect">
            <a:avLst/>
          </a:prstGeom>
        </p:spPr>
        <p:txBody>
          <a:bodyPr anchor="t" rtlCol="false" tIns="0" lIns="0" bIns="0" rIns="0">
            <a:spAutoFit/>
          </a:bodyPr>
          <a:lstStyle/>
          <a:p>
            <a:pPr algn="l">
              <a:lnSpc>
                <a:spcPts val="2227"/>
              </a:lnSpc>
            </a:pPr>
            <a:r>
              <a:rPr lang="en-US" sz="1650">
                <a:solidFill>
                  <a:srgbClr val="50566A"/>
                </a:solidFill>
                <a:latin typeface="Arial"/>
                <a:ea typeface="Arial"/>
                <a:cs typeface="Arial"/>
                <a:sym typeface="Arial"/>
              </a:rPr>
              <a:t>Firebase Auth xác định email, uid và cấp ID Token.</a:t>
            </a:r>
          </a:p>
        </p:txBody>
      </p:sp>
      <p:grpSp>
        <p:nvGrpSpPr>
          <p:cNvPr name="Group 9" id="9"/>
          <p:cNvGrpSpPr/>
          <p:nvPr/>
        </p:nvGrpSpPr>
        <p:grpSpPr>
          <a:xfrm rot="0">
            <a:off x="9608820" y="2167900"/>
            <a:ext cx="7459980" cy="1654492"/>
            <a:chOff x="0" y="0"/>
            <a:chExt cx="9946640" cy="2205990"/>
          </a:xfrm>
        </p:grpSpPr>
        <p:sp>
          <p:nvSpPr>
            <p:cNvPr name="Freeform 10" id="10"/>
            <p:cNvSpPr/>
            <p:nvPr/>
          </p:nvSpPr>
          <p:spPr>
            <a:xfrm flipH="false" flipV="false" rot="0">
              <a:off x="0" y="0"/>
              <a:ext cx="9946640" cy="2205990"/>
            </a:xfrm>
            <a:custGeom>
              <a:avLst/>
              <a:gdLst/>
              <a:ahLst/>
              <a:cxnLst/>
              <a:rect r="r" b="b" t="t" l="l"/>
              <a:pathLst>
                <a:path h="2205990" w="9946640">
                  <a:moveTo>
                    <a:pt x="0" y="254000"/>
                  </a:moveTo>
                  <a:cubicBezTo>
                    <a:pt x="0" y="113665"/>
                    <a:pt x="113665" y="0"/>
                    <a:pt x="254000" y="0"/>
                  </a:cubicBezTo>
                  <a:lnTo>
                    <a:pt x="9692640" y="0"/>
                  </a:lnTo>
                  <a:cubicBezTo>
                    <a:pt x="9832975" y="0"/>
                    <a:pt x="9946640" y="113665"/>
                    <a:pt x="9946640" y="254000"/>
                  </a:cubicBezTo>
                  <a:lnTo>
                    <a:pt x="9946640" y="1951990"/>
                  </a:lnTo>
                  <a:cubicBezTo>
                    <a:pt x="9946640" y="2092325"/>
                    <a:pt x="9832975" y="2205990"/>
                    <a:pt x="9692640" y="2205990"/>
                  </a:cubicBezTo>
                  <a:lnTo>
                    <a:pt x="254000" y="2205990"/>
                  </a:lnTo>
                  <a:cubicBezTo>
                    <a:pt x="113665" y="2205990"/>
                    <a:pt x="0" y="2092325"/>
                    <a:pt x="0" y="1951990"/>
                  </a:cubicBezTo>
                  <a:close/>
                </a:path>
              </a:pathLst>
            </a:custGeom>
            <a:solidFill>
              <a:srgbClr val="15171E"/>
            </a:solidFill>
          </p:spPr>
        </p:sp>
      </p:grpSp>
      <p:sp>
        <p:nvSpPr>
          <p:cNvPr name="TextBox 11" id="11"/>
          <p:cNvSpPr txBox="true"/>
          <p:nvPr/>
        </p:nvSpPr>
        <p:spPr>
          <a:xfrm rot="0">
            <a:off x="9913620" y="2386975"/>
            <a:ext cx="7055891" cy="352425"/>
          </a:xfrm>
          <a:prstGeom prst="rect">
            <a:avLst/>
          </a:prstGeom>
        </p:spPr>
        <p:txBody>
          <a:bodyPr anchor="t" rtlCol="false" tIns="0" lIns="0" bIns="0" rIns="0">
            <a:spAutoFit/>
          </a:bodyPr>
          <a:lstStyle/>
          <a:p>
            <a:pPr algn="l">
              <a:lnSpc>
                <a:spcPts val="2100"/>
              </a:lnSpc>
            </a:pPr>
            <a:r>
              <a:rPr lang="en-US" b="true" sz="1500" spc="150">
                <a:solidFill>
                  <a:srgbClr val="F2A72B"/>
                </a:solidFill>
                <a:latin typeface="Arial Bold"/>
                <a:ea typeface="Arial Bold"/>
                <a:cs typeface="Arial Bold"/>
                <a:sym typeface="Arial Bold"/>
              </a:rPr>
              <a:t>AUTHORIZATION · PHÂN QUYỀN</a:t>
            </a:r>
          </a:p>
        </p:txBody>
      </p:sp>
      <p:sp>
        <p:nvSpPr>
          <p:cNvPr name="TextBox 12" id="12"/>
          <p:cNvSpPr txBox="true"/>
          <p:nvPr/>
        </p:nvSpPr>
        <p:spPr>
          <a:xfrm rot="0">
            <a:off x="9913620" y="2787025"/>
            <a:ext cx="7055891" cy="447675"/>
          </a:xfrm>
          <a:prstGeom prst="rect">
            <a:avLst/>
          </a:prstGeom>
        </p:spPr>
        <p:txBody>
          <a:bodyPr anchor="t" rtlCol="false" tIns="0" lIns="0" bIns="0" rIns="0">
            <a:spAutoFit/>
          </a:bodyPr>
          <a:lstStyle/>
          <a:p>
            <a:pPr algn="l">
              <a:lnSpc>
                <a:spcPts val="3300"/>
              </a:lnSpc>
            </a:pPr>
            <a:r>
              <a:rPr lang="en-US" sz="3000" b="true">
                <a:solidFill>
                  <a:srgbClr val="F2F0EA"/>
                </a:solidFill>
                <a:latin typeface="Arial Bold"/>
                <a:ea typeface="Arial Bold"/>
                <a:cs typeface="Arial Bold"/>
                <a:sym typeface="Arial Bold"/>
              </a:rPr>
              <a:t>Bạn được làm gì?</a:t>
            </a:r>
          </a:p>
        </p:txBody>
      </p:sp>
      <p:sp>
        <p:nvSpPr>
          <p:cNvPr name="TextBox 13" id="13"/>
          <p:cNvSpPr txBox="true"/>
          <p:nvPr/>
        </p:nvSpPr>
        <p:spPr>
          <a:xfrm rot="0">
            <a:off x="9913620" y="3225175"/>
            <a:ext cx="7055891" cy="368617"/>
          </a:xfrm>
          <a:prstGeom prst="rect">
            <a:avLst/>
          </a:prstGeom>
        </p:spPr>
        <p:txBody>
          <a:bodyPr anchor="t" rtlCol="false" tIns="0" lIns="0" bIns="0" rIns="0">
            <a:spAutoFit/>
          </a:bodyPr>
          <a:lstStyle/>
          <a:p>
            <a:pPr algn="l">
              <a:lnSpc>
                <a:spcPts val="2227"/>
              </a:lnSpc>
            </a:pPr>
            <a:r>
              <a:rPr lang="en-US" sz="1650">
                <a:solidFill>
                  <a:srgbClr val="C3C6CF"/>
                </a:solidFill>
                <a:latin typeface="Arial"/>
                <a:ea typeface="Arial"/>
                <a:cs typeface="Arial"/>
                <a:sym typeface="Arial"/>
              </a:rPr>
              <a:t>Firestore Rules quyết định quyền đọc, ghi, sửa, xoá.</a:t>
            </a:r>
          </a:p>
        </p:txBody>
      </p:sp>
      <p:sp>
        <p:nvSpPr>
          <p:cNvPr name="TextBox 14" id="14"/>
          <p:cNvSpPr txBox="true"/>
          <p:nvPr/>
        </p:nvSpPr>
        <p:spPr>
          <a:xfrm rot="0">
            <a:off x="15849600" y="9300210"/>
            <a:ext cx="1219200" cy="415290"/>
          </a:xfrm>
          <a:prstGeom prst="rect">
            <a:avLst/>
          </a:prstGeom>
        </p:spPr>
        <p:txBody>
          <a:bodyPr anchor="t" rtlCol="false" tIns="0" lIns="0" bIns="0" rIns="0">
            <a:spAutoFit/>
          </a:bodyPr>
          <a:lstStyle/>
          <a:p>
            <a:pPr algn="r">
              <a:lnSpc>
                <a:spcPts val="2520"/>
              </a:lnSpc>
            </a:pPr>
            <a:r>
              <a:rPr lang="en-US" sz="1800">
                <a:solidFill>
                  <a:srgbClr val="6B7080"/>
                </a:solidFill>
                <a:latin typeface="Arial"/>
                <a:ea typeface="Arial"/>
                <a:cs typeface="Arial"/>
                <a:sym typeface="Arial"/>
              </a:rPr>
              <a:t>11</a:t>
            </a:r>
          </a:p>
        </p:txBody>
      </p:sp>
      <p:grpSp>
        <p:nvGrpSpPr>
          <p:cNvPr name="Group 15" id="15"/>
          <p:cNvGrpSpPr/>
          <p:nvPr/>
        </p:nvGrpSpPr>
        <p:grpSpPr>
          <a:xfrm rot="0">
            <a:off x="1223010" y="4857750"/>
            <a:ext cx="15864840" cy="1175004"/>
            <a:chOff x="0" y="0"/>
            <a:chExt cx="21153120" cy="1566672"/>
          </a:xfrm>
        </p:grpSpPr>
        <p:sp>
          <p:nvSpPr>
            <p:cNvPr name="Freeform 16" id="16"/>
            <p:cNvSpPr/>
            <p:nvPr/>
          </p:nvSpPr>
          <p:spPr>
            <a:xfrm flipH="false" flipV="false" rot="0">
              <a:off x="0" y="0"/>
              <a:ext cx="21153121" cy="1566672"/>
            </a:xfrm>
            <a:custGeom>
              <a:avLst/>
              <a:gdLst/>
              <a:ahLst/>
              <a:cxnLst/>
              <a:rect r="r" b="b" t="t" l="l"/>
              <a:pathLst>
                <a:path h="1566672" w="21153121">
                  <a:moveTo>
                    <a:pt x="0" y="261112"/>
                  </a:moveTo>
                  <a:cubicBezTo>
                    <a:pt x="0" y="116967"/>
                    <a:pt x="116967" y="0"/>
                    <a:pt x="261112" y="0"/>
                  </a:cubicBezTo>
                  <a:lnTo>
                    <a:pt x="20892008" y="0"/>
                  </a:lnTo>
                  <a:cubicBezTo>
                    <a:pt x="21036280" y="0"/>
                    <a:pt x="21153121" y="116967"/>
                    <a:pt x="21153121" y="261112"/>
                  </a:cubicBezTo>
                  <a:lnTo>
                    <a:pt x="21153121" y="1305560"/>
                  </a:lnTo>
                  <a:cubicBezTo>
                    <a:pt x="21153121" y="1449832"/>
                    <a:pt x="21036153" y="1566672"/>
                    <a:pt x="20892008" y="1566672"/>
                  </a:cubicBezTo>
                  <a:lnTo>
                    <a:pt x="261112" y="1566672"/>
                  </a:lnTo>
                  <a:cubicBezTo>
                    <a:pt x="116967" y="1566672"/>
                    <a:pt x="0" y="1449705"/>
                    <a:pt x="0" y="1305560"/>
                  </a:cubicBezTo>
                  <a:close/>
                </a:path>
              </a:pathLst>
            </a:custGeom>
            <a:solidFill>
              <a:srgbClr val="FFF3DA"/>
            </a:solidFill>
            <a:ln w="22860" cap="sq">
              <a:solidFill>
                <a:srgbClr val="E89E1A"/>
              </a:solidFill>
              <a:prstDash val="solid"/>
              <a:miter/>
            </a:ln>
          </p:spPr>
        </p:sp>
        <p:sp>
          <p:nvSpPr>
            <p:cNvPr name="TextBox 17" id="17"/>
            <p:cNvSpPr txBox="true"/>
            <p:nvPr/>
          </p:nvSpPr>
          <p:spPr>
            <a:xfrm>
              <a:off x="0" y="-9525"/>
              <a:ext cx="21153120" cy="1576197"/>
            </a:xfrm>
            <a:prstGeom prst="rect">
              <a:avLst/>
            </a:prstGeom>
          </p:spPr>
          <p:txBody>
            <a:bodyPr anchor="ctr" rtlCol="false" tIns="50800" lIns="50800" bIns="50800" rIns="50800"/>
            <a:lstStyle/>
            <a:p>
              <a:pPr algn="ctr">
                <a:lnSpc>
                  <a:spcPts val="3060"/>
                </a:lnSpc>
              </a:pPr>
              <a:r>
                <a:rPr lang="en-US" sz="2550" b="true">
                  <a:solidFill>
                    <a:srgbClr val="32312D"/>
                  </a:solidFill>
                  <a:latin typeface="Arial Bold"/>
                  <a:ea typeface="Arial Bold"/>
                  <a:cs typeface="Arial Bold"/>
                  <a:sym typeface="Arial Bold"/>
                </a:rPr>
                <a:t>Tự chọn vai trò chỉ phục vụ demo; hệ thống thật cần cấp vai trò từ nguồn tin cậy.</a:t>
              </a:r>
            </a:p>
          </p:txBody>
        </p:sp>
      </p:grpSp>
    </p:spTree>
  </p:cSld>
  <p:clrMapOvr>
    <a:masterClrMapping/>
  </p:clrMapOvr>
</p:sld>
</file>

<file path=ppt/slides/slide12.xml><?xml version="1.0" encoding="utf-8"?>
<p:sld xmlns:p="http://schemas.openxmlformats.org/presentationml/2006/main" xmlns:a="http://schemas.openxmlformats.org/drawingml/2006/main">
  <p:cSld>
    <p:bg>
      <p:bgPr>
        <a:solidFill>
          <a:srgbClr val="F7F6F2"/>
        </a:solidFill>
      </p:bgPr>
    </p:bg>
    <p:spTree>
      <p:nvGrpSpPr>
        <p:cNvPr id="1" name=""/>
        <p:cNvGrpSpPr/>
        <p:nvPr/>
      </p:nvGrpSpPr>
      <p:grpSpPr>
        <a:xfrm>
          <a:off x="0" y="0"/>
          <a:ext cx="0" cy="0"/>
          <a:chOff x="0" y="0"/>
          <a:chExt cx="0" cy="0"/>
        </a:xfrm>
      </p:grpSpPr>
      <p:sp>
        <p:nvSpPr>
          <p:cNvPr name="TextBox 2" id="2"/>
          <p:cNvSpPr txBox="true"/>
          <p:nvPr/>
        </p:nvSpPr>
        <p:spPr>
          <a:xfrm rot="0">
            <a:off x="1219200" y="1162050"/>
            <a:ext cx="16325088" cy="415290"/>
          </a:xfrm>
          <a:prstGeom prst="rect">
            <a:avLst/>
          </a:prstGeom>
        </p:spPr>
        <p:txBody>
          <a:bodyPr anchor="t" rtlCol="false" tIns="0" lIns="0" bIns="0" rIns="0">
            <a:spAutoFit/>
          </a:bodyPr>
          <a:lstStyle/>
          <a:p>
            <a:pPr algn="l">
              <a:lnSpc>
                <a:spcPts val="2520"/>
              </a:lnSpc>
            </a:pPr>
            <a:r>
              <a:rPr lang="en-US" b="true" sz="1800" spc="225">
                <a:solidFill>
                  <a:srgbClr val="8F5300"/>
                </a:solidFill>
                <a:latin typeface="Arial Bold"/>
                <a:ea typeface="Arial Bold"/>
                <a:cs typeface="Arial Bold"/>
                <a:sym typeface="Arial Bold"/>
              </a:rPr>
              <a:t>PHẦN 3 · SECURITY RULES</a:t>
            </a:r>
          </a:p>
        </p:txBody>
      </p:sp>
      <p:sp>
        <p:nvSpPr>
          <p:cNvPr name="TextBox 3" id="3"/>
          <p:cNvSpPr txBox="true"/>
          <p:nvPr/>
        </p:nvSpPr>
        <p:spPr>
          <a:xfrm rot="0">
            <a:off x="1219200" y="1710700"/>
            <a:ext cx="16325088" cy="773430"/>
          </a:xfrm>
          <a:prstGeom prst="rect">
            <a:avLst/>
          </a:prstGeom>
        </p:spPr>
        <p:txBody>
          <a:bodyPr anchor="t" rtlCol="false" tIns="0" lIns="0" bIns="0" rIns="0">
            <a:spAutoFit/>
          </a:bodyPr>
          <a:lstStyle/>
          <a:p>
            <a:pPr algn="l">
              <a:lnSpc>
                <a:spcPts val="5940"/>
              </a:lnSpc>
            </a:pPr>
            <a:r>
              <a:rPr lang="en-US" sz="5400" b="true">
                <a:solidFill>
                  <a:srgbClr val="1B1D24"/>
                </a:solidFill>
                <a:latin typeface="Arial Bold"/>
                <a:ea typeface="Arial Bold"/>
                <a:cs typeface="Arial Bold"/>
                <a:sym typeface="Arial Bold"/>
              </a:rPr>
              <a:t>Firestore Security Rules chặn quyền ở đâu?</a:t>
            </a:r>
          </a:p>
        </p:txBody>
      </p:sp>
      <p:grpSp>
        <p:nvGrpSpPr>
          <p:cNvPr name="Group 4" id="4"/>
          <p:cNvGrpSpPr/>
          <p:nvPr/>
        </p:nvGrpSpPr>
        <p:grpSpPr>
          <a:xfrm rot="0">
            <a:off x="1219200" y="2827020"/>
            <a:ext cx="10477500" cy="5438775"/>
            <a:chOff x="0" y="0"/>
            <a:chExt cx="13970000" cy="7251700"/>
          </a:xfrm>
        </p:grpSpPr>
        <p:sp>
          <p:nvSpPr>
            <p:cNvPr name="Freeform 5" id="5"/>
            <p:cNvSpPr/>
            <p:nvPr/>
          </p:nvSpPr>
          <p:spPr>
            <a:xfrm flipH="false" flipV="false" rot="0">
              <a:off x="0" y="0"/>
              <a:ext cx="13970000" cy="7251700"/>
            </a:xfrm>
            <a:custGeom>
              <a:avLst/>
              <a:gdLst/>
              <a:ahLst/>
              <a:cxnLst/>
              <a:rect r="r" b="b" t="t" l="l"/>
              <a:pathLst>
                <a:path h="7251700" w="13970000">
                  <a:moveTo>
                    <a:pt x="0" y="254000"/>
                  </a:moveTo>
                  <a:cubicBezTo>
                    <a:pt x="0" y="113792"/>
                    <a:pt x="113792" y="0"/>
                    <a:pt x="254000" y="0"/>
                  </a:cubicBezTo>
                  <a:lnTo>
                    <a:pt x="13716000" y="0"/>
                  </a:lnTo>
                  <a:cubicBezTo>
                    <a:pt x="13856336" y="0"/>
                    <a:pt x="13970000" y="113792"/>
                    <a:pt x="13970000" y="254000"/>
                  </a:cubicBezTo>
                  <a:lnTo>
                    <a:pt x="13970000" y="6997700"/>
                  </a:lnTo>
                  <a:cubicBezTo>
                    <a:pt x="13970000" y="7138035"/>
                    <a:pt x="13856208" y="7251700"/>
                    <a:pt x="13716000" y="7251700"/>
                  </a:cubicBezTo>
                  <a:lnTo>
                    <a:pt x="254000" y="7251700"/>
                  </a:lnTo>
                  <a:cubicBezTo>
                    <a:pt x="113665" y="7251700"/>
                    <a:pt x="0" y="7137908"/>
                    <a:pt x="0" y="6997700"/>
                  </a:cubicBezTo>
                  <a:close/>
                </a:path>
              </a:pathLst>
            </a:custGeom>
            <a:solidFill>
              <a:srgbClr val="15171E"/>
            </a:solidFill>
          </p:spPr>
        </p:sp>
      </p:grpSp>
      <p:sp>
        <p:nvSpPr>
          <p:cNvPr name="TextBox 6" id="6"/>
          <p:cNvSpPr txBox="true"/>
          <p:nvPr/>
        </p:nvSpPr>
        <p:spPr>
          <a:xfrm rot="0">
            <a:off x="1600200" y="3046095"/>
            <a:ext cx="10006965" cy="495300"/>
          </a:xfrm>
          <a:prstGeom prst="rect">
            <a:avLst/>
          </a:prstGeom>
        </p:spPr>
        <p:txBody>
          <a:bodyPr anchor="t" rtlCol="false" tIns="0" lIns="0" bIns="0" rIns="0">
            <a:spAutoFit/>
          </a:bodyPr>
          <a:lstStyle/>
          <a:p>
            <a:pPr algn="l">
              <a:lnSpc>
                <a:spcPts val="2924"/>
              </a:lnSpc>
            </a:pPr>
            <a:r>
              <a:rPr lang="en-US" sz="1725">
                <a:solidFill>
                  <a:srgbClr val="8A90A0"/>
                </a:solidFill>
                <a:latin typeface="Courier New"/>
                <a:ea typeface="Courier New"/>
                <a:cs typeface="Courier New"/>
                <a:sym typeface="Courier New"/>
              </a:rPr>
              <a:t>// firestore.rules (rút gọn)</a:t>
            </a:r>
          </a:p>
        </p:txBody>
      </p:sp>
      <p:sp>
        <p:nvSpPr>
          <p:cNvPr name="TextBox 7" id="7"/>
          <p:cNvSpPr txBox="true"/>
          <p:nvPr/>
        </p:nvSpPr>
        <p:spPr>
          <a:xfrm rot="0">
            <a:off x="1600200" y="3417570"/>
            <a:ext cx="10006965" cy="495300"/>
          </a:xfrm>
          <a:prstGeom prst="rect">
            <a:avLst/>
          </a:prstGeom>
        </p:spPr>
        <p:txBody>
          <a:bodyPr anchor="t" rtlCol="false" tIns="0" lIns="0" bIns="0" rIns="0">
            <a:spAutoFit/>
          </a:bodyPr>
          <a:lstStyle/>
          <a:p>
            <a:pPr algn="l">
              <a:lnSpc>
                <a:spcPts val="2924"/>
              </a:lnSpc>
            </a:pPr>
            <a:r>
              <a:rPr lang="en-US" sz="1725">
                <a:solidFill>
                  <a:srgbClr val="F2A72B"/>
                </a:solidFill>
                <a:latin typeface="Courier New"/>
                <a:ea typeface="Courier New"/>
                <a:cs typeface="Courier New"/>
                <a:sym typeface="Courier New"/>
              </a:rPr>
              <a:t>match /notes/{noteId} {</a:t>
            </a:r>
          </a:p>
        </p:txBody>
      </p:sp>
      <p:sp>
        <p:nvSpPr>
          <p:cNvPr name="TextBox 8" id="8"/>
          <p:cNvSpPr txBox="true"/>
          <p:nvPr/>
        </p:nvSpPr>
        <p:spPr>
          <a:xfrm rot="0">
            <a:off x="1600200" y="3789045"/>
            <a:ext cx="10006965" cy="495300"/>
          </a:xfrm>
          <a:prstGeom prst="rect">
            <a:avLst/>
          </a:prstGeom>
        </p:spPr>
        <p:txBody>
          <a:bodyPr anchor="t" rtlCol="false" tIns="0" lIns="0" bIns="0" rIns="0">
            <a:spAutoFit/>
          </a:bodyPr>
          <a:lstStyle/>
          <a:p>
            <a:pPr algn="l">
              <a:lnSpc>
                <a:spcPts val="2924"/>
              </a:lnSpc>
            </a:pPr>
            <a:r>
              <a:rPr lang="en-US" sz="1725">
                <a:solidFill>
                  <a:srgbClr val="E8E6DF"/>
                </a:solidFill>
                <a:latin typeface="Courier New"/>
                <a:ea typeface="Courier New"/>
                <a:cs typeface="Courier New"/>
                <a:sym typeface="Courier New"/>
              </a:rPr>
              <a:t>  allow read: if isStudent() || isLecturer();</a:t>
            </a:r>
          </a:p>
        </p:txBody>
      </p:sp>
      <p:sp>
        <p:nvSpPr>
          <p:cNvPr name="TextBox 9" id="9"/>
          <p:cNvSpPr txBox="true"/>
          <p:nvPr/>
        </p:nvSpPr>
        <p:spPr>
          <a:xfrm rot="0">
            <a:off x="1600200" y="4160520"/>
            <a:ext cx="10006965" cy="495300"/>
          </a:xfrm>
          <a:prstGeom prst="rect">
            <a:avLst/>
          </a:prstGeom>
        </p:spPr>
        <p:txBody>
          <a:bodyPr anchor="t" rtlCol="false" tIns="0" lIns="0" bIns="0" rIns="0">
            <a:spAutoFit/>
          </a:bodyPr>
          <a:lstStyle/>
          <a:p>
            <a:pPr algn="l">
              <a:lnSpc>
                <a:spcPts val="2924"/>
              </a:lnSpc>
            </a:pPr>
            <a:r>
              <a:rPr lang="en-US" sz="1725">
                <a:solidFill>
                  <a:srgbClr val="E8E6DF"/>
                </a:solidFill>
                <a:latin typeface="Courier New"/>
                <a:ea typeface="Courier New"/>
                <a:cs typeface="Courier New"/>
                <a:sym typeface="Courier New"/>
              </a:rPr>
              <a:t>  allow create: if isStudent()</a:t>
            </a:r>
          </a:p>
        </p:txBody>
      </p:sp>
      <p:sp>
        <p:nvSpPr>
          <p:cNvPr name="TextBox 10" id="10"/>
          <p:cNvSpPr txBox="true"/>
          <p:nvPr/>
        </p:nvSpPr>
        <p:spPr>
          <a:xfrm rot="0">
            <a:off x="1600200" y="4531995"/>
            <a:ext cx="10006965" cy="495300"/>
          </a:xfrm>
          <a:prstGeom prst="rect">
            <a:avLst/>
          </a:prstGeom>
        </p:spPr>
        <p:txBody>
          <a:bodyPr anchor="t" rtlCol="false" tIns="0" lIns="0" bIns="0" rIns="0">
            <a:spAutoFit/>
          </a:bodyPr>
          <a:lstStyle/>
          <a:p>
            <a:pPr algn="l">
              <a:lnSpc>
                <a:spcPts val="2924"/>
              </a:lnSpc>
            </a:pPr>
            <a:r>
              <a:rPr lang="en-US" sz="1725">
                <a:solidFill>
                  <a:srgbClr val="E8E6DF"/>
                </a:solidFill>
                <a:latin typeface="Courier New"/>
                <a:ea typeface="Courier New"/>
                <a:cs typeface="Courier New"/>
                <a:sym typeface="Courier New"/>
              </a:rPr>
              <a:t>    &amp;&amp; request.resource.data.authorUid == request.auth.uid;</a:t>
            </a:r>
          </a:p>
        </p:txBody>
      </p:sp>
      <p:sp>
        <p:nvSpPr>
          <p:cNvPr name="TextBox 11" id="11"/>
          <p:cNvSpPr txBox="true"/>
          <p:nvPr/>
        </p:nvSpPr>
        <p:spPr>
          <a:xfrm rot="0">
            <a:off x="1600200" y="4903470"/>
            <a:ext cx="10006965" cy="495300"/>
          </a:xfrm>
          <a:prstGeom prst="rect">
            <a:avLst/>
          </a:prstGeom>
        </p:spPr>
        <p:txBody>
          <a:bodyPr anchor="t" rtlCol="false" tIns="0" lIns="0" bIns="0" rIns="0">
            <a:spAutoFit/>
          </a:bodyPr>
          <a:lstStyle/>
          <a:p>
            <a:pPr algn="l">
              <a:lnSpc>
                <a:spcPts val="2924"/>
              </a:lnSpc>
            </a:pPr>
            <a:r>
              <a:rPr lang="en-US" sz="1725">
                <a:solidFill>
                  <a:srgbClr val="8A90A0"/>
                </a:solidFill>
                <a:latin typeface="Courier New"/>
                <a:ea typeface="Courier New"/>
                <a:cs typeface="Courier New"/>
                <a:sym typeface="Courier New"/>
              </a:rPr>
              <a:t>  allow update, delete: if isStudent()</a:t>
            </a:r>
          </a:p>
        </p:txBody>
      </p:sp>
      <p:sp>
        <p:nvSpPr>
          <p:cNvPr name="TextBox 12" id="12"/>
          <p:cNvSpPr txBox="true"/>
          <p:nvPr/>
        </p:nvSpPr>
        <p:spPr>
          <a:xfrm rot="0">
            <a:off x="1600200" y="5274945"/>
            <a:ext cx="10096500" cy="495300"/>
          </a:xfrm>
          <a:prstGeom prst="rect">
            <a:avLst/>
          </a:prstGeom>
        </p:spPr>
        <p:txBody>
          <a:bodyPr anchor="t" rtlCol="false" tIns="0" lIns="0" bIns="0" rIns="0">
            <a:spAutoFit/>
          </a:bodyPr>
          <a:lstStyle/>
          <a:p>
            <a:pPr algn="l">
              <a:lnSpc>
                <a:spcPts val="2924"/>
              </a:lnSpc>
            </a:pPr>
            <a:r>
              <a:rPr lang="en-US" sz="1725">
                <a:solidFill>
                  <a:srgbClr val="8A90A0"/>
                </a:solidFill>
                <a:latin typeface="Courier New"/>
                <a:ea typeface="Courier New"/>
                <a:cs typeface="Courier New"/>
                <a:sym typeface="Courier New"/>
              </a:rPr>
              <a:t>    &amp;&amp; resource.data.authorUid == request.auth.uid;</a:t>
            </a:r>
          </a:p>
        </p:txBody>
      </p:sp>
      <p:sp>
        <p:nvSpPr>
          <p:cNvPr name="TextBox 13" id="13"/>
          <p:cNvSpPr txBox="true"/>
          <p:nvPr/>
        </p:nvSpPr>
        <p:spPr>
          <a:xfrm rot="0">
            <a:off x="1600200" y="6017895"/>
            <a:ext cx="10006965" cy="495300"/>
          </a:xfrm>
          <a:prstGeom prst="rect">
            <a:avLst/>
          </a:prstGeom>
        </p:spPr>
        <p:txBody>
          <a:bodyPr anchor="t" rtlCol="false" tIns="0" lIns="0" bIns="0" rIns="0">
            <a:spAutoFit/>
          </a:bodyPr>
          <a:lstStyle/>
          <a:p>
            <a:pPr algn="l">
              <a:lnSpc>
                <a:spcPts val="2924"/>
              </a:lnSpc>
            </a:pPr>
            <a:r>
              <a:rPr lang="en-US" sz="1725">
                <a:solidFill>
                  <a:srgbClr val="F2A72B"/>
                </a:solidFill>
                <a:latin typeface="Courier New"/>
                <a:ea typeface="Courier New"/>
                <a:cs typeface="Courier New"/>
                <a:sym typeface="Courier New"/>
              </a:rPr>
              <a:t>}</a:t>
            </a:r>
          </a:p>
        </p:txBody>
      </p:sp>
      <p:sp>
        <p:nvSpPr>
          <p:cNvPr name="TextBox 14" id="14"/>
          <p:cNvSpPr txBox="true"/>
          <p:nvPr/>
        </p:nvSpPr>
        <p:spPr>
          <a:xfrm rot="0">
            <a:off x="12001500" y="3930967"/>
            <a:ext cx="5219319" cy="447675"/>
          </a:xfrm>
          <a:prstGeom prst="rect">
            <a:avLst/>
          </a:prstGeom>
        </p:spPr>
        <p:txBody>
          <a:bodyPr anchor="t" rtlCol="false" tIns="0" lIns="0" bIns="0" rIns="0">
            <a:spAutoFit/>
          </a:bodyPr>
          <a:lstStyle/>
          <a:p>
            <a:pPr algn="l">
              <a:lnSpc>
                <a:spcPts val="3000"/>
              </a:lnSpc>
            </a:pPr>
            <a:r>
              <a:rPr lang="en-US" sz="2400" b="true">
                <a:solidFill>
                  <a:srgbClr val="1B1D24"/>
                </a:solidFill>
                <a:latin typeface="Arial Bold"/>
                <a:ea typeface="Arial Bold"/>
                <a:cs typeface="Arial Bold"/>
                <a:sym typeface="Arial Bold"/>
              </a:rPr>
              <a:t>Chạy trên server</a:t>
            </a:r>
          </a:p>
        </p:txBody>
      </p:sp>
      <p:sp>
        <p:nvSpPr>
          <p:cNvPr name="TextBox 15" id="15"/>
          <p:cNvSpPr txBox="true"/>
          <p:nvPr/>
        </p:nvSpPr>
        <p:spPr>
          <a:xfrm rot="0">
            <a:off x="12001500" y="4331017"/>
            <a:ext cx="5219319" cy="767715"/>
          </a:xfrm>
          <a:prstGeom prst="rect">
            <a:avLst/>
          </a:prstGeom>
        </p:spPr>
        <p:txBody>
          <a:bodyPr anchor="t" rtlCol="false" tIns="0" lIns="0" bIns="0" rIns="0">
            <a:spAutoFit/>
          </a:bodyPr>
          <a:lstStyle/>
          <a:p>
            <a:pPr algn="l">
              <a:lnSpc>
                <a:spcPts val="2610"/>
              </a:lnSpc>
            </a:pPr>
            <a:r>
              <a:rPr lang="en-US" sz="1800">
                <a:solidFill>
                  <a:srgbClr val="50566A"/>
                </a:solidFill>
                <a:latin typeface="Arial"/>
                <a:ea typeface="Arial"/>
                <a:cs typeface="Arial"/>
                <a:sym typeface="Arial"/>
              </a:rPr>
              <a:t>Mọi request đều được kiểm tra ở server.</a:t>
            </a:r>
          </a:p>
        </p:txBody>
      </p:sp>
      <p:sp>
        <p:nvSpPr>
          <p:cNvPr name="TextBox 16" id="16"/>
          <p:cNvSpPr txBox="true"/>
          <p:nvPr/>
        </p:nvSpPr>
        <p:spPr>
          <a:xfrm rot="0">
            <a:off x="12001500" y="5298757"/>
            <a:ext cx="5219319" cy="447675"/>
          </a:xfrm>
          <a:prstGeom prst="rect">
            <a:avLst/>
          </a:prstGeom>
        </p:spPr>
        <p:txBody>
          <a:bodyPr anchor="t" rtlCol="false" tIns="0" lIns="0" bIns="0" rIns="0">
            <a:spAutoFit/>
          </a:bodyPr>
          <a:lstStyle/>
          <a:p>
            <a:pPr algn="l">
              <a:lnSpc>
                <a:spcPts val="3000"/>
              </a:lnSpc>
            </a:pPr>
            <a:r>
              <a:rPr lang="en-US" sz="2400" b="true">
                <a:solidFill>
                  <a:srgbClr val="1B1D24"/>
                </a:solidFill>
                <a:latin typeface="Arial Bold"/>
                <a:ea typeface="Arial Bold"/>
                <a:cs typeface="Arial Bold"/>
                <a:sym typeface="Arial Bold"/>
              </a:rPr>
              <a:t>Đọc từ JWT</a:t>
            </a:r>
          </a:p>
        </p:txBody>
      </p:sp>
      <p:sp>
        <p:nvSpPr>
          <p:cNvPr name="TextBox 17" id="17"/>
          <p:cNvSpPr txBox="true"/>
          <p:nvPr/>
        </p:nvSpPr>
        <p:spPr>
          <a:xfrm rot="0">
            <a:off x="12001500" y="5698807"/>
            <a:ext cx="5219319" cy="436245"/>
          </a:xfrm>
          <a:prstGeom prst="rect">
            <a:avLst/>
          </a:prstGeom>
        </p:spPr>
        <p:txBody>
          <a:bodyPr anchor="t" rtlCol="false" tIns="0" lIns="0" bIns="0" rIns="0">
            <a:spAutoFit/>
          </a:bodyPr>
          <a:lstStyle/>
          <a:p>
            <a:pPr algn="l">
              <a:lnSpc>
                <a:spcPts val="2610"/>
              </a:lnSpc>
            </a:pPr>
            <a:r>
              <a:rPr lang="en-US" sz="1800">
                <a:solidFill>
                  <a:srgbClr val="50566A"/>
                </a:solidFill>
                <a:latin typeface="Arial"/>
                <a:ea typeface="Arial"/>
                <a:cs typeface="Arial"/>
                <a:sym typeface="Arial"/>
              </a:rPr>
              <a:t>Dựa trên danh tính và claims đã xác minh.</a:t>
            </a:r>
          </a:p>
        </p:txBody>
      </p:sp>
      <p:sp>
        <p:nvSpPr>
          <p:cNvPr name="TextBox 18" id="18"/>
          <p:cNvSpPr txBox="true"/>
          <p:nvPr/>
        </p:nvSpPr>
        <p:spPr>
          <a:xfrm rot="0">
            <a:off x="12001500" y="6335087"/>
            <a:ext cx="5219319" cy="447675"/>
          </a:xfrm>
          <a:prstGeom prst="rect">
            <a:avLst/>
          </a:prstGeom>
        </p:spPr>
        <p:txBody>
          <a:bodyPr anchor="t" rtlCol="false" tIns="0" lIns="0" bIns="0" rIns="0">
            <a:spAutoFit/>
          </a:bodyPr>
          <a:lstStyle/>
          <a:p>
            <a:pPr algn="l">
              <a:lnSpc>
                <a:spcPts val="3000"/>
              </a:lnSpc>
            </a:pPr>
            <a:r>
              <a:rPr lang="en-US" sz="2400" b="true">
                <a:solidFill>
                  <a:srgbClr val="1B1D24"/>
                </a:solidFill>
                <a:latin typeface="Arial Bold"/>
                <a:ea typeface="Arial Bold"/>
                <a:cs typeface="Arial Bold"/>
                <a:sym typeface="Arial Bold"/>
              </a:rPr>
              <a:t>Mặc định từ chối</a:t>
            </a:r>
          </a:p>
        </p:txBody>
      </p:sp>
      <p:sp>
        <p:nvSpPr>
          <p:cNvPr name="TextBox 19" id="19"/>
          <p:cNvSpPr txBox="true"/>
          <p:nvPr/>
        </p:nvSpPr>
        <p:spPr>
          <a:xfrm rot="0">
            <a:off x="12001500" y="6735137"/>
            <a:ext cx="5219319" cy="436245"/>
          </a:xfrm>
          <a:prstGeom prst="rect">
            <a:avLst/>
          </a:prstGeom>
        </p:spPr>
        <p:txBody>
          <a:bodyPr anchor="t" rtlCol="false" tIns="0" lIns="0" bIns="0" rIns="0">
            <a:spAutoFit/>
          </a:bodyPr>
          <a:lstStyle/>
          <a:p>
            <a:pPr algn="l">
              <a:lnSpc>
                <a:spcPts val="2610"/>
              </a:lnSpc>
            </a:pPr>
            <a:r>
              <a:rPr lang="en-US" sz="1800">
                <a:solidFill>
                  <a:srgbClr val="50566A"/>
                </a:solidFill>
                <a:latin typeface="Arial"/>
                <a:ea typeface="Arial"/>
                <a:cs typeface="Arial"/>
                <a:sym typeface="Arial"/>
              </a:rPr>
              <a:t>Không có quy tắc cho phép → từ chối.</a:t>
            </a:r>
          </a:p>
        </p:txBody>
      </p:sp>
      <p:sp>
        <p:nvSpPr>
          <p:cNvPr name="TextBox 20" id="20"/>
          <p:cNvSpPr txBox="true"/>
          <p:nvPr/>
        </p:nvSpPr>
        <p:spPr>
          <a:xfrm rot="0">
            <a:off x="15849600" y="9300210"/>
            <a:ext cx="1219200" cy="415290"/>
          </a:xfrm>
          <a:prstGeom prst="rect">
            <a:avLst/>
          </a:prstGeom>
        </p:spPr>
        <p:txBody>
          <a:bodyPr anchor="t" rtlCol="false" tIns="0" lIns="0" bIns="0" rIns="0">
            <a:spAutoFit/>
          </a:bodyPr>
          <a:lstStyle/>
          <a:p>
            <a:pPr algn="r">
              <a:lnSpc>
                <a:spcPts val="2520"/>
              </a:lnSpc>
            </a:pPr>
            <a:r>
              <a:rPr lang="en-US" sz="1800">
                <a:solidFill>
                  <a:srgbClr val="6B7080"/>
                </a:solidFill>
                <a:latin typeface="Arial"/>
                <a:ea typeface="Arial"/>
                <a:cs typeface="Arial"/>
                <a:sym typeface="Arial"/>
              </a:rPr>
              <a:t>12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15171E"/>
        </a:solidFill>
      </p:bgPr>
    </p:bg>
    <p:spTree>
      <p:nvGrpSpPr>
        <p:cNvPr id="1" name=""/>
        <p:cNvGrpSpPr/>
        <p:nvPr/>
      </p:nvGrpSpPr>
      <p:grpSpPr>
        <a:xfrm>
          <a:off x="0" y="0"/>
          <a:ext cx="0" cy="0"/>
          <a:chOff x="0" y="0"/>
          <a:chExt cx="0" cy="0"/>
        </a:xfrm>
      </p:grpSpPr>
      <p:grpSp>
        <p:nvGrpSpPr>
          <p:cNvPr name="Group 2" id="2"/>
          <p:cNvGrpSpPr/>
          <p:nvPr/>
        </p:nvGrpSpPr>
        <p:grpSpPr>
          <a:xfrm rot="0">
            <a:off x="0" y="0"/>
            <a:ext cx="228600" cy="10287000"/>
            <a:chOff x="0" y="0"/>
            <a:chExt cx="304800" cy="13716000"/>
          </a:xfrm>
        </p:grpSpPr>
        <p:sp>
          <p:nvSpPr>
            <p:cNvPr name="Freeform 3" id="3"/>
            <p:cNvSpPr/>
            <p:nvPr/>
          </p:nvSpPr>
          <p:spPr>
            <a:xfrm flipH="false" flipV="false" rot="0">
              <a:off x="0" y="0"/>
              <a:ext cx="304800" cy="13716000"/>
            </a:xfrm>
            <a:custGeom>
              <a:avLst/>
              <a:gdLst/>
              <a:ahLst/>
              <a:cxnLst/>
              <a:rect r="r" b="b" t="t" l="l"/>
              <a:pathLst>
                <a:path h="13716000" w="304800">
                  <a:moveTo>
                    <a:pt x="0" y="0"/>
                  </a:moveTo>
                  <a:lnTo>
                    <a:pt x="304800" y="0"/>
                  </a:lnTo>
                  <a:lnTo>
                    <a:pt x="304800" y="13716000"/>
                  </a:lnTo>
                  <a:lnTo>
                    <a:pt x="0" y="13716000"/>
                  </a:lnTo>
                  <a:close/>
                </a:path>
              </a:pathLst>
            </a:custGeom>
            <a:solidFill>
              <a:srgbClr val="F2A72B"/>
            </a:solidFill>
          </p:spPr>
        </p:sp>
      </p:grpSp>
      <p:grpSp>
        <p:nvGrpSpPr>
          <p:cNvPr name="Group 4" id="4"/>
          <p:cNvGrpSpPr/>
          <p:nvPr/>
        </p:nvGrpSpPr>
        <p:grpSpPr>
          <a:xfrm rot="0">
            <a:off x="15163800" y="1219200"/>
            <a:ext cx="1905000" cy="1905000"/>
            <a:chOff x="0" y="0"/>
            <a:chExt cx="2540000" cy="2540000"/>
          </a:xfrm>
        </p:grpSpPr>
        <p:sp>
          <p:nvSpPr>
            <p:cNvPr name="Freeform 5" id="5" descr="Chat"/>
            <p:cNvSpPr/>
            <p:nvPr/>
          </p:nvSpPr>
          <p:spPr>
            <a:xfrm flipH="false" flipV="false" rot="0">
              <a:off x="0" y="0"/>
              <a:ext cx="2540000" cy="2540000"/>
            </a:xfrm>
            <a:custGeom>
              <a:avLst/>
              <a:gdLst/>
              <a:ahLst/>
              <a:cxnLst/>
              <a:rect r="r" b="b" t="t" l="l"/>
              <a:pathLst>
                <a:path h="2540000" w="2540000">
                  <a:moveTo>
                    <a:pt x="0" y="0"/>
                  </a:moveTo>
                  <a:lnTo>
                    <a:pt x="2540000" y="0"/>
                  </a:lnTo>
                  <a:lnTo>
                    <a:pt x="2540000" y="2540000"/>
                  </a:lnTo>
                  <a:lnTo>
                    <a:pt x="0" y="2540000"/>
                  </a:lnTo>
                  <a:lnTo>
                    <a:pt x="0" y="0"/>
                  </a:lnTo>
                  <a:close/>
                </a:path>
              </a:pathLst>
            </a:custGeom>
            <a:blipFill>
              <a:blip r:embed="rId3"/>
              <a:stretch>
                <a:fillRect l="0" t="0" r="0" b="0"/>
              </a:stretch>
            </a:blipFill>
          </p:spPr>
        </p:sp>
      </p:grpSp>
      <p:sp>
        <p:nvSpPr>
          <p:cNvPr name="TextBox 6" id="6"/>
          <p:cNvSpPr txBox="true"/>
          <p:nvPr/>
        </p:nvSpPr>
        <p:spPr>
          <a:xfrm rot="0">
            <a:off x="1219200" y="3148965"/>
            <a:ext cx="16325088" cy="415290"/>
          </a:xfrm>
          <a:prstGeom prst="rect">
            <a:avLst/>
          </a:prstGeom>
        </p:spPr>
        <p:txBody>
          <a:bodyPr anchor="t" rtlCol="false" tIns="0" lIns="0" bIns="0" rIns="0">
            <a:spAutoFit/>
          </a:bodyPr>
          <a:lstStyle/>
          <a:p>
            <a:pPr algn="l">
              <a:lnSpc>
                <a:spcPts val="2520"/>
              </a:lnSpc>
            </a:pPr>
            <a:r>
              <a:rPr lang="en-US" b="true" sz="1800" spc="225">
                <a:solidFill>
                  <a:srgbClr val="F2A72B"/>
                </a:solidFill>
                <a:latin typeface="Arial Bold"/>
                <a:ea typeface="Arial Bold"/>
                <a:cs typeface="Arial Bold"/>
                <a:sym typeface="Arial Bold"/>
              </a:rPr>
              <a:t>HỎI &amp; ĐÁP</a:t>
            </a:r>
          </a:p>
        </p:txBody>
      </p:sp>
      <p:sp>
        <p:nvSpPr>
          <p:cNvPr name="TextBox 7" id="7"/>
          <p:cNvSpPr txBox="true"/>
          <p:nvPr/>
        </p:nvSpPr>
        <p:spPr>
          <a:xfrm rot="0">
            <a:off x="1219200" y="3926215"/>
            <a:ext cx="16325088" cy="2343150"/>
          </a:xfrm>
          <a:prstGeom prst="rect">
            <a:avLst/>
          </a:prstGeom>
        </p:spPr>
        <p:txBody>
          <a:bodyPr anchor="t" rtlCol="false" tIns="0" lIns="0" bIns="0" rIns="0">
            <a:spAutoFit/>
          </a:bodyPr>
          <a:lstStyle/>
          <a:p>
            <a:pPr algn="l">
              <a:lnSpc>
                <a:spcPts val="9450"/>
              </a:lnSpc>
            </a:pPr>
            <a:r>
              <a:rPr lang="en-US" sz="9000" b="true">
                <a:solidFill>
                  <a:srgbClr val="F2F0EA"/>
                </a:solidFill>
                <a:latin typeface="Arial Bold"/>
                <a:ea typeface="Arial Bold"/>
                <a:cs typeface="Arial Bold"/>
                <a:sym typeface="Arial Bold"/>
              </a:rPr>
              <a:t>Cảm ơn thầy cô</a:t>
            </a:r>
          </a:p>
          <a:p>
            <a:pPr algn="l">
              <a:lnSpc>
                <a:spcPts val="9450"/>
              </a:lnSpc>
            </a:pPr>
            <a:r>
              <a:rPr lang="en-US" sz="9000" b="true">
                <a:solidFill>
                  <a:srgbClr val="F2F0EA"/>
                </a:solidFill>
                <a:latin typeface="Arial Bold"/>
                <a:ea typeface="Arial Bold"/>
                <a:cs typeface="Arial Bold"/>
                <a:sym typeface="Arial Bold"/>
              </a:rPr>
              <a:t>và các bạn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DAHYjn5uyS8</dc:identifier>
  <dcterms:modified xsi:type="dcterms:W3CDTF">2011-08-01T06:04:30Z</dcterms:modified>
  <cp:revision>1</cp:revision>
  <dc:title>Firebase_Authentication_Seminar.pptx</dc:title>
</cp:coreProperties>
</file>